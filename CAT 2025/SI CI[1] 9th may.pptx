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handoutMasterIdLst>
    <p:handoutMasterId r:id="rId26"/>
  </p:handoutMasterIdLst>
  <p:sldIdLst>
    <p:sldId id="494" r:id="rId2"/>
    <p:sldId id="495" r:id="rId3"/>
    <p:sldId id="562" r:id="rId4"/>
    <p:sldId id="563" r:id="rId5"/>
    <p:sldId id="571" r:id="rId6"/>
    <p:sldId id="565" r:id="rId7"/>
    <p:sldId id="566" r:id="rId8"/>
    <p:sldId id="568" r:id="rId9"/>
    <p:sldId id="567" r:id="rId10"/>
    <p:sldId id="560" r:id="rId11"/>
    <p:sldId id="561" r:id="rId12"/>
    <p:sldId id="496" r:id="rId13"/>
    <p:sldId id="518" r:id="rId14"/>
    <p:sldId id="519" r:id="rId15"/>
    <p:sldId id="542" r:id="rId16"/>
    <p:sldId id="525" r:id="rId17"/>
    <p:sldId id="526" r:id="rId18"/>
    <p:sldId id="524" r:id="rId19"/>
    <p:sldId id="570" r:id="rId20"/>
    <p:sldId id="527" r:id="rId21"/>
    <p:sldId id="544" r:id="rId22"/>
    <p:sldId id="529" r:id="rId23"/>
    <p:sldId id="537" r:id="rId24"/>
  </p:sldIdLst>
  <p:sldSz cx="17281525" cy="9721850"/>
  <p:notesSz cx="6858000" cy="9144000"/>
  <p:defaultTextStyle>
    <a:defPPr>
      <a:defRPr lang="en-US"/>
    </a:defPPr>
    <a:lvl1pPr marL="0" algn="l" defTabSz="1543050" rtl="0" eaLnBrk="1" latinLnBrk="0" hangingPunct="1">
      <a:defRPr sz="3000" kern="1200">
        <a:solidFill>
          <a:schemeClr val="tx1"/>
        </a:solidFill>
        <a:latin typeface="+mn-lt"/>
        <a:ea typeface="+mn-ea"/>
        <a:cs typeface="+mn-cs"/>
      </a:defRPr>
    </a:lvl1pPr>
    <a:lvl2pPr marL="771525" algn="l" defTabSz="1543050" rtl="0" eaLnBrk="1" latinLnBrk="0" hangingPunct="1">
      <a:defRPr sz="3000" kern="1200">
        <a:solidFill>
          <a:schemeClr val="tx1"/>
        </a:solidFill>
        <a:latin typeface="+mn-lt"/>
        <a:ea typeface="+mn-ea"/>
        <a:cs typeface="+mn-cs"/>
      </a:defRPr>
    </a:lvl2pPr>
    <a:lvl3pPr marL="1543050" algn="l" defTabSz="1543050" rtl="0" eaLnBrk="1" latinLnBrk="0" hangingPunct="1">
      <a:defRPr sz="3000" kern="1200">
        <a:solidFill>
          <a:schemeClr val="tx1"/>
        </a:solidFill>
        <a:latin typeface="+mn-lt"/>
        <a:ea typeface="+mn-ea"/>
        <a:cs typeface="+mn-cs"/>
      </a:defRPr>
    </a:lvl3pPr>
    <a:lvl4pPr marL="2314575" algn="l" defTabSz="1543050" rtl="0" eaLnBrk="1" latinLnBrk="0" hangingPunct="1">
      <a:defRPr sz="3000" kern="1200">
        <a:solidFill>
          <a:schemeClr val="tx1"/>
        </a:solidFill>
        <a:latin typeface="+mn-lt"/>
        <a:ea typeface="+mn-ea"/>
        <a:cs typeface="+mn-cs"/>
      </a:defRPr>
    </a:lvl4pPr>
    <a:lvl5pPr marL="3086100" algn="l" defTabSz="1543050" rtl="0" eaLnBrk="1" latinLnBrk="0" hangingPunct="1">
      <a:defRPr sz="3000" kern="1200">
        <a:solidFill>
          <a:schemeClr val="tx1"/>
        </a:solidFill>
        <a:latin typeface="+mn-lt"/>
        <a:ea typeface="+mn-ea"/>
        <a:cs typeface="+mn-cs"/>
      </a:defRPr>
    </a:lvl5pPr>
    <a:lvl6pPr marL="3857625" algn="l" defTabSz="1543050" rtl="0" eaLnBrk="1" latinLnBrk="0" hangingPunct="1">
      <a:defRPr sz="3000" kern="1200">
        <a:solidFill>
          <a:schemeClr val="tx1"/>
        </a:solidFill>
        <a:latin typeface="+mn-lt"/>
        <a:ea typeface="+mn-ea"/>
        <a:cs typeface="+mn-cs"/>
      </a:defRPr>
    </a:lvl6pPr>
    <a:lvl7pPr marL="4629150" algn="l" defTabSz="1543050" rtl="0" eaLnBrk="1" latinLnBrk="0" hangingPunct="1">
      <a:defRPr sz="3000" kern="1200">
        <a:solidFill>
          <a:schemeClr val="tx1"/>
        </a:solidFill>
        <a:latin typeface="+mn-lt"/>
        <a:ea typeface="+mn-ea"/>
        <a:cs typeface="+mn-cs"/>
      </a:defRPr>
    </a:lvl7pPr>
    <a:lvl8pPr marL="5400675" algn="l" defTabSz="1543050" rtl="0" eaLnBrk="1" latinLnBrk="0" hangingPunct="1">
      <a:defRPr sz="3000" kern="1200">
        <a:solidFill>
          <a:schemeClr val="tx1"/>
        </a:solidFill>
        <a:latin typeface="+mn-lt"/>
        <a:ea typeface="+mn-ea"/>
        <a:cs typeface="+mn-cs"/>
      </a:defRPr>
    </a:lvl8pPr>
    <a:lvl9pPr marL="6172200" algn="l" defTabSz="1543050" rtl="0" eaLnBrk="1" latinLnBrk="0" hangingPunct="1">
      <a:defRPr sz="3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62">
          <p15:clr>
            <a:srgbClr val="A4A3A4"/>
          </p15:clr>
        </p15:guide>
        <p15:guide id="2" pos="544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a:srgbClr val="00AFEF"/>
    <a:srgbClr val="F4F3EC"/>
    <a:srgbClr val="ED3237"/>
    <a:srgbClr val="FFD243"/>
    <a:srgbClr val="FFDF79"/>
    <a:srgbClr val="FFF3C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63" autoAdjust="0"/>
    <p:restoredTop sz="83452" autoAdjust="0"/>
  </p:normalViewPr>
  <p:slideViewPr>
    <p:cSldViewPr>
      <p:cViewPr varScale="1">
        <p:scale>
          <a:sx n="41" d="100"/>
          <a:sy n="41" d="100"/>
        </p:scale>
        <p:origin x="1156" y="28"/>
      </p:cViewPr>
      <p:guideLst>
        <p:guide orient="horz" pos="3062"/>
        <p:guide pos="5443"/>
      </p:guideLst>
    </p:cSldViewPr>
  </p:slideViewPr>
  <p:outlineViewPr>
    <p:cViewPr>
      <p:scale>
        <a:sx n="33" d="100"/>
        <a:sy n="33" d="100"/>
      </p:scale>
      <p:origin x="0" y="0"/>
    </p:cViewPr>
    <p:sldLst>
      <p:sld r:id="rId1" collapse="1"/>
    </p:sldLst>
  </p:outlineViewPr>
  <p:notesTextViewPr>
    <p:cViewPr>
      <p:scale>
        <a:sx n="1" d="1"/>
        <a:sy n="1" d="1"/>
      </p:scale>
      <p:origin x="0" y="0"/>
    </p:cViewPr>
  </p:notesTextViewPr>
  <p:sorterViewPr>
    <p:cViewPr varScale="1">
      <p:scale>
        <a:sx n="100" d="100"/>
        <a:sy n="100" d="100"/>
      </p:scale>
      <p:origin x="0" y="0"/>
    </p:cViewPr>
  </p:sorterViewPr>
  <p:notesViewPr>
    <p:cSldViewPr>
      <p:cViewPr varScale="1">
        <p:scale>
          <a:sx n="67" d="100"/>
          <a:sy n="67" d="100"/>
        </p:scale>
        <p:origin x="-2796"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8FFA46F-CC41-471A-BD49-7840A8499DD0}" type="datetimeFigureOut">
              <a:rPr lang="en-US" smtClean="0"/>
              <a:pPr/>
              <a:t>5/9/2025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579FA41-50F0-4D9B-8071-273D457305FC}" type="slidenum">
              <a:rPr lang="en-US" smtClean="0"/>
              <a:pPr/>
              <a:t>‹#›</a:t>
            </a:fld>
            <a:endParaRPr lang="en-US"/>
          </a:p>
        </p:txBody>
      </p:sp>
    </p:spTree>
    <p:extLst>
      <p:ext uri="{BB962C8B-B14F-4D97-AF65-F5344CB8AC3E}">
        <p14:creationId xmlns:p14="http://schemas.microsoft.com/office/powerpoint/2010/main" val="19593891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D2A565-A765-4629-A7CE-380639E4C6EC}" type="datetimeFigureOut">
              <a:rPr lang="en-IN" smtClean="0"/>
              <a:pPr/>
              <a:t>09-05-2025</a:t>
            </a:fld>
            <a:endParaRPr lang="en-IN"/>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93FB610-2326-4C6C-BF3C-11A8CACD4C9B}" type="slidenum">
              <a:rPr lang="en-IN" smtClean="0"/>
              <a:pPr/>
              <a:t>‹#›</a:t>
            </a:fld>
            <a:endParaRPr lang="en-IN"/>
          </a:p>
        </p:txBody>
      </p:sp>
    </p:spTree>
    <p:extLst>
      <p:ext uri="{BB962C8B-B14F-4D97-AF65-F5344CB8AC3E}">
        <p14:creationId xmlns:p14="http://schemas.microsoft.com/office/powerpoint/2010/main" val="2083002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C93FB610-2326-4C6C-BF3C-11A8CACD4C9B}" type="slidenum">
              <a:rPr lang="en-IN" smtClean="0"/>
              <a:pPr/>
              <a:t>1</a:t>
            </a:fld>
            <a:endParaRPr lang="en-IN"/>
          </a:p>
        </p:txBody>
      </p:sp>
    </p:spTree>
    <p:extLst>
      <p:ext uri="{BB962C8B-B14F-4D97-AF65-F5344CB8AC3E}">
        <p14:creationId xmlns:p14="http://schemas.microsoft.com/office/powerpoint/2010/main" val="38138703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2</a:t>
            </a:fld>
            <a:endParaRPr lang="en-US"/>
          </a:p>
        </p:txBody>
      </p:sp>
    </p:spTree>
    <p:extLst>
      <p:ext uri="{BB962C8B-B14F-4D97-AF65-F5344CB8AC3E}">
        <p14:creationId xmlns:p14="http://schemas.microsoft.com/office/powerpoint/2010/main" val="25383725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3</a:t>
            </a:fld>
            <a:endParaRPr lang="en-US"/>
          </a:p>
        </p:txBody>
      </p:sp>
    </p:spTree>
    <p:extLst>
      <p:ext uri="{BB962C8B-B14F-4D97-AF65-F5344CB8AC3E}">
        <p14:creationId xmlns:p14="http://schemas.microsoft.com/office/powerpoint/2010/main" val="4002769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4</a:t>
            </a:fld>
            <a:endParaRPr lang="en-US"/>
          </a:p>
        </p:txBody>
      </p:sp>
    </p:spTree>
    <p:extLst>
      <p:ext uri="{BB962C8B-B14F-4D97-AF65-F5344CB8AC3E}">
        <p14:creationId xmlns:p14="http://schemas.microsoft.com/office/powerpoint/2010/main" val="4002769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5</a:t>
            </a:fld>
            <a:endParaRPr lang="en-US"/>
          </a:p>
        </p:txBody>
      </p:sp>
    </p:spTree>
    <p:extLst>
      <p:ext uri="{BB962C8B-B14F-4D97-AF65-F5344CB8AC3E}">
        <p14:creationId xmlns:p14="http://schemas.microsoft.com/office/powerpoint/2010/main" val="40027695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6</a:t>
            </a:fld>
            <a:endParaRPr lang="en-US"/>
          </a:p>
        </p:txBody>
      </p:sp>
    </p:spTree>
    <p:extLst>
      <p:ext uri="{BB962C8B-B14F-4D97-AF65-F5344CB8AC3E}">
        <p14:creationId xmlns:p14="http://schemas.microsoft.com/office/powerpoint/2010/main" val="40027695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7</a:t>
            </a:fld>
            <a:endParaRPr lang="en-US"/>
          </a:p>
        </p:txBody>
      </p:sp>
    </p:spTree>
    <p:extLst>
      <p:ext uri="{BB962C8B-B14F-4D97-AF65-F5344CB8AC3E}">
        <p14:creationId xmlns:p14="http://schemas.microsoft.com/office/powerpoint/2010/main" val="40027695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8</a:t>
            </a:fld>
            <a:endParaRPr lang="en-US"/>
          </a:p>
        </p:txBody>
      </p:sp>
    </p:spTree>
    <p:extLst>
      <p:ext uri="{BB962C8B-B14F-4D97-AF65-F5344CB8AC3E}">
        <p14:creationId xmlns:p14="http://schemas.microsoft.com/office/powerpoint/2010/main" val="11269043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9</a:t>
            </a:fld>
            <a:endParaRPr lang="en-US"/>
          </a:p>
        </p:txBody>
      </p:sp>
    </p:spTree>
    <p:extLst>
      <p:ext uri="{BB962C8B-B14F-4D97-AF65-F5344CB8AC3E}">
        <p14:creationId xmlns:p14="http://schemas.microsoft.com/office/powerpoint/2010/main" val="1126904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10</a:t>
            </a:fld>
            <a:endParaRPr lang="en-US"/>
          </a:p>
        </p:txBody>
      </p:sp>
    </p:spTree>
    <p:extLst>
      <p:ext uri="{BB962C8B-B14F-4D97-AF65-F5344CB8AC3E}">
        <p14:creationId xmlns:p14="http://schemas.microsoft.com/office/powerpoint/2010/main" val="1140433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11</a:t>
            </a:fld>
            <a:endParaRPr lang="en-US"/>
          </a:p>
        </p:txBody>
      </p:sp>
    </p:spTree>
    <p:extLst>
      <p:ext uri="{BB962C8B-B14F-4D97-AF65-F5344CB8AC3E}">
        <p14:creationId xmlns:p14="http://schemas.microsoft.com/office/powerpoint/2010/main" val="11404333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12</a:t>
            </a:fld>
            <a:endParaRPr lang="en-US"/>
          </a:p>
        </p:txBody>
      </p:sp>
    </p:spTree>
    <p:extLst>
      <p:ext uri="{BB962C8B-B14F-4D97-AF65-F5344CB8AC3E}">
        <p14:creationId xmlns:p14="http://schemas.microsoft.com/office/powerpoint/2010/main" val="879194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13</a:t>
            </a:fld>
            <a:endParaRPr lang="en-US"/>
          </a:p>
        </p:txBody>
      </p:sp>
    </p:spTree>
    <p:extLst>
      <p:ext uri="{BB962C8B-B14F-4D97-AF65-F5344CB8AC3E}">
        <p14:creationId xmlns:p14="http://schemas.microsoft.com/office/powerpoint/2010/main" val="11771316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14</a:t>
            </a:fld>
            <a:endParaRPr lang="en-US"/>
          </a:p>
        </p:txBody>
      </p:sp>
    </p:spTree>
    <p:extLst>
      <p:ext uri="{BB962C8B-B14F-4D97-AF65-F5344CB8AC3E}">
        <p14:creationId xmlns:p14="http://schemas.microsoft.com/office/powerpoint/2010/main" val="8409017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15</a:t>
            </a:fld>
            <a:endParaRPr lang="en-US"/>
          </a:p>
        </p:txBody>
      </p:sp>
    </p:spTree>
    <p:extLst>
      <p:ext uri="{BB962C8B-B14F-4D97-AF65-F5344CB8AC3E}">
        <p14:creationId xmlns:p14="http://schemas.microsoft.com/office/powerpoint/2010/main" val="11269043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16</a:t>
            </a:fld>
            <a:endParaRPr lang="en-US"/>
          </a:p>
        </p:txBody>
      </p:sp>
    </p:spTree>
    <p:extLst>
      <p:ext uri="{BB962C8B-B14F-4D97-AF65-F5344CB8AC3E}">
        <p14:creationId xmlns:p14="http://schemas.microsoft.com/office/powerpoint/2010/main" val="6295470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17</a:t>
            </a:fld>
            <a:endParaRPr lang="en-US"/>
          </a:p>
        </p:txBody>
      </p:sp>
    </p:spTree>
    <p:extLst>
      <p:ext uri="{BB962C8B-B14F-4D97-AF65-F5344CB8AC3E}">
        <p14:creationId xmlns:p14="http://schemas.microsoft.com/office/powerpoint/2010/main" val="1366756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18</a:t>
            </a:fld>
            <a:endParaRPr lang="en-US"/>
          </a:p>
        </p:txBody>
      </p:sp>
    </p:spTree>
    <p:extLst>
      <p:ext uri="{BB962C8B-B14F-4D97-AF65-F5344CB8AC3E}">
        <p14:creationId xmlns:p14="http://schemas.microsoft.com/office/powerpoint/2010/main" val="20199593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19</a:t>
            </a:fld>
            <a:endParaRPr lang="en-US"/>
          </a:p>
        </p:txBody>
      </p:sp>
    </p:spTree>
    <p:extLst>
      <p:ext uri="{BB962C8B-B14F-4D97-AF65-F5344CB8AC3E}">
        <p14:creationId xmlns:p14="http://schemas.microsoft.com/office/powerpoint/2010/main" val="20199593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20</a:t>
            </a:fld>
            <a:endParaRPr lang="en-US"/>
          </a:p>
        </p:txBody>
      </p:sp>
    </p:spTree>
    <p:extLst>
      <p:ext uri="{BB962C8B-B14F-4D97-AF65-F5344CB8AC3E}">
        <p14:creationId xmlns:p14="http://schemas.microsoft.com/office/powerpoint/2010/main" val="27540226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21</a:t>
            </a:fld>
            <a:endParaRPr lang="en-US"/>
          </a:p>
        </p:txBody>
      </p:sp>
    </p:spTree>
    <p:extLst>
      <p:ext uri="{BB962C8B-B14F-4D97-AF65-F5344CB8AC3E}">
        <p14:creationId xmlns:p14="http://schemas.microsoft.com/office/powerpoint/2010/main" val="27540226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22</a:t>
            </a:fld>
            <a:endParaRPr lang="en-US"/>
          </a:p>
        </p:txBody>
      </p:sp>
    </p:spTree>
    <p:extLst>
      <p:ext uri="{BB962C8B-B14F-4D97-AF65-F5344CB8AC3E}">
        <p14:creationId xmlns:p14="http://schemas.microsoft.com/office/powerpoint/2010/main" val="26075459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bwMode="auto">
          <a:noFill/>
          <a:ln>
            <a:solidFill>
              <a:srgbClr val="000000"/>
            </a:solidFill>
            <a:miter lim="800000"/>
            <a:headEnd/>
            <a:tailEnd/>
          </a:ln>
        </p:spPr>
      </p:sp>
      <p:sp>
        <p:nvSpPr>
          <p:cNvPr id="34819" name="Notes Placeholder 2"/>
          <p:cNvSpPr>
            <a:spLocks noGrp="1"/>
          </p:cNvSpPr>
          <p:nvPr>
            <p:ph type="body" idx="1"/>
          </p:nvPr>
        </p:nvSpPr>
        <p:spPr bwMode="auto">
          <a:noFill/>
        </p:spPr>
        <p:txBody>
          <a:bodyPr wrap="square" numCol="1" anchor="t" anchorCtr="0" compatLnSpc="1">
            <a:prstTxWarp prst="textNoShape">
              <a:avLst/>
            </a:prstTxWarp>
          </a:bodyPr>
          <a:lstStyle/>
          <a:p>
            <a:endParaRPr lang="en-IN"/>
          </a:p>
        </p:txBody>
      </p:sp>
      <p:sp>
        <p:nvSpPr>
          <p:cNvPr id="4" name="Slide Number Placeholder 3"/>
          <p:cNvSpPr>
            <a:spLocks noGrp="1"/>
          </p:cNvSpPr>
          <p:nvPr>
            <p:ph type="sldNum" sz="quarter" idx="5"/>
          </p:nvPr>
        </p:nvSpPr>
        <p:spPr/>
        <p:txBody>
          <a:bodyPr/>
          <a:lstStyle/>
          <a:p>
            <a:pPr>
              <a:defRPr/>
            </a:pPr>
            <a:fld id="{3815E5E1-7984-45C5-BEAA-C85F14689B93}" type="slidenum">
              <a:rPr lang="en-US" smtClean="0"/>
              <a:pPr>
                <a:defRPr/>
              </a:pPr>
              <a:t>23</a:t>
            </a:fld>
            <a:endParaRPr lang="en-US"/>
          </a:p>
        </p:txBody>
      </p:sp>
    </p:spTree>
    <p:extLst>
      <p:ext uri="{BB962C8B-B14F-4D97-AF65-F5344CB8AC3E}">
        <p14:creationId xmlns:p14="http://schemas.microsoft.com/office/powerpoint/2010/main" val="26075459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48318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7019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pic>
        <p:nvPicPr>
          <p:cNvPr id="8" name="Picture 2" descr="D:\IMS Backup\Random Files\Pics\IMS logo_transparent.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16184563" y="45812"/>
            <a:ext cx="1017930" cy="713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70978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2" descr="D:\IMS Backup\Random Files\Pics\IMS logo_transparent.png"/>
          <p:cNvPicPr>
            <a:picLocks noChangeAspect="1" noChangeArrowheads="1"/>
          </p:cNvPicPr>
          <p:nvPr userDrawn="1"/>
        </p:nvPicPr>
        <p:blipFill>
          <a:blip r:embed="rId5" cstate="print">
            <a:extLst>
              <a:ext uri="{28A0092B-C50C-407E-A947-70E740481C1C}">
                <a14:useLocalDpi xmlns:a14="http://schemas.microsoft.com/office/drawing/2010/main" val="0"/>
              </a:ext>
            </a:extLst>
          </a:blip>
          <a:srcRect/>
          <a:stretch>
            <a:fillRect/>
          </a:stretch>
        </p:blipFill>
        <p:spPr bwMode="auto">
          <a:xfrm>
            <a:off x="16184563" y="45812"/>
            <a:ext cx="1017930" cy="7135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60625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3" r:id="rId3"/>
  </p:sldLayoutIdLst>
  <p:txStyles>
    <p:titleStyle>
      <a:lvl1pPr algn="l" defTabSz="1543050" rtl="0" eaLnBrk="1" latinLnBrk="0" hangingPunct="1">
        <a:spcBef>
          <a:spcPct val="0"/>
        </a:spcBef>
        <a:buNone/>
        <a:defRPr sz="8800" kern="1200">
          <a:solidFill>
            <a:schemeClr val="tx1"/>
          </a:solidFill>
          <a:latin typeface="Futura New Cond Bold" pitchFamily="34" charset="0"/>
          <a:ea typeface="+mj-ea"/>
          <a:cs typeface="+mj-cs"/>
        </a:defRPr>
      </a:lvl1pPr>
    </p:titleStyle>
    <p:bodyStyle>
      <a:lvl1pPr marL="578644" indent="-578644" algn="l" defTabSz="1543050" rtl="0" eaLnBrk="1" latinLnBrk="0" hangingPunct="1">
        <a:spcBef>
          <a:spcPct val="20000"/>
        </a:spcBef>
        <a:buSzPct val="70000"/>
        <a:buFont typeface="Wingdings" panose="05000000000000000000" pitchFamily="2" charset="2"/>
        <a:buChar char="q"/>
        <a:defRPr sz="4800" kern="1200">
          <a:solidFill>
            <a:schemeClr val="tx1"/>
          </a:solidFill>
          <a:latin typeface="HP Simplified" pitchFamily="34" charset="0"/>
          <a:ea typeface="+mn-ea"/>
          <a:cs typeface="+mn-cs"/>
        </a:defRPr>
      </a:lvl1pPr>
      <a:lvl2pPr marL="1253728" indent="-482203" algn="l" defTabSz="1543050" rtl="0" eaLnBrk="1" latinLnBrk="0" hangingPunct="1">
        <a:spcBef>
          <a:spcPct val="20000"/>
        </a:spcBef>
        <a:buFont typeface="Arial" panose="020B0604020202020204" pitchFamily="34" charset="0"/>
        <a:buChar char="–"/>
        <a:defRPr sz="4400" kern="1200">
          <a:solidFill>
            <a:schemeClr val="tx1"/>
          </a:solidFill>
          <a:latin typeface="HP Simplified" pitchFamily="34" charset="0"/>
          <a:ea typeface="+mn-ea"/>
          <a:cs typeface="+mn-cs"/>
        </a:defRPr>
      </a:lvl2pPr>
      <a:lvl3pPr marL="1928813" indent="-385763" algn="l" defTabSz="1543050" rtl="0" eaLnBrk="1" latinLnBrk="0" hangingPunct="1">
        <a:spcBef>
          <a:spcPct val="20000"/>
        </a:spcBef>
        <a:buFont typeface="Arial" panose="020B0604020202020204" pitchFamily="34" charset="0"/>
        <a:buChar char="•"/>
        <a:defRPr sz="4000" kern="1200">
          <a:solidFill>
            <a:schemeClr val="tx1"/>
          </a:solidFill>
          <a:latin typeface="HP Simplified" pitchFamily="34" charset="0"/>
          <a:ea typeface="+mn-ea"/>
          <a:cs typeface="+mn-cs"/>
        </a:defRPr>
      </a:lvl3pPr>
      <a:lvl4pPr marL="2700338" indent="-385763" algn="l" defTabSz="1543050" rtl="0" eaLnBrk="1" latinLnBrk="0" hangingPunct="1">
        <a:spcBef>
          <a:spcPct val="20000"/>
        </a:spcBef>
        <a:buFont typeface="Arial" panose="020B0604020202020204" pitchFamily="34" charset="0"/>
        <a:buChar char="–"/>
        <a:defRPr sz="3200" kern="1200">
          <a:solidFill>
            <a:schemeClr val="tx1"/>
          </a:solidFill>
          <a:latin typeface="HP Simplified" pitchFamily="34" charset="0"/>
          <a:ea typeface="+mn-ea"/>
          <a:cs typeface="+mn-cs"/>
        </a:defRPr>
      </a:lvl4pPr>
      <a:lvl5pPr marL="3471863" indent="-385763" algn="l" defTabSz="1543050" rtl="0" eaLnBrk="1" latinLnBrk="0" hangingPunct="1">
        <a:spcBef>
          <a:spcPct val="20000"/>
        </a:spcBef>
        <a:buFont typeface="Arial" panose="020B0604020202020204" pitchFamily="34" charset="0"/>
        <a:buChar char="»"/>
        <a:defRPr sz="3200" kern="1200">
          <a:solidFill>
            <a:schemeClr val="tx1"/>
          </a:solidFill>
          <a:latin typeface="HP Simplified" pitchFamily="34" charset="0"/>
          <a:ea typeface="+mn-ea"/>
          <a:cs typeface="+mn-cs"/>
        </a:defRPr>
      </a:lvl5pPr>
      <a:lvl6pPr marL="4243388" indent="-385763" algn="l" defTabSz="1543050" rtl="0" eaLnBrk="1" latinLnBrk="0" hangingPunct="1">
        <a:spcBef>
          <a:spcPct val="20000"/>
        </a:spcBef>
        <a:buFont typeface="Arial" panose="020B0604020202020204" pitchFamily="34" charset="0"/>
        <a:buChar char="•"/>
        <a:defRPr sz="3400" kern="1200">
          <a:solidFill>
            <a:schemeClr val="tx1"/>
          </a:solidFill>
          <a:latin typeface="+mn-lt"/>
          <a:ea typeface="+mn-ea"/>
          <a:cs typeface="+mn-cs"/>
        </a:defRPr>
      </a:lvl6pPr>
      <a:lvl7pPr marL="5014913" indent="-385763" algn="l" defTabSz="1543050" rtl="0" eaLnBrk="1" latinLnBrk="0" hangingPunct="1">
        <a:spcBef>
          <a:spcPct val="20000"/>
        </a:spcBef>
        <a:buFont typeface="Arial" panose="020B0604020202020204" pitchFamily="34" charset="0"/>
        <a:buChar char="•"/>
        <a:defRPr sz="3400" kern="1200">
          <a:solidFill>
            <a:schemeClr val="tx1"/>
          </a:solidFill>
          <a:latin typeface="+mn-lt"/>
          <a:ea typeface="+mn-ea"/>
          <a:cs typeface="+mn-cs"/>
        </a:defRPr>
      </a:lvl7pPr>
      <a:lvl8pPr marL="5786438" indent="-385763" algn="l" defTabSz="1543050" rtl="0" eaLnBrk="1" latinLnBrk="0" hangingPunct="1">
        <a:spcBef>
          <a:spcPct val="20000"/>
        </a:spcBef>
        <a:buFont typeface="Arial" panose="020B0604020202020204" pitchFamily="34" charset="0"/>
        <a:buChar char="•"/>
        <a:defRPr sz="3400" kern="1200">
          <a:solidFill>
            <a:schemeClr val="tx1"/>
          </a:solidFill>
          <a:latin typeface="+mn-lt"/>
          <a:ea typeface="+mn-ea"/>
          <a:cs typeface="+mn-cs"/>
        </a:defRPr>
      </a:lvl8pPr>
      <a:lvl9pPr marL="6557963" indent="-385763" algn="l" defTabSz="1543050" rtl="0" eaLnBrk="1" latinLnBrk="0" hangingPunct="1">
        <a:spcBef>
          <a:spcPct val="20000"/>
        </a:spcBef>
        <a:buFont typeface="Arial" panose="020B0604020202020204" pitchFamily="34" charset="0"/>
        <a:buChar char="•"/>
        <a:defRPr sz="3400" kern="1200">
          <a:solidFill>
            <a:schemeClr val="tx1"/>
          </a:solidFill>
          <a:latin typeface="+mn-lt"/>
          <a:ea typeface="+mn-ea"/>
          <a:cs typeface="+mn-cs"/>
        </a:defRPr>
      </a:lvl9pPr>
    </p:bodyStyle>
    <p:otherStyle>
      <a:defPPr>
        <a:defRPr lang="en-US"/>
      </a:defPPr>
      <a:lvl1pPr marL="0" algn="l" defTabSz="1543050" rtl="0" eaLnBrk="1" latinLnBrk="0" hangingPunct="1">
        <a:defRPr sz="3000" kern="1200">
          <a:solidFill>
            <a:schemeClr val="tx1"/>
          </a:solidFill>
          <a:latin typeface="+mn-lt"/>
          <a:ea typeface="+mn-ea"/>
          <a:cs typeface="+mn-cs"/>
        </a:defRPr>
      </a:lvl1pPr>
      <a:lvl2pPr marL="771525" algn="l" defTabSz="1543050" rtl="0" eaLnBrk="1" latinLnBrk="0" hangingPunct="1">
        <a:defRPr sz="3000" kern="1200">
          <a:solidFill>
            <a:schemeClr val="tx1"/>
          </a:solidFill>
          <a:latin typeface="+mn-lt"/>
          <a:ea typeface="+mn-ea"/>
          <a:cs typeface="+mn-cs"/>
        </a:defRPr>
      </a:lvl2pPr>
      <a:lvl3pPr marL="1543050" algn="l" defTabSz="1543050" rtl="0" eaLnBrk="1" latinLnBrk="0" hangingPunct="1">
        <a:defRPr sz="3000" kern="1200">
          <a:solidFill>
            <a:schemeClr val="tx1"/>
          </a:solidFill>
          <a:latin typeface="+mn-lt"/>
          <a:ea typeface="+mn-ea"/>
          <a:cs typeface="+mn-cs"/>
        </a:defRPr>
      </a:lvl3pPr>
      <a:lvl4pPr marL="2314575" algn="l" defTabSz="1543050" rtl="0" eaLnBrk="1" latinLnBrk="0" hangingPunct="1">
        <a:defRPr sz="3000" kern="1200">
          <a:solidFill>
            <a:schemeClr val="tx1"/>
          </a:solidFill>
          <a:latin typeface="+mn-lt"/>
          <a:ea typeface="+mn-ea"/>
          <a:cs typeface="+mn-cs"/>
        </a:defRPr>
      </a:lvl4pPr>
      <a:lvl5pPr marL="3086100" algn="l" defTabSz="1543050" rtl="0" eaLnBrk="1" latinLnBrk="0" hangingPunct="1">
        <a:defRPr sz="3000" kern="1200">
          <a:solidFill>
            <a:schemeClr val="tx1"/>
          </a:solidFill>
          <a:latin typeface="+mn-lt"/>
          <a:ea typeface="+mn-ea"/>
          <a:cs typeface="+mn-cs"/>
        </a:defRPr>
      </a:lvl5pPr>
      <a:lvl6pPr marL="3857625" algn="l" defTabSz="1543050" rtl="0" eaLnBrk="1" latinLnBrk="0" hangingPunct="1">
        <a:defRPr sz="3000" kern="1200">
          <a:solidFill>
            <a:schemeClr val="tx1"/>
          </a:solidFill>
          <a:latin typeface="+mn-lt"/>
          <a:ea typeface="+mn-ea"/>
          <a:cs typeface="+mn-cs"/>
        </a:defRPr>
      </a:lvl6pPr>
      <a:lvl7pPr marL="4629150" algn="l" defTabSz="1543050" rtl="0" eaLnBrk="1" latinLnBrk="0" hangingPunct="1">
        <a:defRPr sz="3000" kern="1200">
          <a:solidFill>
            <a:schemeClr val="tx1"/>
          </a:solidFill>
          <a:latin typeface="+mn-lt"/>
          <a:ea typeface="+mn-ea"/>
          <a:cs typeface="+mn-cs"/>
        </a:defRPr>
      </a:lvl7pPr>
      <a:lvl8pPr marL="5400675" algn="l" defTabSz="1543050" rtl="0" eaLnBrk="1" latinLnBrk="0" hangingPunct="1">
        <a:defRPr sz="3000" kern="1200">
          <a:solidFill>
            <a:schemeClr val="tx1"/>
          </a:solidFill>
          <a:latin typeface="+mn-lt"/>
          <a:ea typeface="+mn-ea"/>
          <a:cs typeface="+mn-cs"/>
        </a:defRPr>
      </a:lvl8pPr>
      <a:lvl9pPr marL="6172200" algn="l" defTabSz="1543050" rtl="0" eaLnBrk="1" latinLnBrk="0" hangingPunct="1">
        <a:defRPr sz="3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9"/>
          <p:cNvSpPr txBox="1">
            <a:spLocks/>
          </p:cNvSpPr>
          <p:nvPr/>
        </p:nvSpPr>
        <p:spPr>
          <a:xfrm>
            <a:off x="5059362" y="3794125"/>
            <a:ext cx="7391400" cy="1938992"/>
          </a:xfrm>
          <a:prstGeom prst="roundRect">
            <a:avLst>
              <a:gd name="adj" fmla="val 0"/>
            </a:avLst>
          </a:prstGeom>
          <a:noFill/>
          <a:ln w="25400" cap="flat" cmpd="sng" algn="ctr">
            <a:noFill/>
            <a:prstDash val="solid"/>
          </a:ln>
        </p:spPr>
        <p:style>
          <a:lnRef idx="2">
            <a:schemeClr val="dk1"/>
          </a:lnRef>
          <a:fillRef idx="1">
            <a:schemeClr val="lt1"/>
          </a:fillRef>
          <a:effectRef idx="0">
            <a:schemeClr val="dk1"/>
          </a:effectRef>
          <a:fontRef idx="minor">
            <a:schemeClr val="dk1"/>
          </a:fontRef>
        </p:style>
        <p:txBody>
          <a:bodyPr wrap="square" rtlCol="0">
            <a:spAutoFit/>
          </a:bodyPr>
          <a:lstStyle>
            <a:lvl1pPr algn="l" defTabSz="1543050" rtl="0" eaLnBrk="1" latinLnBrk="0" hangingPunct="1">
              <a:spcBef>
                <a:spcPct val="0"/>
              </a:spcBef>
              <a:buNone/>
              <a:defRPr sz="88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en-US" sz="6000" b="1" dirty="0" smtClean="0">
                <a:solidFill>
                  <a:schemeClr val="tx1">
                    <a:lumMod val="95000"/>
                    <a:lumOff val="5000"/>
                  </a:schemeClr>
                </a:solidFill>
                <a:latin typeface="Baskerville Old Face" panose="02020602080505020303" pitchFamily="18" charset="0"/>
                <a:ea typeface="Cambria" pitchFamily="18" charset="0"/>
              </a:rPr>
              <a:t>Simple Interest Compound Interest</a:t>
            </a:r>
            <a:endParaRPr lang="en-IN" sz="6000" b="1" dirty="0">
              <a:solidFill>
                <a:schemeClr val="tx1">
                  <a:lumMod val="95000"/>
                  <a:lumOff val="5000"/>
                </a:schemeClr>
              </a:solidFill>
              <a:latin typeface="Baskerville Old Face" panose="02020602080505020303" pitchFamily="18" charset="0"/>
              <a:ea typeface="Cambria" pitchFamily="18" charset="0"/>
            </a:endParaRPr>
          </a:p>
        </p:txBody>
      </p:sp>
    </p:spTree>
    <p:extLst>
      <p:ext uri="{BB962C8B-B14F-4D97-AF65-F5344CB8AC3E}">
        <p14:creationId xmlns:p14="http://schemas.microsoft.com/office/powerpoint/2010/main" val="26725483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01150981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5693866"/>
          </a:xfrm>
          <a:prstGeom prst="rect">
            <a:avLst/>
          </a:prstGeom>
          <a:noFill/>
        </p:spPr>
        <p:txBody>
          <a:bodyPr wrap="square" rtlCol="0">
            <a:spAutoFit/>
          </a:bodyPr>
          <a:lstStyle/>
          <a:p>
            <a:pPr lvl="0"/>
            <a:r>
              <a:rPr lang="en-IN" sz="2800" dirty="0" smtClean="0"/>
              <a:t>If CI for year 3 is Rs.1210 on a certain sum at the rate of 10% p.a., then what is the CI for</a:t>
            </a:r>
            <a:endParaRPr lang="en-US" sz="2800" dirty="0" smtClean="0"/>
          </a:p>
          <a:p>
            <a:pPr lvl="0"/>
            <a:r>
              <a:rPr lang="en-IN" sz="2800" dirty="0" smtClean="0"/>
              <a:t>5</a:t>
            </a:r>
            <a:r>
              <a:rPr lang="en-IN" sz="2800" baseline="30000" dirty="0" smtClean="0"/>
              <a:t>th</a:t>
            </a:r>
            <a:r>
              <a:rPr lang="en-IN" sz="2800" dirty="0" smtClean="0"/>
              <a:t> year</a:t>
            </a:r>
            <a:endParaRPr lang="en-US" sz="2800" dirty="0" smtClean="0"/>
          </a:p>
          <a:p>
            <a:pPr lvl="0"/>
            <a:r>
              <a:rPr lang="en-IN" sz="2800" dirty="0" smtClean="0"/>
              <a:t>1</a:t>
            </a:r>
            <a:r>
              <a:rPr lang="en-IN" sz="2800" baseline="30000" dirty="0" smtClean="0"/>
              <a:t>st</a:t>
            </a:r>
            <a:r>
              <a:rPr lang="en-IN" sz="2800" dirty="0" smtClean="0"/>
              <a:t> year</a:t>
            </a:r>
            <a:endParaRPr lang="en-US" sz="2800" dirty="0" smtClean="0"/>
          </a:p>
          <a:p>
            <a:r>
              <a:rPr lang="en-IN" sz="2800" dirty="0" smtClean="0"/>
              <a:t> </a:t>
            </a:r>
          </a:p>
          <a:p>
            <a:endParaRPr lang="en-IN" sz="2800" dirty="0" smtClean="0"/>
          </a:p>
          <a:p>
            <a:endParaRPr lang="en-IN" sz="2800" dirty="0" smtClean="0"/>
          </a:p>
          <a:p>
            <a:endParaRPr lang="en-IN" sz="2800" dirty="0" smtClean="0"/>
          </a:p>
          <a:p>
            <a:endParaRPr lang="en-IN" sz="2800" dirty="0" smtClean="0"/>
          </a:p>
          <a:p>
            <a:pPr lvl="0"/>
            <a:r>
              <a:rPr lang="en-IN" sz="2800" dirty="0" smtClean="0"/>
              <a:t>The compound interest on a certain sum for the third and the fourth years is Rs.1800 and Rs.2160 respectively. What is the rate of interest?</a:t>
            </a:r>
            <a:endParaRPr lang="en-US" sz="2800" dirty="0" smtClean="0"/>
          </a:p>
          <a:p>
            <a:endParaRPr lang="en-IN" sz="2800" dirty="0" smtClean="0"/>
          </a:p>
          <a:p>
            <a:endParaRPr lang="en-IN" sz="2800" dirty="0" smtClean="0"/>
          </a:p>
          <a:p>
            <a:r>
              <a:rPr lang="en-IN" sz="2800" dirty="0" smtClean="0"/>
              <a:t> </a:t>
            </a:r>
            <a:endParaRPr lang="en-US" sz="2800" dirty="0"/>
          </a:p>
        </p:txBody>
      </p:sp>
    </p:spTree>
    <p:extLst>
      <p:ext uri="{BB962C8B-B14F-4D97-AF65-F5344CB8AC3E}">
        <p14:creationId xmlns:p14="http://schemas.microsoft.com/office/powerpoint/2010/main" val="158832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954107"/>
          </a:xfrm>
          <a:prstGeom prst="rect">
            <a:avLst/>
          </a:prstGeom>
          <a:noFill/>
        </p:spPr>
        <p:txBody>
          <a:bodyPr wrap="square" rtlCol="0">
            <a:spAutoFit/>
          </a:bodyPr>
          <a:lstStyle/>
          <a:p>
            <a:pPr lvl="0"/>
            <a:r>
              <a:rPr lang="en-IN" sz="2800" dirty="0" smtClean="0"/>
              <a:t>A sum under CI, interest being compounded annually amounts to Rs.6000 in two years and Rs.7260 in four years. Find the rate of interest.</a:t>
            </a:r>
            <a:endParaRPr lang="en-US" sz="2800" dirty="0"/>
          </a:p>
        </p:txBody>
      </p:sp>
    </p:spTree>
    <p:extLst>
      <p:ext uri="{BB962C8B-B14F-4D97-AF65-F5344CB8AC3E}">
        <p14:creationId xmlns:p14="http://schemas.microsoft.com/office/powerpoint/2010/main" val="158832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4401205"/>
          </a:xfrm>
          <a:prstGeom prst="rect">
            <a:avLst/>
          </a:prstGeom>
          <a:noFill/>
        </p:spPr>
        <p:txBody>
          <a:bodyPr wrap="square" rtlCol="0">
            <a:spAutoFit/>
          </a:bodyPr>
          <a:lstStyle/>
          <a:p>
            <a:pPr lvl="0"/>
            <a:r>
              <a:rPr lang="en-IN" sz="2800" dirty="0" smtClean="0"/>
              <a:t>The difference between SI and CI compounded annually on a sum for 2 years at 5 % per annum is </a:t>
            </a:r>
            <a:r>
              <a:rPr lang="en-IN" sz="2800" dirty="0" err="1" smtClean="0"/>
              <a:t>Rs</a:t>
            </a:r>
            <a:r>
              <a:rPr lang="en-IN" sz="2800" dirty="0" smtClean="0"/>
              <a:t>. 20.</a:t>
            </a:r>
            <a:endParaRPr lang="en-US" sz="2800" dirty="0" smtClean="0"/>
          </a:p>
          <a:p>
            <a:r>
              <a:rPr lang="en-IN" sz="2800" dirty="0" smtClean="0"/>
              <a:t> </a:t>
            </a:r>
          </a:p>
          <a:p>
            <a:endParaRPr lang="en-IN" sz="2800" dirty="0" smtClean="0"/>
          </a:p>
          <a:p>
            <a:endParaRPr lang="en-IN" sz="2800" dirty="0" smtClean="0"/>
          </a:p>
          <a:p>
            <a:endParaRPr lang="en-IN" sz="2800" dirty="0" smtClean="0"/>
          </a:p>
          <a:p>
            <a:endParaRPr lang="en-IN" sz="2800" dirty="0" smtClean="0"/>
          </a:p>
          <a:p>
            <a:endParaRPr lang="en-US" sz="2800" dirty="0" smtClean="0"/>
          </a:p>
          <a:p>
            <a:r>
              <a:rPr lang="en-IN" sz="2800" dirty="0" smtClean="0"/>
              <a:t>The difference between SI and CI compounded annually on a sum for 3 years at 10 % per annum is </a:t>
            </a:r>
            <a:r>
              <a:rPr lang="en-IN" sz="2800" dirty="0" err="1" smtClean="0"/>
              <a:t>Rs</a:t>
            </a:r>
            <a:r>
              <a:rPr lang="en-IN" sz="2800" dirty="0" smtClean="0"/>
              <a:t>. 1240</a:t>
            </a:r>
            <a:endParaRPr lang="en-US" sz="2800" dirty="0">
              <a:solidFill>
                <a:prstClr val="black"/>
              </a:solidFill>
              <a:ea typeface="Times New Roman" panose="02020603050405020304" pitchFamily="18" charset="0"/>
            </a:endParaRPr>
          </a:p>
        </p:txBody>
      </p:sp>
    </p:spTree>
    <p:extLst>
      <p:ext uri="{BB962C8B-B14F-4D97-AF65-F5344CB8AC3E}">
        <p14:creationId xmlns:p14="http://schemas.microsoft.com/office/powerpoint/2010/main" val="158832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3631763"/>
          </a:xfrm>
          <a:prstGeom prst="rect">
            <a:avLst/>
          </a:prstGeom>
          <a:noFill/>
        </p:spPr>
        <p:txBody>
          <a:bodyPr wrap="square" rtlCol="0">
            <a:spAutoFit/>
          </a:bodyPr>
          <a:lstStyle/>
          <a:p>
            <a:pPr marR="18415" lvl="0" algn="just" defTabSz="914400">
              <a:lnSpc>
                <a:spcPct val="150000"/>
              </a:lnSpc>
              <a:spcAft>
                <a:spcPts val="600"/>
              </a:spcAft>
            </a:pPr>
            <a:r>
              <a:rPr lang="en-US" sz="2800" dirty="0" smtClean="0">
                <a:solidFill>
                  <a:prstClr val="black"/>
                </a:solidFill>
                <a:ea typeface="Times New Roman" panose="02020603050405020304" pitchFamily="18" charset="0"/>
                <a:cs typeface="Arial" panose="020B0604020202020204" pitchFamily="34" charset="0"/>
              </a:rPr>
              <a:t>In </a:t>
            </a:r>
            <a:r>
              <a:rPr lang="en-US" sz="2800" dirty="0">
                <a:solidFill>
                  <a:prstClr val="black"/>
                </a:solidFill>
                <a:ea typeface="Times New Roman" panose="02020603050405020304" pitchFamily="18" charset="0"/>
                <a:cs typeface="Arial" panose="020B0604020202020204" pitchFamily="34" charset="0"/>
              </a:rPr>
              <a:t>two years an amount gives SI and CI of </a:t>
            </a:r>
            <a:r>
              <a:rPr lang="en-US" sz="2800" dirty="0" err="1">
                <a:solidFill>
                  <a:prstClr val="black"/>
                </a:solidFill>
                <a:ea typeface="Times New Roman" panose="02020603050405020304" pitchFamily="18" charset="0"/>
                <a:cs typeface="Arial" panose="020B0604020202020204" pitchFamily="34" charset="0"/>
              </a:rPr>
              <a:t>Rs</a:t>
            </a:r>
            <a:r>
              <a:rPr lang="en-US" sz="2800" dirty="0">
                <a:solidFill>
                  <a:prstClr val="black"/>
                </a:solidFill>
                <a:ea typeface="Times New Roman" panose="02020603050405020304" pitchFamily="18" charset="0"/>
                <a:cs typeface="Arial" panose="020B0604020202020204" pitchFamily="34" charset="0"/>
              </a:rPr>
              <a:t>. 600 and 636 </a:t>
            </a:r>
            <a:r>
              <a:rPr lang="en-US" sz="2800" dirty="0" smtClean="0">
                <a:solidFill>
                  <a:prstClr val="black"/>
                </a:solidFill>
                <a:ea typeface="Times New Roman" panose="02020603050405020304" pitchFamily="18" charset="0"/>
                <a:cs typeface="Arial" panose="020B0604020202020204" pitchFamily="34" charset="0"/>
              </a:rPr>
              <a:t>respectively.</a:t>
            </a:r>
          </a:p>
          <a:p>
            <a:pPr marL="514350" marR="18415" lvl="0" indent="-514350" algn="just" defTabSz="914400">
              <a:lnSpc>
                <a:spcPct val="150000"/>
              </a:lnSpc>
              <a:spcAft>
                <a:spcPts val="600"/>
              </a:spcAft>
              <a:buAutoNum type="arabicPeriod"/>
            </a:pPr>
            <a:r>
              <a:rPr lang="en-US" sz="2800" dirty="0" smtClean="0">
                <a:solidFill>
                  <a:prstClr val="black"/>
                </a:solidFill>
                <a:ea typeface="Times New Roman" panose="02020603050405020304" pitchFamily="18" charset="0"/>
                <a:cs typeface="Arial" panose="020B0604020202020204" pitchFamily="34" charset="0"/>
              </a:rPr>
              <a:t>Find rate of interest </a:t>
            </a:r>
          </a:p>
          <a:p>
            <a:pPr marL="514350" marR="18415" lvl="0" indent="-514350" algn="just" defTabSz="914400">
              <a:lnSpc>
                <a:spcPct val="150000"/>
              </a:lnSpc>
              <a:spcAft>
                <a:spcPts val="600"/>
              </a:spcAft>
              <a:buAutoNum type="arabicPeriod"/>
            </a:pPr>
            <a:r>
              <a:rPr lang="en-US" sz="2800" dirty="0" smtClean="0">
                <a:solidFill>
                  <a:prstClr val="black"/>
                </a:solidFill>
                <a:ea typeface="Times New Roman" panose="02020603050405020304" pitchFamily="18" charset="0"/>
                <a:cs typeface="Arial" panose="020B0604020202020204" pitchFamily="34" charset="0"/>
              </a:rPr>
              <a:t>Find Principal</a:t>
            </a:r>
          </a:p>
          <a:p>
            <a:pPr marL="514350" marR="18415" lvl="0" indent="-514350" algn="just" defTabSz="914400">
              <a:lnSpc>
                <a:spcPct val="150000"/>
              </a:lnSpc>
              <a:spcAft>
                <a:spcPts val="600"/>
              </a:spcAft>
              <a:buAutoNum type="arabicPeriod"/>
            </a:pPr>
            <a:endParaRPr lang="en-US" sz="2800" dirty="0">
              <a:solidFill>
                <a:prstClr val="black"/>
              </a:solidFill>
              <a:ea typeface="Times New Roman" panose="02020603050405020304" pitchFamily="18" charset="0"/>
              <a:cs typeface="Arial" panose="020B0604020202020204" pitchFamily="34" charset="0"/>
            </a:endParaRPr>
          </a:p>
          <a:p>
            <a:pPr marL="514350" marR="18415" lvl="0" indent="-514350" algn="just" defTabSz="914400">
              <a:lnSpc>
                <a:spcPct val="150000"/>
              </a:lnSpc>
              <a:spcAft>
                <a:spcPts val="600"/>
              </a:spcAft>
              <a:buAutoNum type="arabicPeriod"/>
            </a:pPr>
            <a:endParaRPr lang="en-US" sz="2800" dirty="0" smtClean="0">
              <a:solidFill>
                <a:prstClr val="black"/>
              </a:solidFill>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158832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2108269"/>
          </a:xfrm>
          <a:prstGeom prst="rect">
            <a:avLst/>
          </a:prstGeom>
          <a:noFill/>
        </p:spPr>
        <p:txBody>
          <a:bodyPr wrap="square" rtlCol="0">
            <a:spAutoFit/>
          </a:bodyPr>
          <a:lstStyle/>
          <a:p>
            <a:pPr marR="18415" lvl="0" algn="just" defTabSz="914400">
              <a:lnSpc>
                <a:spcPct val="150000"/>
              </a:lnSpc>
              <a:spcAft>
                <a:spcPts val="600"/>
              </a:spcAft>
            </a:pPr>
            <a:r>
              <a:rPr lang="en-US" sz="2800" dirty="0" smtClean="0">
                <a:solidFill>
                  <a:prstClr val="black"/>
                </a:solidFill>
                <a:ea typeface="Times New Roman" panose="02020603050405020304" pitchFamily="18" charset="0"/>
              </a:rPr>
              <a:t>The </a:t>
            </a:r>
            <a:r>
              <a:rPr lang="en-US" sz="2800" dirty="0">
                <a:solidFill>
                  <a:prstClr val="black"/>
                </a:solidFill>
                <a:ea typeface="Times New Roman" panose="02020603050405020304" pitchFamily="18" charset="0"/>
              </a:rPr>
              <a:t>difference between SI and CI for 2 years and 3 years is Rs. 120 and </a:t>
            </a:r>
            <a:r>
              <a:rPr lang="en-US" sz="2800" dirty="0" err="1">
                <a:solidFill>
                  <a:prstClr val="black"/>
                </a:solidFill>
                <a:ea typeface="Times New Roman" panose="02020603050405020304" pitchFamily="18" charset="0"/>
              </a:rPr>
              <a:t>Rs</a:t>
            </a:r>
            <a:r>
              <a:rPr lang="en-US" sz="2800" dirty="0">
                <a:solidFill>
                  <a:prstClr val="black"/>
                </a:solidFill>
                <a:ea typeface="Times New Roman" panose="02020603050405020304" pitchFamily="18" charset="0"/>
              </a:rPr>
              <a:t>. 366 respectively. </a:t>
            </a:r>
            <a:r>
              <a:rPr lang="en-US" sz="2800" dirty="0" smtClean="0">
                <a:solidFill>
                  <a:prstClr val="black"/>
                </a:solidFill>
                <a:ea typeface="Times New Roman" panose="02020603050405020304" pitchFamily="18" charset="0"/>
              </a:rPr>
              <a:t>Find rate of interest</a:t>
            </a:r>
            <a:endParaRPr lang="en-US" sz="2800" dirty="0">
              <a:solidFill>
                <a:prstClr val="black"/>
              </a:solidFill>
              <a:ea typeface="Times New Roman" panose="02020603050405020304" pitchFamily="18" charset="0"/>
            </a:endParaRPr>
          </a:p>
          <a:p>
            <a:pPr marR="18415" lvl="0" algn="just" defTabSz="914400">
              <a:lnSpc>
                <a:spcPct val="150000"/>
              </a:lnSpc>
              <a:spcAft>
                <a:spcPts val="600"/>
              </a:spcAft>
            </a:pPr>
            <a:endParaRPr lang="en-US" sz="2800" dirty="0">
              <a:solidFill>
                <a:prstClr val="black"/>
              </a:solidFill>
              <a:ea typeface="Times New Roman" panose="02020603050405020304" pitchFamily="18" charset="0"/>
            </a:endParaRPr>
          </a:p>
        </p:txBody>
      </p:sp>
    </p:spTree>
    <p:extLst>
      <p:ext uri="{BB962C8B-B14F-4D97-AF65-F5344CB8AC3E}">
        <p14:creationId xmlns:p14="http://schemas.microsoft.com/office/powerpoint/2010/main" val="1588326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3970318"/>
          </a:xfrm>
          <a:prstGeom prst="rect">
            <a:avLst/>
          </a:prstGeom>
          <a:noFill/>
        </p:spPr>
        <p:txBody>
          <a:bodyPr wrap="square" rtlCol="0">
            <a:spAutoFit/>
          </a:bodyPr>
          <a:lstStyle/>
          <a:p>
            <a:r>
              <a:rPr lang="en-US" sz="2800" dirty="0" smtClean="0"/>
              <a:t>A person borrows Rs.5000 at 4% (SI) and lends it out at 6% (SI) for 2 years. Then his profit is _______.</a:t>
            </a:r>
            <a:r>
              <a:rPr lang="en-IN" sz="2800" dirty="0" smtClean="0"/>
              <a:t> </a:t>
            </a:r>
          </a:p>
          <a:p>
            <a:endParaRPr lang="en-US" sz="2800" dirty="0" smtClean="0"/>
          </a:p>
          <a:p>
            <a:endParaRPr lang="en-US" sz="2800" dirty="0" smtClean="0"/>
          </a:p>
          <a:p>
            <a:endParaRPr lang="en-US" sz="2800" dirty="0" smtClean="0"/>
          </a:p>
          <a:p>
            <a:endParaRPr lang="en-US" sz="2800" dirty="0" smtClean="0"/>
          </a:p>
          <a:p>
            <a:endParaRPr lang="en-US" sz="2800" dirty="0" smtClean="0"/>
          </a:p>
          <a:p>
            <a:r>
              <a:rPr lang="en-US" sz="2800" dirty="0" smtClean="0"/>
              <a:t>A farmer borrowed Rs.3000 at 15% per annum at simple interest. At the end of 4 years he cleared his account by paying Rs.4000 and a goat. The price of the goat is:</a:t>
            </a:r>
            <a:endParaRPr lang="en-US" sz="2800" dirty="0"/>
          </a:p>
        </p:txBody>
      </p:sp>
    </p:spTree>
    <p:extLst>
      <p:ext uri="{BB962C8B-B14F-4D97-AF65-F5344CB8AC3E}">
        <p14:creationId xmlns:p14="http://schemas.microsoft.com/office/powerpoint/2010/main" val="424450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SI</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5262979"/>
          </a:xfrm>
          <a:prstGeom prst="rect">
            <a:avLst/>
          </a:prstGeom>
          <a:noFill/>
        </p:spPr>
        <p:txBody>
          <a:bodyPr wrap="square" rtlCol="0">
            <a:spAutoFit/>
          </a:bodyPr>
          <a:lstStyle/>
          <a:p>
            <a:pPr marL="486061" marR="28804" indent="-486061" algn="just">
              <a:lnSpc>
                <a:spcPct val="150000"/>
              </a:lnSpc>
              <a:buFont typeface="+mj-lt"/>
              <a:buAutoNum type="arabicParenR"/>
            </a:pPr>
            <a:r>
              <a:rPr lang="en-US" sz="2800" dirty="0" smtClean="0">
                <a:latin typeface="+mj-lt"/>
                <a:ea typeface="Times New Roman" panose="02020603050405020304" pitchFamily="18" charset="0"/>
                <a:cs typeface="Arial" panose="020B0604020202020204" pitchFamily="34" charset="0"/>
              </a:rPr>
              <a:t>If SI for the 3</a:t>
            </a:r>
            <a:r>
              <a:rPr lang="en-US" sz="2800" baseline="30000" dirty="0" smtClean="0">
                <a:latin typeface="+mj-lt"/>
                <a:ea typeface="Times New Roman" panose="02020603050405020304" pitchFamily="18" charset="0"/>
                <a:cs typeface="Arial" panose="020B0604020202020204" pitchFamily="34" charset="0"/>
              </a:rPr>
              <a:t>rd</a:t>
            </a:r>
            <a:r>
              <a:rPr lang="en-US" sz="2800" dirty="0" smtClean="0">
                <a:latin typeface="+mj-lt"/>
                <a:ea typeface="Times New Roman" panose="02020603050405020304" pitchFamily="18" charset="0"/>
                <a:cs typeface="Arial" panose="020B0604020202020204" pitchFamily="34" charset="0"/>
              </a:rPr>
              <a:t> year is Rs. 250, then the SI for 2</a:t>
            </a:r>
            <a:r>
              <a:rPr lang="en-US" sz="2800" baseline="30000" dirty="0" smtClean="0">
                <a:latin typeface="+mj-lt"/>
                <a:ea typeface="Times New Roman" panose="02020603050405020304" pitchFamily="18" charset="0"/>
                <a:cs typeface="Arial" panose="020B0604020202020204" pitchFamily="34" charset="0"/>
              </a:rPr>
              <a:t>nd</a:t>
            </a:r>
            <a:r>
              <a:rPr lang="en-US" sz="2800" dirty="0" smtClean="0">
                <a:latin typeface="+mj-lt"/>
                <a:ea typeface="Times New Roman" panose="02020603050405020304" pitchFamily="18" charset="0"/>
                <a:cs typeface="Arial" panose="020B0604020202020204" pitchFamily="34" charset="0"/>
              </a:rPr>
              <a:t> year is __________.</a:t>
            </a:r>
          </a:p>
          <a:p>
            <a:pPr marL="486061" marR="28804" indent="-486061" algn="just">
              <a:lnSpc>
                <a:spcPct val="150000"/>
              </a:lnSpc>
              <a:buFont typeface="+mj-lt"/>
              <a:buAutoNum type="arabicParenR"/>
            </a:pPr>
            <a:r>
              <a:rPr lang="en-US" sz="2800" dirty="0" smtClean="0">
                <a:latin typeface="+mj-lt"/>
                <a:ea typeface="Times New Roman" panose="02020603050405020304" pitchFamily="18" charset="0"/>
                <a:cs typeface="Arial" panose="020B0604020202020204" pitchFamily="34" charset="0"/>
              </a:rPr>
              <a:t>If SI for 3 years is Rs. 999, then the SI for 1 year is _________.</a:t>
            </a:r>
          </a:p>
          <a:p>
            <a:pPr marL="486061" marR="28804" indent="-486061" algn="just">
              <a:lnSpc>
                <a:spcPct val="150000"/>
              </a:lnSpc>
              <a:buFont typeface="+mj-lt"/>
              <a:buAutoNum type="arabicParenR"/>
            </a:pPr>
            <a:r>
              <a:rPr lang="en-US" sz="2800" dirty="0" smtClean="0">
                <a:latin typeface="+mj-lt"/>
                <a:ea typeface="Times New Roman" panose="02020603050405020304" pitchFamily="18" charset="0"/>
                <a:cs typeface="Arial" panose="020B0604020202020204" pitchFamily="34" charset="0"/>
              </a:rPr>
              <a:t>If the rate of simple interest is 20%, then the interest accumulated for 3.5 years is __________%.</a:t>
            </a:r>
          </a:p>
          <a:p>
            <a:pPr marL="486061" marR="28804" indent="-486061" algn="just">
              <a:lnSpc>
                <a:spcPct val="150000"/>
              </a:lnSpc>
              <a:buFont typeface="+mj-lt"/>
              <a:buAutoNum type="arabicParenR"/>
            </a:pPr>
            <a:r>
              <a:rPr lang="en-US" sz="2800" dirty="0" smtClean="0">
                <a:latin typeface="+mj-lt"/>
                <a:ea typeface="Times New Roman" panose="02020603050405020304" pitchFamily="18" charset="0"/>
                <a:cs typeface="Arial" panose="020B0604020202020204" pitchFamily="34" charset="0"/>
              </a:rPr>
              <a:t>If the interest for 2 years is Rs. 440, the interest for 6 months is _______.</a:t>
            </a:r>
          </a:p>
          <a:p>
            <a:pPr marL="486061" marR="28804" indent="-486061" algn="just">
              <a:lnSpc>
                <a:spcPct val="150000"/>
              </a:lnSpc>
              <a:buFont typeface="+mj-lt"/>
              <a:buAutoNum type="arabicParenR"/>
            </a:pPr>
            <a:r>
              <a:rPr lang="en-US" sz="2800" dirty="0" smtClean="0">
                <a:latin typeface="+mj-lt"/>
                <a:ea typeface="Times New Roman" panose="02020603050405020304" pitchFamily="18" charset="0"/>
              </a:rPr>
              <a:t>If the simple interest for 6 years is equal to 30% of the principal, then the principal will double itself in ___ years.</a:t>
            </a:r>
            <a:endParaRPr lang="en-IN" sz="2800" dirty="0" smtClean="0">
              <a:latin typeface="+mj-lt"/>
              <a:ea typeface="Times New Roman" panose="02020603050405020304" pitchFamily="18" charset="0"/>
            </a:endParaRPr>
          </a:p>
          <a:p>
            <a:pPr marL="486061" marR="28804" indent="-486061" algn="just">
              <a:lnSpc>
                <a:spcPct val="150000"/>
              </a:lnSpc>
            </a:pPr>
            <a:endParaRPr lang="en-US" sz="2800" dirty="0" smtClean="0">
              <a:latin typeface="+mj-lt"/>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424450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SI</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5001369"/>
          </a:xfrm>
          <a:prstGeom prst="rect">
            <a:avLst/>
          </a:prstGeom>
          <a:noFill/>
        </p:spPr>
        <p:txBody>
          <a:bodyPr wrap="square" rtlCol="0">
            <a:spAutoFit/>
          </a:bodyPr>
          <a:lstStyle/>
          <a:p>
            <a:pPr marR="18415" lvl="0" algn="just" defTabSz="914400">
              <a:lnSpc>
                <a:spcPct val="150000"/>
              </a:lnSpc>
              <a:spcAft>
                <a:spcPts val="600"/>
              </a:spcAft>
            </a:pPr>
            <a:r>
              <a:rPr lang="en-US" sz="2800" dirty="0" smtClean="0">
                <a:solidFill>
                  <a:prstClr val="black"/>
                </a:solidFill>
                <a:ea typeface="Times New Roman" panose="02020603050405020304" pitchFamily="18" charset="0"/>
                <a:cs typeface="Arial" panose="020B0604020202020204" pitchFamily="34" charset="0"/>
              </a:rPr>
              <a:t>1. If r = ___%pa. under SI. In how many years will the amount become two times?</a:t>
            </a:r>
          </a:p>
          <a:p>
            <a:pPr marR="18415" lvl="0" algn="just" defTabSz="914400">
              <a:lnSpc>
                <a:spcPct val="150000"/>
              </a:lnSpc>
              <a:spcAft>
                <a:spcPts val="600"/>
              </a:spcAft>
            </a:pPr>
            <a:endParaRPr lang="en-US" sz="2800" dirty="0" smtClean="0">
              <a:solidFill>
                <a:prstClr val="black"/>
              </a:solidFill>
              <a:ea typeface="Times New Roman" panose="02020603050405020304" pitchFamily="18" charset="0"/>
              <a:cs typeface="Arial" panose="020B0604020202020204" pitchFamily="34" charset="0"/>
            </a:endParaRPr>
          </a:p>
          <a:p>
            <a:pPr marR="18415" algn="just" defTabSz="914400">
              <a:lnSpc>
                <a:spcPct val="150000"/>
              </a:lnSpc>
              <a:spcAft>
                <a:spcPts val="600"/>
              </a:spcAft>
            </a:pPr>
            <a:r>
              <a:rPr lang="en-US" sz="2800" dirty="0" smtClean="0">
                <a:solidFill>
                  <a:prstClr val="black"/>
                </a:solidFill>
                <a:ea typeface="Times New Roman" panose="02020603050405020304" pitchFamily="18" charset="0"/>
                <a:cs typeface="Arial" panose="020B0604020202020204" pitchFamily="34" charset="0"/>
              </a:rPr>
              <a:t>2. If the amount become ____ times in ___ years. Find r?</a:t>
            </a:r>
          </a:p>
          <a:p>
            <a:pPr marR="18415" algn="just" defTabSz="914400">
              <a:lnSpc>
                <a:spcPct val="150000"/>
              </a:lnSpc>
              <a:spcAft>
                <a:spcPts val="600"/>
              </a:spcAft>
            </a:pPr>
            <a:endParaRPr lang="en-US" sz="2800" dirty="0" smtClean="0">
              <a:solidFill>
                <a:prstClr val="black"/>
              </a:solidFill>
              <a:ea typeface="Times New Roman" panose="02020603050405020304" pitchFamily="18" charset="0"/>
              <a:cs typeface="Arial" panose="020B0604020202020204" pitchFamily="34" charset="0"/>
            </a:endParaRPr>
          </a:p>
          <a:p>
            <a:pPr marR="18415" algn="just" defTabSz="914400">
              <a:lnSpc>
                <a:spcPct val="150000"/>
              </a:lnSpc>
              <a:spcAft>
                <a:spcPts val="600"/>
              </a:spcAft>
            </a:pPr>
            <a:r>
              <a:rPr lang="en-US" sz="2800" dirty="0" smtClean="0">
                <a:solidFill>
                  <a:prstClr val="black"/>
                </a:solidFill>
                <a:ea typeface="Times New Roman" panose="02020603050405020304" pitchFamily="18" charset="0"/>
                <a:cs typeface="Arial" panose="020B0604020202020204" pitchFamily="34" charset="0"/>
              </a:rPr>
              <a:t>3. A certain sum doubles itself in 10 years under SI. In how many years will the sum become eight times itself?</a:t>
            </a:r>
          </a:p>
          <a:p>
            <a:pPr marR="18415" lvl="0" algn="just" defTabSz="914400">
              <a:lnSpc>
                <a:spcPct val="150000"/>
              </a:lnSpc>
              <a:spcAft>
                <a:spcPts val="600"/>
              </a:spcAft>
            </a:pPr>
            <a:endParaRPr lang="en-US" sz="2800" dirty="0" smtClean="0">
              <a:solidFill>
                <a:prstClr val="black"/>
              </a:solidFill>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41756688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CI</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2108269"/>
          </a:xfrm>
          <a:prstGeom prst="rect">
            <a:avLst/>
          </a:prstGeom>
          <a:noFill/>
        </p:spPr>
        <p:txBody>
          <a:bodyPr wrap="square" rtlCol="0">
            <a:spAutoFit/>
          </a:bodyPr>
          <a:lstStyle/>
          <a:p>
            <a:pPr marR="18415" lvl="0" algn="just" defTabSz="914400">
              <a:lnSpc>
                <a:spcPct val="150000"/>
              </a:lnSpc>
              <a:spcAft>
                <a:spcPts val="600"/>
              </a:spcAft>
            </a:pPr>
            <a:r>
              <a:rPr lang="en-US" sz="2800" dirty="0" smtClean="0">
                <a:solidFill>
                  <a:prstClr val="black"/>
                </a:solidFill>
                <a:ea typeface="Times New Roman" panose="02020603050405020304" pitchFamily="18" charset="0"/>
              </a:rPr>
              <a:t>A </a:t>
            </a:r>
            <a:r>
              <a:rPr lang="en-US" sz="2800" dirty="0">
                <a:solidFill>
                  <a:prstClr val="black"/>
                </a:solidFill>
                <a:ea typeface="Times New Roman" panose="02020603050405020304" pitchFamily="18" charset="0"/>
              </a:rPr>
              <a:t>sum of money </a:t>
            </a:r>
            <a:r>
              <a:rPr lang="en-US" sz="2800" dirty="0" smtClean="0">
                <a:solidFill>
                  <a:prstClr val="black"/>
                </a:solidFill>
                <a:ea typeface="Times New Roman" panose="02020603050405020304" pitchFamily="18" charset="0"/>
              </a:rPr>
              <a:t>doubles in </a:t>
            </a:r>
            <a:r>
              <a:rPr lang="en-US" sz="2800" dirty="0">
                <a:solidFill>
                  <a:prstClr val="black"/>
                </a:solidFill>
                <a:ea typeface="Times New Roman" panose="02020603050405020304" pitchFamily="18" charset="0"/>
              </a:rPr>
              <a:t>compound interest in </a:t>
            </a:r>
            <a:r>
              <a:rPr lang="en-US" sz="2800" dirty="0" smtClean="0">
                <a:solidFill>
                  <a:prstClr val="black"/>
                </a:solidFill>
                <a:ea typeface="Times New Roman" panose="02020603050405020304" pitchFamily="18" charset="0"/>
              </a:rPr>
              <a:t>10 </a:t>
            </a:r>
            <a:r>
              <a:rPr lang="en-US" sz="2800" dirty="0">
                <a:solidFill>
                  <a:prstClr val="black"/>
                </a:solidFill>
                <a:ea typeface="Times New Roman" panose="02020603050405020304" pitchFamily="18" charset="0"/>
              </a:rPr>
              <a:t>years. In how many years will it become </a:t>
            </a:r>
            <a:r>
              <a:rPr lang="en-US" sz="2800" dirty="0" smtClean="0">
                <a:solidFill>
                  <a:prstClr val="black"/>
                </a:solidFill>
                <a:ea typeface="Times New Roman" panose="02020603050405020304" pitchFamily="18" charset="0"/>
              </a:rPr>
              <a:t>8 </a:t>
            </a:r>
            <a:r>
              <a:rPr lang="en-US" sz="2800" dirty="0">
                <a:solidFill>
                  <a:prstClr val="black"/>
                </a:solidFill>
                <a:ea typeface="Times New Roman" panose="02020603050405020304" pitchFamily="18" charset="0"/>
              </a:rPr>
              <a:t>times itself</a:t>
            </a:r>
            <a:r>
              <a:rPr lang="en-US" sz="2800" dirty="0" smtClean="0">
                <a:solidFill>
                  <a:prstClr val="black"/>
                </a:solidFill>
                <a:ea typeface="Times New Roman" panose="02020603050405020304" pitchFamily="18" charset="0"/>
              </a:rPr>
              <a:t>?</a:t>
            </a:r>
          </a:p>
          <a:p>
            <a:pPr marR="18415" lvl="0" algn="just" defTabSz="914400">
              <a:lnSpc>
                <a:spcPct val="150000"/>
              </a:lnSpc>
              <a:spcAft>
                <a:spcPts val="600"/>
              </a:spcAft>
            </a:pPr>
            <a:endParaRPr lang="en-US" sz="2800" dirty="0">
              <a:solidFill>
                <a:prstClr val="black"/>
              </a:solidFill>
              <a:ea typeface="Times New Roman" panose="02020603050405020304" pitchFamily="18" charset="0"/>
            </a:endParaRPr>
          </a:p>
        </p:txBody>
      </p:sp>
    </p:spTree>
    <p:extLst>
      <p:ext uri="{BB962C8B-B14F-4D97-AF65-F5344CB8AC3E}">
        <p14:creationId xmlns:p14="http://schemas.microsoft.com/office/powerpoint/2010/main" val="417566886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1318181"/>
          </a:xfrm>
          <a:prstGeom prst="rect">
            <a:avLst/>
          </a:prstGeom>
          <a:noFill/>
        </p:spPr>
        <p:txBody>
          <a:bodyPr wrap="square" rtlCol="0">
            <a:spAutoFit/>
          </a:bodyPr>
          <a:lstStyle/>
          <a:p>
            <a:pPr marR="18415" lvl="0" algn="just" defTabSz="914400">
              <a:lnSpc>
                <a:spcPct val="150000"/>
              </a:lnSpc>
              <a:spcAft>
                <a:spcPts val="600"/>
              </a:spcAft>
            </a:pPr>
            <a:r>
              <a:rPr lang="en-US" sz="2800" dirty="0">
                <a:solidFill>
                  <a:prstClr val="black"/>
                </a:solidFill>
                <a:ea typeface="Times New Roman" panose="02020603050405020304" pitchFamily="18" charset="0"/>
                <a:cs typeface="Arial" panose="020B0604020202020204" pitchFamily="34" charset="0"/>
              </a:rPr>
              <a:t>Ram has given </a:t>
            </a:r>
            <a:r>
              <a:rPr lang="en-US" sz="2800" dirty="0" err="1">
                <a:solidFill>
                  <a:prstClr val="black"/>
                </a:solidFill>
                <a:ea typeface="Times New Roman" panose="02020603050405020304" pitchFamily="18" charset="0"/>
                <a:cs typeface="Arial" panose="020B0604020202020204" pitchFamily="34" charset="0"/>
              </a:rPr>
              <a:t>Rs</a:t>
            </a:r>
            <a:r>
              <a:rPr lang="en-US" sz="2800" dirty="0">
                <a:solidFill>
                  <a:prstClr val="black"/>
                </a:solidFill>
                <a:ea typeface="Times New Roman" panose="02020603050405020304" pitchFamily="18" charset="0"/>
                <a:cs typeface="Arial" panose="020B0604020202020204" pitchFamily="34" charset="0"/>
              </a:rPr>
              <a:t>. 8000 to Mohan for 3 years and </a:t>
            </a:r>
            <a:r>
              <a:rPr lang="en-US" sz="2800" dirty="0" err="1">
                <a:solidFill>
                  <a:prstClr val="black"/>
                </a:solidFill>
                <a:ea typeface="Times New Roman" panose="02020603050405020304" pitchFamily="18" charset="0"/>
                <a:cs typeface="Arial" panose="020B0604020202020204" pitchFamily="34" charset="0"/>
              </a:rPr>
              <a:t>Rs</a:t>
            </a:r>
            <a:r>
              <a:rPr lang="en-US" sz="2800" dirty="0">
                <a:solidFill>
                  <a:prstClr val="black"/>
                </a:solidFill>
                <a:ea typeface="Times New Roman" panose="02020603050405020304" pitchFamily="18" charset="0"/>
                <a:cs typeface="Arial" panose="020B0604020202020204" pitchFamily="34" charset="0"/>
              </a:rPr>
              <a:t>. 12000 to Ravi for 2 years at the same rate of simple interest and got </a:t>
            </a:r>
            <a:r>
              <a:rPr lang="en-US" sz="2800" dirty="0" err="1">
                <a:solidFill>
                  <a:prstClr val="black"/>
                </a:solidFill>
                <a:ea typeface="Times New Roman" panose="02020603050405020304" pitchFamily="18" charset="0"/>
                <a:cs typeface="Arial" panose="020B0604020202020204" pitchFamily="34" charset="0"/>
              </a:rPr>
              <a:t>Rs</a:t>
            </a:r>
            <a:r>
              <a:rPr lang="en-US" sz="2800" dirty="0">
                <a:solidFill>
                  <a:prstClr val="black"/>
                </a:solidFill>
                <a:ea typeface="Times New Roman" panose="02020603050405020304" pitchFamily="18" charset="0"/>
                <a:cs typeface="Arial" panose="020B0604020202020204" pitchFamily="34" charset="0"/>
              </a:rPr>
              <a:t>. 3360 as interest. Find the Rate of interest</a:t>
            </a:r>
            <a:r>
              <a:rPr lang="en-US" sz="2800" dirty="0" smtClean="0">
                <a:solidFill>
                  <a:prstClr val="black"/>
                </a:solidFill>
                <a:ea typeface="Times New Roman" panose="02020603050405020304" pitchFamily="18" charset="0"/>
                <a:cs typeface="Arial" panose="020B0604020202020204" pitchFamily="34" charset="0"/>
              </a:rPr>
              <a:t>.</a:t>
            </a:r>
            <a:endParaRPr lang="en-US" sz="2800" dirty="0">
              <a:solidFill>
                <a:prstClr val="black"/>
              </a:solidFill>
              <a:ea typeface="Times New Roman" panose="02020603050405020304" pitchFamily="18" charset="0"/>
            </a:endParaRPr>
          </a:p>
        </p:txBody>
      </p:sp>
    </p:spTree>
    <p:extLst>
      <p:ext uri="{BB962C8B-B14F-4D97-AF65-F5344CB8AC3E}">
        <p14:creationId xmlns:p14="http://schemas.microsoft.com/office/powerpoint/2010/main" val="383028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1318181"/>
          </a:xfrm>
          <a:prstGeom prst="rect">
            <a:avLst/>
          </a:prstGeom>
          <a:noFill/>
        </p:spPr>
        <p:txBody>
          <a:bodyPr wrap="square" rtlCol="0">
            <a:spAutoFit/>
          </a:bodyPr>
          <a:lstStyle/>
          <a:p>
            <a:pPr marR="18415" lvl="0" algn="just" defTabSz="914400">
              <a:lnSpc>
                <a:spcPct val="150000"/>
              </a:lnSpc>
              <a:spcAft>
                <a:spcPts val="600"/>
              </a:spcAft>
            </a:pPr>
            <a:r>
              <a:rPr lang="en-US" sz="2800" dirty="0" smtClean="0">
                <a:solidFill>
                  <a:prstClr val="black"/>
                </a:solidFill>
                <a:ea typeface="Times New Roman" panose="02020603050405020304" pitchFamily="18" charset="0"/>
                <a:cs typeface="Arial" panose="020B0604020202020204" pitchFamily="34" charset="0"/>
              </a:rPr>
              <a:t>Sunil </a:t>
            </a:r>
            <a:r>
              <a:rPr lang="en-US" sz="2800" dirty="0">
                <a:solidFill>
                  <a:prstClr val="black"/>
                </a:solidFill>
                <a:ea typeface="Times New Roman" panose="02020603050405020304" pitchFamily="18" charset="0"/>
                <a:cs typeface="Arial" panose="020B0604020202020204" pitchFamily="34" charset="0"/>
              </a:rPr>
              <a:t>invests amounts in the ratio 1:2:3:4 in 4 schemes offering interests of 10%, 20%, 30% and 40% respectively. What is his effective rate of interest per annum</a:t>
            </a:r>
            <a:r>
              <a:rPr lang="en-US" sz="2800" dirty="0" smtClean="0">
                <a:solidFill>
                  <a:prstClr val="black"/>
                </a:solidFill>
                <a:ea typeface="Times New Roman" panose="02020603050405020304" pitchFamily="18" charset="0"/>
                <a:cs typeface="Arial" panose="020B0604020202020204" pitchFamily="34" charset="0"/>
              </a:rPr>
              <a:t>?</a:t>
            </a:r>
            <a:endParaRPr lang="en-US" sz="2800" dirty="0">
              <a:solidFill>
                <a:prstClr val="black"/>
              </a:solidFill>
              <a:ea typeface="Times New Roman" panose="02020603050405020304" pitchFamily="18" charset="0"/>
            </a:endParaRPr>
          </a:p>
        </p:txBody>
      </p:sp>
    </p:spTree>
    <p:extLst>
      <p:ext uri="{BB962C8B-B14F-4D97-AF65-F5344CB8AC3E}">
        <p14:creationId xmlns:p14="http://schemas.microsoft.com/office/powerpoint/2010/main" val="3686696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1964512"/>
          </a:xfrm>
          <a:prstGeom prst="rect">
            <a:avLst/>
          </a:prstGeom>
          <a:noFill/>
        </p:spPr>
        <p:txBody>
          <a:bodyPr wrap="square" rtlCol="0">
            <a:spAutoFit/>
          </a:bodyPr>
          <a:lstStyle/>
          <a:p>
            <a:pPr marR="18415" lvl="0" algn="just" defTabSz="914400">
              <a:lnSpc>
                <a:spcPct val="150000"/>
              </a:lnSpc>
              <a:spcAft>
                <a:spcPts val="600"/>
              </a:spcAft>
            </a:pPr>
            <a:r>
              <a:rPr lang="en-US" sz="2800" dirty="0" err="1" smtClean="0">
                <a:solidFill>
                  <a:prstClr val="black"/>
                </a:solidFill>
                <a:ea typeface="Times New Roman" panose="02020603050405020304" pitchFamily="18" charset="0"/>
                <a:cs typeface="Arial" panose="020B0604020202020204" pitchFamily="34" charset="0"/>
              </a:rPr>
              <a:t>Prateek</a:t>
            </a:r>
            <a:r>
              <a:rPr lang="en-US" sz="2800" dirty="0" smtClean="0">
                <a:solidFill>
                  <a:prstClr val="black"/>
                </a:solidFill>
                <a:ea typeface="Times New Roman" panose="02020603050405020304" pitchFamily="18" charset="0"/>
                <a:cs typeface="Arial" panose="020B0604020202020204" pitchFamily="34" charset="0"/>
              </a:rPr>
              <a:t> </a:t>
            </a:r>
            <a:r>
              <a:rPr lang="en-US" sz="2800" dirty="0">
                <a:solidFill>
                  <a:prstClr val="black"/>
                </a:solidFill>
                <a:ea typeface="Times New Roman" panose="02020603050405020304" pitchFamily="18" charset="0"/>
                <a:cs typeface="Arial" panose="020B0604020202020204" pitchFamily="34" charset="0"/>
              </a:rPr>
              <a:t>invested </a:t>
            </a:r>
            <a:r>
              <a:rPr lang="en-US" sz="2800" dirty="0" err="1">
                <a:solidFill>
                  <a:prstClr val="black"/>
                </a:solidFill>
                <a:ea typeface="Times New Roman" panose="02020603050405020304" pitchFamily="18" charset="0"/>
                <a:cs typeface="Arial" panose="020B0604020202020204" pitchFamily="34" charset="0"/>
              </a:rPr>
              <a:t>Rs</a:t>
            </a:r>
            <a:r>
              <a:rPr lang="en-US" sz="2800" dirty="0">
                <a:solidFill>
                  <a:prstClr val="black"/>
                </a:solidFill>
                <a:ea typeface="Times New Roman" panose="02020603050405020304" pitchFamily="18" charset="0"/>
                <a:cs typeface="Arial" panose="020B0604020202020204" pitchFamily="34" charset="0"/>
              </a:rPr>
              <a:t>. 32,000 for 3 years, interest being compounded annually. If the rate of interest is 10%, 12.5% and 16.66% respectively for 1</a:t>
            </a:r>
            <a:r>
              <a:rPr lang="en-US" sz="2800" baseline="30000" dirty="0">
                <a:solidFill>
                  <a:prstClr val="black"/>
                </a:solidFill>
                <a:ea typeface="Times New Roman" panose="02020603050405020304" pitchFamily="18" charset="0"/>
                <a:cs typeface="Arial" panose="020B0604020202020204" pitchFamily="34" charset="0"/>
              </a:rPr>
              <a:t>st</a:t>
            </a:r>
            <a:r>
              <a:rPr lang="en-US" sz="2800" dirty="0">
                <a:solidFill>
                  <a:prstClr val="black"/>
                </a:solidFill>
                <a:ea typeface="Times New Roman" panose="02020603050405020304" pitchFamily="18" charset="0"/>
                <a:cs typeface="Arial" panose="020B0604020202020204" pitchFamily="34" charset="0"/>
              </a:rPr>
              <a:t>, 2</a:t>
            </a:r>
            <a:r>
              <a:rPr lang="en-US" sz="2800" baseline="30000" dirty="0">
                <a:solidFill>
                  <a:prstClr val="black"/>
                </a:solidFill>
                <a:ea typeface="Times New Roman" panose="02020603050405020304" pitchFamily="18" charset="0"/>
                <a:cs typeface="Arial" panose="020B0604020202020204" pitchFamily="34" charset="0"/>
              </a:rPr>
              <a:t>nd</a:t>
            </a:r>
            <a:r>
              <a:rPr lang="en-US" sz="2800" dirty="0">
                <a:solidFill>
                  <a:prstClr val="black"/>
                </a:solidFill>
                <a:ea typeface="Times New Roman" panose="02020603050405020304" pitchFamily="18" charset="0"/>
                <a:cs typeface="Arial" panose="020B0604020202020204" pitchFamily="34" charset="0"/>
              </a:rPr>
              <a:t> and 3</a:t>
            </a:r>
            <a:r>
              <a:rPr lang="en-US" sz="2800" baseline="30000" dirty="0">
                <a:solidFill>
                  <a:prstClr val="black"/>
                </a:solidFill>
                <a:ea typeface="Times New Roman" panose="02020603050405020304" pitchFamily="18" charset="0"/>
                <a:cs typeface="Arial" panose="020B0604020202020204" pitchFamily="34" charset="0"/>
              </a:rPr>
              <a:t>rd</a:t>
            </a:r>
            <a:r>
              <a:rPr lang="en-US" sz="2800" dirty="0">
                <a:solidFill>
                  <a:prstClr val="black"/>
                </a:solidFill>
                <a:ea typeface="Times New Roman" panose="02020603050405020304" pitchFamily="18" charset="0"/>
                <a:cs typeface="Arial" panose="020B0604020202020204" pitchFamily="34" charset="0"/>
              </a:rPr>
              <a:t> years, then find the interest earned by </a:t>
            </a:r>
            <a:r>
              <a:rPr lang="en-US" sz="2800" dirty="0" err="1">
                <a:solidFill>
                  <a:prstClr val="black"/>
                </a:solidFill>
                <a:ea typeface="Times New Roman" panose="02020603050405020304" pitchFamily="18" charset="0"/>
                <a:cs typeface="Arial" panose="020B0604020202020204" pitchFamily="34" charset="0"/>
              </a:rPr>
              <a:t>Prateek</a:t>
            </a:r>
            <a:r>
              <a:rPr lang="en-US" sz="2800" dirty="0">
                <a:solidFill>
                  <a:prstClr val="black"/>
                </a:solidFill>
                <a:ea typeface="Times New Roman" panose="02020603050405020304" pitchFamily="18" charset="0"/>
                <a:cs typeface="Arial" panose="020B0604020202020204" pitchFamily="34" charset="0"/>
              </a:rPr>
              <a:t>.</a:t>
            </a:r>
            <a:endParaRPr lang="en-US" sz="2800" dirty="0">
              <a:solidFill>
                <a:prstClr val="black"/>
              </a:solidFill>
              <a:ea typeface="Times New Roman" panose="02020603050405020304" pitchFamily="18" charset="0"/>
            </a:endParaRPr>
          </a:p>
        </p:txBody>
      </p:sp>
    </p:spTree>
    <p:extLst>
      <p:ext uri="{BB962C8B-B14F-4D97-AF65-F5344CB8AC3E}">
        <p14:creationId xmlns:p14="http://schemas.microsoft.com/office/powerpoint/2010/main" val="132172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Miscellaneous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4832092"/>
          </a:xfrm>
          <a:prstGeom prst="rect">
            <a:avLst/>
          </a:prstGeom>
          <a:noFill/>
        </p:spPr>
        <p:txBody>
          <a:bodyPr wrap="square" rtlCol="0">
            <a:spAutoFit/>
          </a:bodyPr>
          <a:lstStyle/>
          <a:p>
            <a:pPr lvl="0"/>
            <a:r>
              <a:rPr lang="en-US" sz="2800" dirty="0" smtClean="0"/>
              <a:t>A sum amounts to Rs.64,500 and Rs.75,400 after 2 years and 7 years respectively, at simple interest. What will be the amount at the end of 12 years?</a:t>
            </a:r>
          </a:p>
          <a:p>
            <a:pPr lvl="0"/>
            <a:endParaRPr lang="en-US" sz="2800" dirty="0" smtClean="0"/>
          </a:p>
          <a:p>
            <a:pPr lvl="0"/>
            <a:endParaRPr lang="en-US" sz="2800" dirty="0" smtClean="0"/>
          </a:p>
          <a:p>
            <a:pPr lvl="0"/>
            <a:endParaRPr lang="en-US" sz="2800" dirty="0" smtClean="0"/>
          </a:p>
          <a:p>
            <a:pPr lvl="0"/>
            <a:endParaRPr lang="en-US" sz="2800" dirty="0" smtClean="0"/>
          </a:p>
          <a:p>
            <a:pPr lvl="0"/>
            <a:endParaRPr lang="en-US" sz="2800" dirty="0" smtClean="0"/>
          </a:p>
          <a:p>
            <a:pPr lvl="0"/>
            <a:endParaRPr lang="en-US" sz="2800" dirty="0" smtClean="0"/>
          </a:p>
          <a:p>
            <a:pPr lvl="0"/>
            <a:r>
              <a:rPr lang="en-US" sz="2800" dirty="0" smtClean="0"/>
              <a:t>A man deposited a certain amount in a fixed deposit at r% p.a., interest being compounded annually. If the interests accrued for the fourth and the fifth years are Rs. 17,280 and Rs. 20,736 respectively, what is the total interest accrued for the first three years?</a:t>
            </a:r>
            <a:endParaRPr lang="en-US" sz="2800" dirty="0"/>
          </a:p>
        </p:txBody>
      </p:sp>
    </p:spTree>
    <p:extLst>
      <p:ext uri="{BB962C8B-B14F-4D97-AF65-F5344CB8AC3E}">
        <p14:creationId xmlns:p14="http://schemas.microsoft.com/office/powerpoint/2010/main" val="424450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1964512"/>
          </a:xfrm>
          <a:prstGeom prst="rect">
            <a:avLst/>
          </a:prstGeom>
          <a:noFill/>
        </p:spPr>
        <p:txBody>
          <a:bodyPr wrap="square" rtlCol="0">
            <a:spAutoFit/>
          </a:bodyPr>
          <a:lstStyle/>
          <a:p>
            <a:pPr marR="18415" lvl="0" algn="just" defTabSz="914400">
              <a:lnSpc>
                <a:spcPct val="150000"/>
              </a:lnSpc>
              <a:spcAft>
                <a:spcPts val="600"/>
              </a:spcAft>
            </a:pPr>
            <a:r>
              <a:rPr lang="en-US" sz="2800" dirty="0" smtClean="0"/>
              <a:t>A </a:t>
            </a:r>
            <a:r>
              <a:rPr lang="en-US" sz="2800" dirty="0"/>
              <a:t>certain sum of money invested at compound interest becomes 1.44 times of itself in 2 years. If twice this sum were lent at simple interest at the same rate of interest, in how many years would it double itself?</a:t>
            </a:r>
            <a:endParaRPr lang="en-US" sz="2800" dirty="0">
              <a:solidFill>
                <a:prstClr val="black"/>
              </a:solidFill>
              <a:ea typeface="Times New Roman" panose="02020603050405020304" pitchFamily="18" charset="0"/>
            </a:endParaRPr>
          </a:p>
        </p:txBody>
      </p:sp>
    </p:spTree>
    <p:extLst>
      <p:ext uri="{BB962C8B-B14F-4D97-AF65-F5344CB8AC3E}">
        <p14:creationId xmlns:p14="http://schemas.microsoft.com/office/powerpoint/2010/main" val="18748282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Word Problems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5647700"/>
          </a:xfrm>
          <a:prstGeom prst="rect">
            <a:avLst/>
          </a:prstGeom>
          <a:noFill/>
        </p:spPr>
        <p:txBody>
          <a:bodyPr wrap="square" rtlCol="0">
            <a:spAutoFit/>
          </a:bodyPr>
          <a:lstStyle/>
          <a:p>
            <a:pPr marR="18415" lvl="0" algn="just" defTabSz="914400">
              <a:lnSpc>
                <a:spcPct val="150000"/>
              </a:lnSpc>
              <a:spcAft>
                <a:spcPts val="600"/>
              </a:spcAft>
            </a:pPr>
            <a:r>
              <a:rPr lang="en-US" sz="2800" dirty="0" smtClean="0"/>
              <a:t>A </a:t>
            </a:r>
            <a:r>
              <a:rPr lang="en-US" sz="2800" dirty="0"/>
              <a:t>person has left an amount of </a:t>
            </a:r>
            <a:r>
              <a:rPr lang="en-US" sz="2800" dirty="0" smtClean="0"/>
              <a:t>Rs.2,60,000 </a:t>
            </a:r>
            <a:r>
              <a:rPr lang="en-US" sz="2800" dirty="0"/>
              <a:t>to be divided between his two sons of age 14 years </a:t>
            </a:r>
            <a:r>
              <a:rPr lang="en-US" sz="2800" dirty="0" smtClean="0"/>
              <a:t>and16 </a:t>
            </a:r>
            <a:r>
              <a:rPr lang="en-US" sz="2800" dirty="0"/>
              <a:t>years such that they get equal amounts when each attains 18 years of age. If the amount gets a simple interest of </a:t>
            </a:r>
            <a:r>
              <a:rPr lang="en-US" sz="2800" dirty="0" smtClean="0"/>
              <a:t>10% </a:t>
            </a:r>
            <a:r>
              <a:rPr lang="en-US" sz="2800" dirty="0"/>
              <a:t>per annum, then find the share of </a:t>
            </a:r>
            <a:r>
              <a:rPr lang="en-US" sz="2800" dirty="0" smtClean="0"/>
              <a:t>elder </a:t>
            </a:r>
            <a:r>
              <a:rPr lang="en-US" sz="2800" dirty="0"/>
              <a:t>son</a:t>
            </a:r>
            <a:r>
              <a:rPr lang="en-US" sz="2800" dirty="0" smtClean="0"/>
              <a:t>.</a:t>
            </a:r>
          </a:p>
          <a:p>
            <a:pPr marL="514350" marR="18415" lvl="0" indent="-514350" algn="just" defTabSz="914400">
              <a:lnSpc>
                <a:spcPct val="150000"/>
              </a:lnSpc>
              <a:spcAft>
                <a:spcPts val="600"/>
              </a:spcAft>
              <a:buAutoNum type="alphaLcPeriod"/>
            </a:pPr>
            <a:r>
              <a:rPr lang="en-US" sz="2800" dirty="0" smtClean="0">
                <a:solidFill>
                  <a:prstClr val="black"/>
                </a:solidFill>
                <a:ea typeface="Times New Roman" panose="02020603050405020304" pitchFamily="18" charset="0"/>
              </a:rPr>
              <a:t>1,20,000</a:t>
            </a:r>
          </a:p>
          <a:p>
            <a:pPr marL="514350" marR="18415" indent="-514350" algn="just" defTabSz="914400">
              <a:lnSpc>
                <a:spcPct val="150000"/>
              </a:lnSpc>
              <a:spcAft>
                <a:spcPts val="600"/>
              </a:spcAft>
              <a:buFontTx/>
              <a:buAutoNum type="alphaLcPeriod"/>
            </a:pPr>
            <a:r>
              <a:rPr lang="en-US" sz="2800" dirty="0" smtClean="0">
                <a:solidFill>
                  <a:prstClr val="black"/>
                </a:solidFill>
                <a:ea typeface="Times New Roman" panose="02020603050405020304" pitchFamily="18" charset="0"/>
              </a:rPr>
              <a:t>1,30,000</a:t>
            </a:r>
            <a:endParaRPr lang="en-US" sz="2800" dirty="0">
              <a:solidFill>
                <a:prstClr val="black"/>
              </a:solidFill>
              <a:ea typeface="Times New Roman" panose="02020603050405020304" pitchFamily="18" charset="0"/>
            </a:endParaRPr>
          </a:p>
          <a:p>
            <a:pPr marL="514350" marR="18415" indent="-514350" algn="just" defTabSz="914400">
              <a:lnSpc>
                <a:spcPct val="150000"/>
              </a:lnSpc>
              <a:spcAft>
                <a:spcPts val="600"/>
              </a:spcAft>
              <a:buFontTx/>
              <a:buAutoNum type="alphaLcPeriod"/>
            </a:pPr>
            <a:r>
              <a:rPr lang="en-US" sz="2800" dirty="0" smtClean="0">
                <a:solidFill>
                  <a:prstClr val="black"/>
                </a:solidFill>
                <a:ea typeface="Times New Roman" panose="02020603050405020304" pitchFamily="18" charset="0"/>
              </a:rPr>
              <a:t>1,40,000</a:t>
            </a:r>
            <a:endParaRPr lang="en-US" sz="2800" dirty="0">
              <a:solidFill>
                <a:prstClr val="black"/>
              </a:solidFill>
              <a:ea typeface="Times New Roman" panose="02020603050405020304" pitchFamily="18" charset="0"/>
            </a:endParaRPr>
          </a:p>
          <a:p>
            <a:pPr marL="514350" marR="18415" indent="-514350" algn="just" defTabSz="914400">
              <a:lnSpc>
                <a:spcPct val="150000"/>
              </a:lnSpc>
              <a:spcAft>
                <a:spcPts val="600"/>
              </a:spcAft>
              <a:buFontTx/>
              <a:buAutoNum type="alphaLcPeriod"/>
            </a:pPr>
            <a:r>
              <a:rPr lang="en-US" sz="2800" dirty="0" smtClean="0">
                <a:solidFill>
                  <a:prstClr val="black"/>
                </a:solidFill>
                <a:ea typeface="Times New Roman" panose="02020603050405020304" pitchFamily="18" charset="0"/>
              </a:rPr>
              <a:t>None of the above</a:t>
            </a:r>
            <a:endParaRPr lang="en-US" sz="2800" dirty="0">
              <a:solidFill>
                <a:prstClr val="black"/>
              </a:solidFill>
              <a:ea typeface="Times New Roman" panose="02020603050405020304" pitchFamily="18" charset="0"/>
            </a:endParaRPr>
          </a:p>
          <a:p>
            <a:pPr marL="514350" marR="18415" lvl="0" indent="-514350" algn="just" defTabSz="914400">
              <a:lnSpc>
                <a:spcPct val="150000"/>
              </a:lnSpc>
              <a:spcAft>
                <a:spcPts val="600"/>
              </a:spcAft>
              <a:buAutoNum type="alphaLcPeriod"/>
            </a:pPr>
            <a:endParaRPr lang="en-US" sz="2800" dirty="0" smtClean="0">
              <a:solidFill>
                <a:prstClr val="black"/>
              </a:solidFill>
              <a:ea typeface="Times New Roman" panose="02020603050405020304" pitchFamily="18" charset="0"/>
            </a:endParaRPr>
          </a:p>
        </p:txBody>
      </p:sp>
    </p:spTree>
    <p:extLst>
      <p:ext uri="{BB962C8B-B14F-4D97-AF65-F5344CB8AC3E}">
        <p14:creationId xmlns:p14="http://schemas.microsoft.com/office/powerpoint/2010/main" val="12257881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Compounding : k times in an year</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5801588"/>
          </a:xfrm>
          <a:prstGeom prst="rect">
            <a:avLst/>
          </a:prstGeom>
          <a:noFill/>
        </p:spPr>
        <p:txBody>
          <a:bodyPr wrap="square" rtlCol="0">
            <a:spAutoFit/>
          </a:bodyPr>
          <a:lstStyle/>
          <a:p>
            <a:pPr marR="18415" lvl="0" algn="just" defTabSz="914400">
              <a:lnSpc>
                <a:spcPct val="150000"/>
              </a:lnSpc>
              <a:spcAft>
                <a:spcPts val="600"/>
              </a:spcAft>
            </a:pPr>
            <a:r>
              <a:rPr lang="en-US" sz="2800" dirty="0" smtClean="0">
                <a:solidFill>
                  <a:prstClr val="black"/>
                </a:solidFill>
                <a:ea typeface="Times New Roman" panose="02020603050405020304" pitchFamily="18" charset="0"/>
              </a:rPr>
              <a:t>Find </a:t>
            </a:r>
            <a:r>
              <a:rPr lang="en-US" sz="2800" dirty="0">
                <a:solidFill>
                  <a:prstClr val="black"/>
                </a:solidFill>
                <a:ea typeface="Times New Roman" panose="02020603050405020304" pitchFamily="18" charset="0"/>
              </a:rPr>
              <a:t>the </a:t>
            </a:r>
            <a:r>
              <a:rPr lang="en-US" sz="2800" dirty="0" smtClean="0">
                <a:solidFill>
                  <a:prstClr val="black"/>
                </a:solidFill>
                <a:ea typeface="Times New Roman" panose="02020603050405020304" pitchFamily="18" charset="0"/>
              </a:rPr>
              <a:t>Interest </a:t>
            </a:r>
            <a:r>
              <a:rPr lang="en-US" sz="2800" dirty="0">
                <a:solidFill>
                  <a:prstClr val="black"/>
                </a:solidFill>
                <a:ea typeface="Times New Roman" panose="02020603050405020304" pitchFamily="18" charset="0"/>
              </a:rPr>
              <a:t>on </a:t>
            </a:r>
            <a:r>
              <a:rPr lang="en-US" sz="2800" dirty="0" err="1">
                <a:solidFill>
                  <a:prstClr val="black"/>
                </a:solidFill>
                <a:ea typeface="Times New Roman" panose="02020603050405020304" pitchFamily="18" charset="0"/>
              </a:rPr>
              <a:t>Rs</a:t>
            </a:r>
            <a:r>
              <a:rPr lang="en-US" sz="2800" dirty="0">
                <a:solidFill>
                  <a:prstClr val="black"/>
                </a:solidFill>
                <a:ea typeface="Times New Roman" panose="02020603050405020304" pitchFamily="18" charset="0"/>
              </a:rPr>
              <a:t>. </a:t>
            </a:r>
            <a:r>
              <a:rPr lang="en-US" sz="2800" dirty="0" smtClean="0">
                <a:solidFill>
                  <a:prstClr val="black"/>
                </a:solidFill>
                <a:ea typeface="Times New Roman" panose="02020603050405020304" pitchFamily="18" charset="0"/>
              </a:rPr>
              <a:t>10000 </a:t>
            </a:r>
            <a:r>
              <a:rPr lang="en-US" sz="2800" dirty="0">
                <a:solidFill>
                  <a:prstClr val="black"/>
                </a:solidFill>
                <a:ea typeface="Times New Roman" panose="02020603050405020304" pitchFamily="18" charset="0"/>
              </a:rPr>
              <a:t>for one year at 40</a:t>
            </a:r>
            <a:r>
              <a:rPr lang="en-US" sz="2800" dirty="0" smtClean="0">
                <a:solidFill>
                  <a:prstClr val="black"/>
                </a:solidFill>
                <a:ea typeface="Times New Roman" panose="02020603050405020304" pitchFamily="18" charset="0"/>
              </a:rPr>
              <a:t>% p.a. compounded annually</a:t>
            </a:r>
          </a:p>
          <a:p>
            <a:pPr marR="18415" lvl="0" algn="just" defTabSz="914400">
              <a:lnSpc>
                <a:spcPct val="150000"/>
              </a:lnSpc>
              <a:spcAft>
                <a:spcPts val="600"/>
              </a:spcAft>
            </a:pPr>
            <a:endParaRPr lang="en-US" sz="2800" dirty="0">
              <a:solidFill>
                <a:prstClr val="black"/>
              </a:solidFill>
              <a:ea typeface="Times New Roman" panose="02020603050405020304" pitchFamily="18" charset="0"/>
            </a:endParaRPr>
          </a:p>
          <a:p>
            <a:pPr marR="18415" lvl="0" algn="just" defTabSz="914400">
              <a:lnSpc>
                <a:spcPct val="150000"/>
              </a:lnSpc>
              <a:spcAft>
                <a:spcPts val="600"/>
              </a:spcAft>
            </a:pPr>
            <a:endParaRPr lang="en-US" sz="2800" dirty="0" smtClean="0">
              <a:solidFill>
                <a:prstClr val="black"/>
              </a:solidFill>
              <a:ea typeface="Times New Roman" panose="02020603050405020304" pitchFamily="18" charset="0"/>
            </a:endParaRPr>
          </a:p>
          <a:p>
            <a:pPr marR="18415" lvl="0" algn="just" defTabSz="914400">
              <a:lnSpc>
                <a:spcPct val="150000"/>
              </a:lnSpc>
              <a:spcAft>
                <a:spcPts val="600"/>
              </a:spcAft>
            </a:pPr>
            <a:r>
              <a:rPr lang="en-US" sz="2800" dirty="0" smtClean="0">
                <a:solidFill>
                  <a:prstClr val="black"/>
                </a:solidFill>
                <a:ea typeface="Times New Roman" panose="02020603050405020304" pitchFamily="18" charset="0"/>
              </a:rPr>
              <a:t>Find </a:t>
            </a:r>
            <a:r>
              <a:rPr lang="en-US" sz="2800" dirty="0">
                <a:solidFill>
                  <a:prstClr val="black"/>
                </a:solidFill>
                <a:ea typeface="Times New Roman" panose="02020603050405020304" pitchFamily="18" charset="0"/>
              </a:rPr>
              <a:t>the Interest on </a:t>
            </a:r>
            <a:r>
              <a:rPr lang="en-US" sz="2800" dirty="0" err="1">
                <a:solidFill>
                  <a:prstClr val="black"/>
                </a:solidFill>
                <a:ea typeface="Times New Roman" panose="02020603050405020304" pitchFamily="18" charset="0"/>
              </a:rPr>
              <a:t>Rs</a:t>
            </a:r>
            <a:r>
              <a:rPr lang="en-US" sz="2800" dirty="0">
                <a:solidFill>
                  <a:prstClr val="black"/>
                </a:solidFill>
                <a:ea typeface="Times New Roman" panose="02020603050405020304" pitchFamily="18" charset="0"/>
              </a:rPr>
              <a:t>. 10000 for one year at 40% </a:t>
            </a:r>
            <a:r>
              <a:rPr lang="en-US" sz="2800" dirty="0" smtClean="0">
                <a:solidFill>
                  <a:prstClr val="black"/>
                </a:solidFill>
                <a:ea typeface="Times New Roman" panose="02020603050405020304" pitchFamily="18" charset="0"/>
              </a:rPr>
              <a:t>p.a. </a:t>
            </a:r>
            <a:r>
              <a:rPr lang="en-US" sz="2800" dirty="0">
                <a:solidFill>
                  <a:prstClr val="black"/>
                </a:solidFill>
                <a:ea typeface="Times New Roman" panose="02020603050405020304" pitchFamily="18" charset="0"/>
              </a:rPr>
              <a:t>compounded Half yearly 	</a:t>
            </a:r>
          </a:p>
          <a:p>
            <a:pPr marR="18415" algn="just" defTabSz="914400">
              <a:lnSpc>
                <a:spcPct val="150000"/>
              </a:lnSpc>
              <a:spcAft>
                <a:spcPts val="600"/>
              </a:spcAft>
            </a:pPr>
            <a:endParaRPr lang="en-US" sz="2800" dirty="0" smtClean="0">
              <a:solidFill>
                <a:prstClr val="black"/>
              </a:solidFill>
              <a:ea typeface="Times New Roman" panose="02020603050405020304" pitchFamily="18" charset="0"/>
            </a:endParaRPr>
          </a:p>
          <a:p>
            <a:pPr marR="18415" algn="just" defTabSz="914400">
              <a:lnSpc>
                <a:spcPct val="150000"/>
              </a:lnSpc>
              <a:spcAft>
                <a:spcPts val="600"/>
              </a:spcAft>
            </a:pPr>
            <a:endParaRPr lang="en-US" sz="2800" dirty="0" smtClean="0">
              <a:solidFill>
                <a:prstClr val="black"/>
              </a:solidFill>
              <a:ea typeface="Times New Roman" panose="02020603050405020304" pitchFamily="18" charset="0"/>
            </a:endParaRPr>
          </a:p>
          <a:p>
            <a:pPr marR="18415" algn="just" defTabSz="914400">
              <a:lnSpc>
                <a:spcPct val="150000"/>
              </a:lnSpc>
              <a:spcAft>
                <a:spcPts val="600"/>
              </a:spcAft>
            </a:pPr>
            <a:r>
              <a:rPr lang="en-US" sz="2800" dirty="0" smtClean="0">
                <a:solidFill>
                  <a:prstClr val="black"/>
                </a:solidFill>
                <a:ea typeface="Times New Roman" panose="02020603050405020304" pitchFamily="18" charset="0"/>
              </a:rPr>
              <a:t>Find </a:t>
            </a:r>
            <a:r>
              <a:rPr lang="en-US" sz="2800" dirty="0">
                <a:solidFill>
                  <a:prstClr val="black"/>
                </a:solidFill>
                <a:ea typeface="Times New Roman" panose="02020603050405020304" pitchFamily="18" charset="0"/>
              </a:rPr>
              <a:t>the Interest on </a:t>
            </a:r>
            <a:r>
              <a:rPr lang="en-US" sz="2800" dirty="0" err="1">
                <a:solidFill>
                  <a:prstClr val="black"/>
                </a:solidFill>
                <a:ea typeface="Times New Roman" panose="02020603050405020304" pitchFamily="18" charset="0"/>
              </a:rPr>
              <a:t>Rs</a:t>
            </a:r>
            <a:r>
              <a:rPr lang="en-US" sz="2800" dirty="0">
                <a:solidFill>
                  <a:prstClr val="black"/>
                </a:solidFill>
                <a:ea typeface="Times New Roman" panose="02020603050405020304" pitchFamily="18" charset="0"/>
              </a:rPr>
              <a:t>. 10000 for one year at 40% </a:t>
            </a:r>
            <a:r>
              <a:rPr lang="en-US" sz="2800" dirty="0" smtClean="0">
                <a:solidFill>
                  <a:prstClr val="black"/>
                </a:solidFill>
                <a:ea typeface="Times New Roman" panose="02020603050405020304" pitchFamily="18" charset="0"/>
              </a:rPr>
              <a:t>p.a. </a:t>
            </a:r>
            <a:r>
              <a:rPr lang="en-US" sz="2800" dirty="0">
                <a:solidFill>
                  <a:prstClr val="black"/>
                </a:solidFill>
                <a:ea typeface="Times New Roman" panose="02020603050405020304" pitchFamily="18" charset="0"/>
              </a:rPr>
              <a:t>compounded </a:t>
            </a:r>
            <a:r>
              <a:rPr lang="en-US" sz="2800" dirty="0" smtClean="0">
                <a:solidFill>
                  <a:prstClr val="black"/>
                </a:solidFill>
                <a:ea typeface="Times New Roman" panose="02020603050405020304" pitchFamily="18" charset="0"/>
              </a:rPr>
              <a:t>Quarterly </a:t>
            </a:r>
            <a:r>
              <a:rPr lang="en-US" sz="2800" dirty="0">
                <a:solidFill>
                  <a:prstClr val="black"/>
                </a:solidFill>
                <a:ea typeface="Times New Roman" panose="02020603050405020304" pitchFamily="18" charset="0"/>
              </a:rPr>
              <a:t>	</a:t>
            </a:r>
          </a:p>
          <a:p>
            <a:pPr marR="18415" lvl="0" algn="just" defTabSz="914400">
              <a:lnSpc>
                <a:spcPct val="150000"/>
              </a:lnSpc>
              <a:spcAft>
                <a:spcPts val="600"/>
              </a:spcAft>
            </a:pPr>
            <a:endParaRPr lang="en-US" sz="2800" dirty="0">
              <a:solidFill>
                <a:prstClr val="black"/>
              </a:solidFill>
              <a:ea typeface="Times New Roman" panose="02020603050405020304" pitchFamily="18" charset="0"/>
            </a:endParaRPr>
          </a:p>
        </p:txBody>
      </p:sp>
    </p:spTree>
    <p:extLst>
      <p:ext uri="{BB962C8B-B14F-4D97-AF65-F5344CB8AC3E}">
        <p14:creationId xmlns:p14="http://schemas.microsoft.com/office/powerpoint/2010/main" val="362198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Compounding : k times in an year</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1318181"/>
          </a:xfrm>
          <a:prstGeom prst="rect">
            <a:avLst/>
          </a:prstGeom>
          <a:noFill/>
        </p:spPr>
        <p:txBody>
          <a:bodyPr wrap="square" rtlCol="0">
            <a:spAutoFit/>
          </a:bodyPr>
          <a:lstStyle/>
          <a:p>
            <a:pPr marL="648081" indent="-648081" algn="just">
              <a:lnSpc>
                <a:spcPct val="150000"/>
              </a:lnSpc>
            </a:pPr>
            <a:r>
              <a:rPr lang="en-US" sz="2800" dirty="0" smtClean="0">
                <a:latin typeface="+mj-lt"/>
                <a:cs typeface="Arial" panose="020B0604020202020204" pitchFamily="34" charset="0"/>
              </a:rPr>
              <a:t>Rs. 7000 is invested at 20% compound interest, compounded semi-annually. What will be the amount after 1.5 years?</a:t>
            </a:r>
            <a:endParaRPr lang="en-IN" sz="2800" dirty="0" smtClean="0">
              <a:latin typeface="+mj-lt"/>
              <a:cs typeface="Arial" panose="020B0604020202020204" pitchFamily="34" charset="0"/>
            </a:endParaRPr>
          </a:p>
        </p:txBody>
      </p:sp>
    </p:spTree>
    <p:extLst>
      <p:ext uri="{BB962C8B-B14F-4D97-AF65-F5344CB8AC3E}">
        <p14:creationId xmlns:p14="http://schemas.microsoft.com/office/powerpoint/2010/main" val="362198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Installments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2108269"/>
          </a:xfrm>
          <a:prstGeom prst="rect">
            <a:avLst/>
          </a:prstGeom>
          <a:noFill/>
        </p:spPr>
        <p:txBody>
          <a:bodyPr wrap="square" rtlCol="0">
            <a:spAutoFit/>
          </a:bodyPr>
          <a:lstStyle/>
          <a:p>
            <a:pPr marR="18415" lvl="0" algn="just" defTabSz="914400">
              <a:lnSpc>
                <a:spcPct val="150000"/>
              </a:lnSpc>
              <a:spcAft>
                <a:spcPts val="600"/>
              </a:spcAft>
            </a:pPr>
            <a:r>
              <a:rPr lang="en-US" sz="2800" dirty="0" smtClean="0"/>
              <a:t>A person borrowed </a:t>
            </a:r>
            <a:r>
              <a:rPr lang="en-US" sz="2800" dirty="0" err="1" smtClean="0"/>
              <a:t>Rs</a:t>
            </a:r>
            <a:r>
              <a:rPr lang="en-US" sz="2800" dirty="0" smtClean="0"/>
              <a:t>. 100 @10%p.a. CI and </a:t>
            </a:r>
            <a:r>
              <a:rPr lang="en-US" sz="2800" dirty="0" err="1" smtClean="0"/>
              <a:t>repayed</a:t>
            </a:r>
            <a:r>
              <a:rPr lang="en-US" sz="2800" dirty="0" smtClean="0"/>
              <a:t> </a:t>
            </a:r>
            <a:r>
              <a:rPr lang="en-US" sz="2800" dirty="0" err="1" smtClean="0"/>
              <a:t>Rs</a:t>
            </a:r>
            <a:r>
              <a:rPr lang="en-US" sz="2800" dirty="0" smtClean="0"/>
              <a:t>. 50 at the end of first year. If he repays the entire loan at the end of two years. Find the value of 2</a:t>
            </a:r>
            <a:r>
              <a:rPr lang="en-US" sz="2800" baseline="30000" dirty="0" smtClean="0"/>
              <a:t>nd</a:t>
            </a:r>
            <a:r>
              <a:rPr lang="en-US" sz="2800" dirty="0" smtClean="0"/>
              <a:t> Installment.</a:t>
            </a:r>
            <a:endParaRPr lang="en-US" sz="2800" dirty="0"/>
          </a:p>
          <a:p>
            <a:pPr marR="18415" lvl="0" algn="just" defTabSz="914400">
              <a:lnSpc>
                <a:spcPct val="150000"/>
              </a:lnSpc>
              <a:spcAft>
                <a:spcPts val="600"/>
              </a:spcAft>
            </a:pPr>
            <a:endParaRPr lang="en-US" sz="2800" dirty="0" smtClean="0"/>
          </a:p>
        </p:txBody>
      </p:sp>
    </p:spTree>
    <p:extLst>
      <p:ext uri="{BB962C8B-B14F-4D97-AF65-F5344CB8AC3E}">
        <p14:creationId xmlns:p14="http://schemas.microsoft.com/office/powerpoint/2010/main" val="968321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Installments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2108269"/>
          </a:xfrm>
          <a:prstGeom prst="rect">
            <a:avLst/>
          </a:prstGeom>
          <a:noFill/>
        </p:spPr>
        <p:txBody>
          <a:bodyPr wrap="square" rtlCol="0">
            <a:spAutoFit/>
          </a:bodyPr>
          <a:lstStyle/>
          <a:p>
            <a:pPr marR="18415" algn="just" defTabSz="914400">
              <a:lnSpc>
                <a:spcPct val="150000"/>
              </a:lnSpc>
              <a:spcAft>
                <a:spcPts val="600"/>
              </a:spcAft>
            </a:pPr>
            <a:r>
              <a:rPr lang="en-US" sz="2800" dirty="0" smtClean="0"/>
              <a:t>A </a:t>
            </a:r>
            <a:r>
              <a:rPr lang="en-US" sz="2800" dirty="0"/>
              <a:t>person borrowed Rs. 100 @10%p.a. </a:t>
            </a:r>
            <a:r>
              <a:rPr lang="en-US" sz="2800" dirty="0" smtClean="0"/>
              <a:t>CI </a:t>
            </a:r>
            <a:r>
              <a:rPr lang="en-US" sz="2800" dirty="0"/>
              <a:t>and </a:t>
            </a:r>
            <a:r>
              <a:rPr lang="en-US" sz="2800" dirty="0" smtClean="0"/>
              <a:t>promised to repay in 2 equal annual installments. Find </a:t>
            </a:r>
            <a:r>
              <a:rPr lang="en-US" sz="2800" dirty="0"/>
              <a:t>the value of </a:t>
            </a:r>
            <a:r>
              <a:rPr lang="en-US" sz="2800" dirty="0" smtClean="0"/>
              <a:t>each </a:t>
            </a:r>
            <a:r>
              <a:rPr lang="en-US" sz="2800" dirty="0"/>
              <a:t>Installment.</a:t>
            </a:r>
          </a:p>
          <a:p>
            <a:pPr marR="18415" lvl="0" algn="just" defTabSz="914400">
              <a:lnSpc>
                <a:spcPct val="150000"/>
              </a:lnSpc>
              <a:spcAft>
                <a:spcPts val="600"/>
              </a:spcAft>
            </a:pPr>
            <a:endParaRPr lang="en-US" sz="2800" dirty="0" smtClean="0"/>
          </a:p>
        </p:txBody>
      </p:sp>
    </p:spTree>
    <p:extLst>
      <p:ext uri="{BB962C8B-B14F-4D97-AF65-F5344CB8AC3E}">
        <p14:creationId xmlns:p14="http://schemas.microsoft.com/office/powerpoint/2010/main" val="968321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Installments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3539430"/>
          </a:xfrm>
          <a:prstGeom prst="rect">
            <a:avLst/>
          </a:prstGeom>
          <a:noFill/>
        </p:spPr>
        <p:txBody>
          <a:bodyPr wrap="square" rtlCol="0">
            <a:spAutoFit/>
          </a:bodyPr>
          <a:lstStyle/>
          <a:p>
            <a:pPr lvl="0"/>
            <a:r>
              <a:rPr lang="en-IN" sz="2800" dirty="0" smtClean="0"/>
              <a:t>An amount of </a:t>
            </a:r>
            <a:r>
              <a:rPr lang="en-IN" sz="2800" dirty="0" err="1" smtClean="0"/>
              <a:t>Rs</a:t>
            </a:r>
            <a:r>
              <a:rPr lang="en-IN" sz="2800" dirty="0" smtClean="0"/>
              <a:t>. 2400 is due after 6 years under SI at 10% p.a. Find its present value.</a:t>
            </a:r>
            <a:endParaRPr lang="en-US" sz="2800" dirty="0" smtClean="0"/>
          </a:p>
          <a:p>
            <a:r>
              <a:rPr lang="en-IN" sz="2800" dirty="0" smtClean="0"/>
              <a:t> </a:t>
            </a:r>
          </a:p>
          <a:p>
            <a:endParaRPr lang="en-IN" sz="2800" dirty="0" smtClean="0"/>
          </a:p>
          <a:p>
            <a:endParaRPr lang="en-IN" sz="2800" dirty="0" smtClean="0"/>
          </a:p>
          <a:p>
            <a:endParaRPr lang="en-US" sz="2800" dirty="0" smtClean="0"/>
          </a:p>
          <a:p>
            <a:endParaRPr lang="en-US" sz="2800" dirty="0" smtClean="0"/>
          </a:p>
          <a:p>
            <a:pPr lvl="0"/>
            <a:r>
              <a:rPr lang="en-IN" sz="2800" dirty="0" err="1" smtClean="0"/>
              <a:t>Amar</a:t>
            </a:r>
            <a:r>
              <a:rPr lang="en-IN" sz="2800" dirty="0" smtClean="0"/>
              <a:t> borrows Rs.2100 at the rate of 10% p.a. compounding annually and must repay it by 2 equal </a:t>
            </a:r>
            <a:r>
              <a:rPr lang="en-IN" sz="2800" dirty="0" err="1" smtClean="0"/>
              <a:t>installments</a:t>
            </a:r>
            <a:r>
              <a:rPr lang="en-IN" sz="2800" dirty="0" smtClean="0"/>
              <a:t> in 2 years.</a:t>
            </a:r>
            <a:endParaRPr lang="en-US" sz="2800" dirty="0"/>
          </a:p>
        </p:txBody>
      </p:sp>
    </p:spTree>
    <p:extLst>
      <p:ext uri="{BB962C8B-B14F-4D97-AF65-F5344CB8AC3E}">
        <p14:creationId xmlns:p14="http://schemas.microsoft.com/office/powerpoint/2010/main" val="2198342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Content Placeholder 2"/>
          <p:cNvSpPr>
            <a:spLocks noGrp="1"/>
          </p:cNvSpPr>
          <p:nvPr>
            <p:ph idx="4294967295"/>
          </p:nvPr>
        </p:nvSpPr>
        <p:spPr>
          <a:xfrm>
            <a:off x="3995878" y="2268432"/>
            <a:ext cx="10631023" cy="6805295"/>
          </a:xfrm>
        </p:spPr>
        <p:txBody>
          <a:bodyPr/>
          <a:lstStyle/>
          <a:p>
            <a:pPr eaLnBrk="1" hangingPunct="1"/>
            <a:endParaRPr lang="en-US"/>
          </a:p>
          <a:p>
            <a:pPr eaLnBrk="1" hangingPunct="1"/>
            <a:endParaRPr lang="en-US"/>
          </a:p>
        </p:txBody>
      </p:sp>
      <p:sp>
        <p:nvSpPr>
          <p:cNvPr id="20" name="Title 19"/>
          <p:cNvSpPr txBox="1">
            <a:spLocks noGrp="1"/>
          </p:cNvSpPr>
          <p:nvPr>
            <p:ph type="title" idx="4294967295"/>
          </p:nvPr>
        </p:nvSpPr>
        <p:spPr>
          <a:xfrm>
            <a:off x="258762" y="288925"/>
            <a:ext cx="9677400" cy="846386"/>
          </a:xfrm>
          <a:prstGeom prst="roundRect">
            <a:avLst>
              <a:gd name="adj" fmla="val 0"/>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4900" b="1" dirty="0" smtClean="0">
                <a:solidFill>
                  <a:schemeClr val="tx1">
                    <a:lumMod val="95000"/>
                    <a:lumOff val="5000"/>
                  </a:schemeClr>
                </a:solidFill>
                <a:latin typeface="Baskerville Old Face" panose="02020602080505020303" pitchFamily="18" charset="0"/>
                <a:ea typeface="Cambria" pitchFamily="18" charset="0"/>
              </a:rPr>
              <a:t>Installments</a:t>
            </a:r>
            <a:endParaRPr lang="en-IN" sz="4900" b="1" dirty="0">
              <a:solidFill>
                <a:schemeClr val="tx1">
                  <a:lumMod val="95000"/>
                  <a:lumOff val="5000"/>
                </a:schemeClr>
              </a:solidFill>
              <a:latin typeface="Baskerville Old Face" panose="02020602080505020303" pitchFamily="18" charset="0"/>
              <a:ea typeface="Cambria" pitchFamily="18" charset="0"/>
            </a:endParaRPr>
          </a:p>
        </p:txBody>
      </p:sp>
      <p:cxnSp>
        <p:nvCxnSpPr>
          <p:cNvPr id="21" name="Straight Connector 20"/>
          <p:cNvCxnSpPr/>
          <p:nvPr/>
        </p:nvCxnSpPr>
        <p:spPr>
          <a:xfrm>
            <a:off x="379078" y="1231965"/>
            <a:ext cx="11215858" cy="0"/>
          </a:xfrm>
          <a:prstGeom prst="line">
            <a:avLst/>
          </a:prstGeom>
          <a:ln w="19050"/>
        </p:spPr>
        <p:style>
          <a:lnRef idx="1">
            <a:schemeClr val="dk1"/>
          </a:lnRef>
          <a:fillRef idx="0">
            <a:schemeClr val="dk1"/>
          </a:fillRef>
          <a:effectRef idx="0">
            <a:schemeClr val="dk1"/>
          </a:effectRef>
          <a:fontRef idx="minor">
            <a:schemeClr val="tx1"/>
          </a:fontRef>
        </p:style>
      </p:cxnSp>
      <p:sp>
        <p:nvSpPr>
          <p:cNvPr id="2" name="TextBox 1">
            <a:extLst>
              <a:ext uri="{FF2B5EF4-FFF2-40B4-BE49-F238E27FC236}">
                <a16:creationId xmlns="" xmlns:a16="http://schemas.microsoft.com/office/drawing/2014/main" id="{045BF4F4-4382-4BE8-970C-085C016B810D}"/>
              </a:ext>
            </a:extLst>
          </p:cNvPr>
          <p:cNvSpPr txBox="1"/>
          <p:nvPr/>
        </p:nvSpPr>
        <p:spPr>
          <a:xfrm>
            <a:off x="379078" y="1508125"/>
            <a:ext cx="13519484" cy="1384995"/>
          </a:xfrm>
          <a:prstGeom prst="rect">
            <a:avLst/>
          </a:prstGeom>
          <a:noFill/>
        </p:spPr>
        <p:txBody>
          <a:bodyPr wrap="square" rtlCol="0">
            <a:spAutoFit/>
          </a:bodyPr>
          <a:lstStyle/>
          <a:p>
            <a:pPr lvl="0"/>
            <a:r>
              <a:rPr lang="en-IN" sz="2800" dirty="0" smtClean="0"/>
              <a:t>A motor bike worth Rs.60000 is available on down payment of 20000 and annual </a:t>
            </a:r>
            <a:r>
              <a:rPr lang="en-IN" sz="2800" dirty="0" err="1" smtClean="0"/>
              <a:t>installments</a:t>
            </a:r>
            <a:r>
              <a:rPr lang="en-IN" sz="2800" dirty="0" smtClean="0"/>
              <a:t> for 5 years at simple rate of interest of 10%, find each </a:t>
            </a:r>
            <a:r>
              <a:rPr lang="en-IN" sz="2800" dirty="0" err="1" smtClean="0"/>
              <a:t>installment</a:t>
            </a:r>
            <a:r>
              <a:rPr lang="en-IN" sz="2800" dirty="0" smtClean="0"/>
              <a:t>.</a:t>
            </a:r>
            <a:endParaRPr lang="en-US" sz="2800" dirty="0" smtClean="0"/>
          </a:p>
          <a:p>
            <a:r>
              <a:rPr lang="en-IN" sz="2800" dirty="0" smtClean="0"/>
              <a:t> </a:t>
            </a:r>
          </a:p>
        </p:txBody>
      </p:sp>
    </p:spTree>
    <p:extLst>
      <p:ext uri="{BB962C8B-B14F-4D97-AF65-F5344CB8AC3E}">
        <p14:creationId xmlns:p14="http://schemas.microsoft.com/office/powerpoint/2010/main" val="2198342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Adjacency</Template>
  <TotalTime>10827</TotalTime>
  <Words>939</Words>
  <Application>Microsoft Office PowerPoint</Application>
  <PresentationFormat>Custom</PresentationFormat>
  <Paragraphs>124</Paragraphs>
  <Slides>23</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Arial</vt:lpstr>
      <vt:lpstr>Baskerville Old Face</vt:lpstr>
      <vt:lpstr>Calibri</vt:lpstr>
      <vt:lpstr>Cambria</vt:lpstr>
      <vt:lpstr>Futura New Cond Bold</vt:lpstr>
      <vt:lpstr>HP Simplified</vt:lpstr>
      <vt:lpstr>Times New Roman</vt:lpstr>
      <vt:lpstr>Wingdings</vt:lpstr>
      <vt:lpstr>Office Theme</vt:lpstr>
      <vt:lpstr>PowerPoint Presentation</vt:lpstr>
      <vt:lpstr>PowerPoint Presentation</vt:lpstr>
      <vt:lpstr>Word Problems</vt:lpstr>
      <vt:lpstr>Word Problems</vt:lpstr>
      <vt:lpstr>Word Problems</vt:lpstr>
      <vt:lpstr>Word Problems</vt:lpstr>
      <vt:lpstr>Word Problems</vt:lpstr>
      <vt:lpstr>Word Problems</vt:lpstr>
      <vt:lpstr>SI</vt:lpstr>
      <vt:lpstr>SI</vt:lpstr>
      <vt:lpstr>CI</vt:lpstr>
      <vt:lpstr>Word Problems</vt:lpstr>
      <vt:lpstr>Word Problems</vt:lpstr>
      <vt:lpstr>Word Problems</vt:lpstr>
      <vt:lpstr>Miscellaneous</vt:lpstr>
      <vt:lpstr>Word Problems</vt:lpstr>
      <vt:lpstr>Word Problems</vt:lpstr>
      <vt:lpstr>Compounding : k times in an year</vt:lpstr>
      <vt:lpstr>Compounding : k times in an year</vt:lpstr>
      <vt:lpstr>Installments</vt:lpstr>
      <vt:lpstr>Installments</vt:lpstr>
      <vt:lpstr>Installments</vt:lpstr>
      <vt:lpstr>Installments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IMS</dc:creator>
  <cp:lastModifiedBy>admin</cp:lastModifiedBy>
  <cp:revision>2981</cp:revision>
  <dcterms:created xsi:type="dcterms:W3CDTF">2017-04-25T06:46:30Z</dcterms:created>
  <dcterms:modified xsi:type="dcterms:W3CDTF">2025-05-09T17:03:01Z</dcterms:modified>
</cp:coreProperties>
</file>