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07" r:id="rId2"/>
    <p:sldId id="949" r:id="rId3"/>
    <p:sldId id="966" r:id="rId4"/>
    <p:sldId id="981" r:id="rId5"/>
    <p:sldId id="987" r:id="rId6"/>
    <p:sldId id="984" r:id="rId7"/>
    <p:sldId id="985" r:id="rId8"/>
    <p:sldId id="986" r:id="rId9"/>
    <p:sldId id="967" r:id="rId10"/>
    <p:sldId id="952" r:id="rId11"/>
    <p:sldId id="968" r:id="rId12"/>
    <p:sldId id="969" r:id="rId13"/>
    <p:sldId id="970" r:id="rId14"/>
    <p:sldId id="971" r:id="rId15"/>
    <p:sldId id="972" r:id="rId16"/>
    <p:sldId id="974" r:id="rId17"/>
    <p:sldId id="975" r:id="rId18"/>
    <p:sldId id="976" r:id="rId19"/>
    <p:sldId id="977" r:id="rId20"/>
    <p:sldId id="979" r:id="rId21"/>
    <p:sldId id="978" r:id="rId22"/>
    <p:sldId id="982" r:id="rId23"/>
    <p:sldId id="983" r:id="rId24"/>
    <p:sldId id="953" r:id="rId25"/>
  </p:sldIdLst>
  <p:sldSz cx="17281525" cy="9721850"/>
  <p:notesSz cx="6858000" cy="9144000"/>
  <p:defaultTextStyle>
    <a:defPPr>
      <a:defRPr lang="en-US"/>
    </a:defPPr>
    <a:lvl1pPr marL="0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71525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43050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314575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86100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57625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629150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400675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72200" algn="l" defTabSz="154305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062">
          <p15:clr>
            <a:srgbClr val="A4A3A4"/>
          </p15:clr>
        </p15:guide>
        <p15:guide id="2" pos="544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AFEF"/>
    <a:srgbClr val="ED3237"/>
    <a:srgbClr val="F4F3EC"/>
    <a:srgbClr val="FF3399"/>
    <a:srgbClr val="FFD243"/>
    <a:srgbClr val="FFDF79"/>
    <a:srgbClr val="FFF3C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193" autoAdjust="0"/>
    <p:restoredTop sz="98703" autoAdjust="0"/>
  </p:normalViewPr>
  <p:slideViewPr>
    <p:cSldViewPr>
      <p:cViewPr varScale="1">
        <p:scale>
          <a:sx n="47" d="100"/>
          <a:sy n="47" d="100"/>
        </p:scale>
        <p:origin x="-548" y="-64"/>
      </p:cViewPr>
      <p:guideLst>
        <p:guide orient="horz" pos="3062"/>
        <p:guide pos="544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873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FA46F-CC41-471A-BD49-7840A8499DD0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9FA41-50F0-4D9B-8071-273D457305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9389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2A565-A765-4629-A7CE-380639E4C6EC}" type="datetimeFigureOut">
              <a:rPr lang="en-IN" smtClean="0"/>
              <a:pPr/>
              <a:t>07-05-2025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FB610-2326-4C6C-BF3C-11A8CACD4C9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8300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B610-2326-4C6C-BF3C-11A8CACD4C9B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5715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5E5E1-7984-45C5-BEAA-C85F14689B9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711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3483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IMS Backup\Random Files\Pics\IMS logo_transpar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563" y="45812"/>
            <a:ext cx="1017930" cy="71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58701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IMS Backup\Random Files\Pics\IMS logo_transpar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563" y="45812"/>
            <a:ext cx="1017930" cy="71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2484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54606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154305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Futura New Cond Bold" pitchFamily="34" charset="0"/>
          <a:ea typeface="+mj-ea"/>
          <a:cs typeface="+mj-cs"/>
        </a:defRPr>
      </a:lvl1pPr>
    </p:titleStyle>
    <p:bodyStyle>
      <a:lvl1pPr marL="578644" indent="-578644" algn="l" defTabSz="1543050" rtl="0" eaLnBrk="1" latinLnBrk="0" hangingPunct="1">
        <a:spcBef>
          <a:spcPct val="20000"/>
        </a:spcBef>
        <a:buSzPct val="70000"/>
        <a:buFont typeface="Wingdings" panose="05000000000000000000" pitchFamily="2" charset="2"/>
        <a:buChar char="q"/>
        <a:defRPr sz="4800" kern="1200">
          <a:solidFill>
            <a:schemeClr val="tx1"/>
          </a:solidFill>
          <a:latin typeface="HP Simplified" pitchFamily="34" charset="0"/>
          <a:ea typeface="+mn-ea"/>
          <a:cs typeface="+mn-cs"/>
        </a:defRPr>
      </a:lvl1pPr>
      <a:lvl2pPr marL="1253728" indent="-482203" algn="l" defTabSz="1543050" rtl="0" eaLnBrk="1" latinLnBrk="0" hangingPunct="1">
        <a:spcBef>
          <a:spcPct val="20000"/>
        </a:spcBef>
        <a:buFont typeface="Arial" panose="020B0604020202020204" pitchFamily="34" charset="0"/>
        <a:buChar char="–"/>
        <a:defRPr sz="4400" kern="1200">
          <a:solidFill>
            <a:schemeClr val="tx1"/>
          </a:solidFill>
          <a:latin typeface="HP Simplified" pitchFamily="34" charset="0"/>
          <a:ea typeface="+mn-ea"/>
          <a:cs typeface="+mn-cs"/>
        </a:defRPr>
      </a:lvl2pPr>
      <a:lvl3pPr marL="1928813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HP Simplified" pitchFamily="34" charset="0"/>
          <a:ea typeface="+mn-ea"/>
          <a:cs typeface="+mn-cs"/>
        </a:defRPr>
      </a:lvl3pPr>
      <a:lvl4pPr marL="2700338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HP Simplified" pitchFamily="34" charset="0"/>
          <a:ea typeface="+mn-ea"/>
          <a:cs typeface="+mn-cs"/>
        </a:defRPr>
      </a:lvl4pPr>
      <a:lvl5pPr marL="3471863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»"/>
        <a:defRPr sz="3200" kern="1200">
          <a:solidFill>
            <a:schemeClr val="tx1"/>
          </a:solidFill>
          <a:latin typeface="HP Simplified" pitchFamily="34" charset="0"/>
          <a:ea typeface="+mn-ea"/>
          <a:cs typeface="+mn-cs"/>
        </a:defRPr>
      </a:lvl5pPr>
      <a:lvl6pPr marL="4243388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14913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786438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557963" indent="-385763" algn="l" defTabSz="15430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314575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57625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629150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675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172200" algn="l" defTabSz="154305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9"/>
          <p:cNvSpPr txBox="1">
            <a:spLocks/>
          </p:cNvSpPr>
          <p:nvPr/>
        </p:nvSpPr>
        <p:spPr>
          <a:xfrm>
            <a:off x="1" y="4251325"/>
            <a:ext cx="17281524" cy="1015663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lvl1pPr algn="l" defTabSz="1543050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6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PROFIT &amp; LOSS</a:t>
            </a:r>
            <a:endParaRPr lang="en-US" sz="6000" b="1" dirty="0" smtClean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73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Fraction to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25392" y="1574777"/>
          <a:ext cx="4643470" cy="6500857"/>
        </p:xfrm>
        <a:graphic>
          <a:graphicData uri="http://schemas.openxmlformats.org/drawingml/2006/table">
            <a:tbl>
              <a:tblPr/>
              <a:tblGrid>
                <a:gridCol w="991810"/>
                <a:gridCol w="3651660"/>
              </a:tblGrid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Fraction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Percentage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1/1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1/2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1/3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33.33%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1/4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25%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1/5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20%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1/6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16.66%</a:t>
                      </a:r>
                      <a:endParaRPr lang="en-US" sz="2000" dirty="0"/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1/7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14.28%</a:t>
                      </a:r>
                      <a:endParaRPr lang="en-US" sz="2000" dirty="0"/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1/8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12.5%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1/9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11.11%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987">
                <a:tc>
                  <a:txBody>
                    <a:bodyPr/>
                    <a:lstStyle/>
                    <a:p>
                      <a:r>
                        <a:rPr lang="en-US" sz="2000" b="1" dirty="0"/>
                        <a:t>1/10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640102" y="1646212"/>
          <a:ext cx="4643470" cy="6429423"/>
        </p:xfrm>
        <a:graphic>
          <a:graphicData uri="http://schemas.openxmlformats.org/drawingml/2006/table">
            <a:tbl>
              <a:tblPr/>
              <a:tblGrid>
                <a:gridCol w="1273872"/>
                <a:gridCol w="3369598"/>
              </a:tblGrid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Fraction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Percentage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1/11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9.09%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1/12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8.33%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1/13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7.69%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1/14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7.14%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1/15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6.66%</a:t>
                      </a:r>
                      <a:endParaRPr lang="en-US" sz="2000" dirty="0"/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1/16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6.25%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1/17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5.88%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1/18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5.55%</a:t>
                      </a:r>
                      <a:endParaRPr lang="en-US" sz="2000" dirty="0"/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1/19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5.26%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4493">
                <a:tc>
                  <a:txBody>
                    <a:bodyPr/>
                    <a:lstStyle/>
                    <a:p>
                      <a:r>
                        <a:rPr lang="en-US" sz="2000" b="1" dirty="0"/>
                        <a:t>1/20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5%</a:t>
                      </a:r>
                    </a:p>
                  </a:txBody>
                  <a:tcPr marL="60958" marR="60958" marT="30479" marB="30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Relationship between CP, SP &amp;MP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Basics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2F83C461-9C01-663B-9300-294FFE9488AA}"/>
              </a:ext>
            </a:extLst>
          </p:cNvPr>
          <p:cNvGraphicFramePr>
            <a:graphicFrameLocks/>
          </p:cNvGraphicFramePr>
          <p:nvPr/>
        </p:nvGraphicFramePr>
        <p:xfrm>
          <a:off x="154189" y="1413495"/>
          <a:ext cx="8700886" cy="587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590">
                  <a:extLst>
                    <a:ext uri="{9D8B030D-6E8A-4147-A177-3AD203B41FA5}">
                      <a16:colId xmlns:a16="http://schemas.microsoft.com/office/drawing/2014/main" xmlns="" val="3133925488"/>
                    </a:ext>
                  </a:extLst>
                </a:gridCol>
                <a:gridCol w="2238972">
                  <a:extLst>
                    <a:ext uri="{9D8B030D-6E8A-4147-A177-3AD203B41FA5}">
                      <a16:colId xmlns:a16="http://schemas.microsoft.com/office/drawing/2014/main" xmlns="" val="757065057"/>
                    </a:ext>
                  </a:extLst>
                </a:gridCol>
                <a:gridCol w="2143162">
                  <a:extLst>
                    <a:ext uri="{9D8B030D-6E8A-4147-A177-3AD203B41FA5}">
                      <a16:colId xmlns:a16="http://schemas.microsoft.com/office/drawing/2014/main" xmlns="" val="2481799106"/>
                    </a:ext>
                  </a:extLst>
                </a:gridCol>
                <a:gridCol w="2143162"/>
              </a:tblGrid>
              <a:tr h="979387"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CP (Rs.)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SP (Rs.)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Profit/loss (Rs.)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Profit/loss (%)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3786825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50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60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34253186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80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60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98031505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120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30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8211098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345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15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31993774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500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-35%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48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Basics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2F83C461-9C01-663B-9300-294FFE9488AA}"/>
              </a:ext>
            </a:extLst>
          </p:cNvPr>
          <p:cNvGraphicFramePr>
            <a:graphicFrameLocks/>
          </p:cNvGraphicFramePr>
          <p:nvPr/>
        </p:nvGraphicFramePr>
        <p:xfrm>
          <a:off x="154189" y="1413495"/>
          <a:ext cx="8700887" cy="587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606">
                  <a:extLst>
                    <a:ext uri="{9D8B030D-6E8A-4147-A177-3AD203B41FA5}">
                      <a16:colId xmlns:a16="http://schemas.microsoft.com/office/drawing/2014/main" xmlns="" val="3133925488"/>
                    </a:ext>
                  </a:extLst>
                </a:gridCol>
                <a:gridCol w="2970701">
                  <a:extLst>
                    <a:ext uri="{9D8B030D-6E8A-4147-A177-3AD203B41FA5}">
                      <a16:colId xmlns:a16="http://schemas.microsoft.com/office/drawing/2014/main" xmlns="" val="757065057"/>
                    </a:ext>
                  </a:extLst>
                </a:gridCol>
                <a:gridCol w="2843580">
                  <a:extLst>
                    <a:ext uri="{9D8B030D-6E8A-4147-A177-3AD203B41FA5}">
                      <a16:colId xmlns:a16="http://schemas.microsoft.com/office/drawing/2014/main" xmlns="" val="2481799106"/>
                    </a:ext>
                  </a:extLst>
                </a:gridCol>
              </a:tblGrid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Cost Price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Profit / Loss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Selling Price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3786825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Rs.1200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20 %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34253186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Rs.1800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11.11 %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98031505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Rs.1500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- 33.33 %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8211098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Rs. 770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28.56 %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1993774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Rs. 2400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-16.66 %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48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Basics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2F83C461-9C01-663B-9300-294FFE9488AA}"/>
              </a:ext>
            </a:extLst>
          </p:cNvPr>
          <p:cNvGraphicFramePr>
            <a:graphicFrameLocks/>
          </p:cNvGraphicFramePr>
          <p:nvPr/>
        </p:nvGraphicFramePr>
        <p:xfrm>
          <a:off x="154189" y="1413495"/>
          <a:ext cx="8700887" cy="587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606">
                  <a:extLst>
                    <a:ext uri="{9D8B030D-6E8A-4147-A177-3AD203B41FA5}">
                      <a16:colId xmlns:a16="http://schemas.microsoft.com/office/drawing/2014/main" xmlns="" val="3133925488"/>
                    </a:ext>
                  </a:extLst>
                </a:gridCol>
                <a:gridCol w="2970701">
                  <a:extLst>
                    <a:ext uri="{9D8B030D-6E8A-4147-A177-3AD203B41FA5}">
                      <a16:colId xmlns:a16="http://schemas.microsoft.com/office/drawing/2014/main" xmlns="" val="757065057"/>
                    </a:ext>
                  </a:extLst>
                </a:gridCol>
                <a:gridCol w="2843580">
                  <a:extLst>
                    <a:ext uri="{9D8B030D-6E8A-4147-A177-3AD203B41FA5}">
                      <a16:colId xmlns:a16="http://schemas.microsoft.com/office/drawing/2014/main" xmlns="" val="2481799106"/>
                    </a:ext>
                  </a:extLst>
                </a:gridCol>
              </a:tblGrid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Marked Price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Discount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Selling Price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3786825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Rs.1500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34253186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Rs.1331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9.09 %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98031505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Rs.720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33.33 %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8211098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Rs.770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7.14 %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31993774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Rs.770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14.28 %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48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Basics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2F83C461-9C01-663B-9300-294FFE9488AA}"/>
              </a:ext>
            </a:extLst>
          </p:cNvPr>
          <p:cNvGraphicFramePr>
            <a:graphicFrameLocks/>
          </p:cNvGraphicFramePr>
          <p:nvPr/>
        </p:nvGraphicFramePr>
        <p:xfrm>
          <a:off x="154189" y="1413495"/>
          <a:ext cx="8700887" cy="587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606">
                  <a:extLst>
                    <a:ext uri="{9D8B030D-6E8A-4147-A177-3AD203B41FA5}">
                      <a16:colId xmlns:a16="http://schemas.microsoft.com/office/drawing/2014/main" xmlns="" val="3133925488"/>
                    </a:ext>
                  </a:extLst>
                </a:gridCol>
                <a:gridCol w="2970701">
                  <a:extLst>
                    <a:ext uri="{9D8B030D-6E8A-4147-A177-3AD203B41FA5}">
                      <a16:colId xmlns:a16="http://schemas.microsoft.com/office/drawing/2014/main" xmlns="" val="757065057"/>
                    </a:ext>
                  </a:extLst>
                </a:gridCol>
                <a:gridCol w="2843580">
                  <a:extLst>
                    <a:ext uri="{9D8B030D-6E8A-4147-A177-3AD203B41FA5}">
                      <a16:colId xmlns:a16="http://schemas.microsoft.com/office/drawing/2014/main" xmlns="" val="2481799106"/>
                    </a:ext>
                  </a:extLst>
                </a:gridCol>
              </a:tblGrid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Selling Price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P/L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 Cost Price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3786825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Rs.600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+ 50 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34253186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Rs.800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+ 25 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98031505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 680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+ 33.33 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8211098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Rs.280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+ 40 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31993774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Rs.1100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+ 37.5 </a:t>
                      </a: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48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Basics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2F83C461-9C01-663B-9300-294FFE9488AA}"/>
              </a:ext>
            </a:extLst>
          </p:cNvPr>
          <p:cNvGraphicFramePr>
            <a:graphicFrameLocks/>
          </p:cNvGraphicFramePr>
          <p:nvPr/>
        </p:nvGraphicFramePr>
        <p:xfrm>
          <a:off x="154189" y="1413495"/>
          <a:ext cx="8700887" cy="587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606">
                  <a:extLst>
                    <a:ext uri="{9D8B030D-6E8A-4147-A177-3AD203B41FA5}">
                      <a16:colId xmlns:a16="http://schemas.microsoft.com/office/drawing/2014/main" xmlns="" val="3133925488"/>
                    </a:ext>
                  </a:extLst>
                </a:gridCol>
                <a:gridCol w="2970701">
                  <a:extLst>
                    <a:ext uri="{9D8B030D-6E8A-4147-A177-3AD203B41FA5}">
                      <a16:colId xmlns:a16="http://schemas.microsoft.com/office/drawing/2014/main" xmlns="" val="757065057"/>
                    </a:ext>
                  </a:extLst>
                </a:gridCol>
                <a:gridCol w="2843580">
                  <a:extLst>
                    <a:ext uri="{9D8B030D-6E8A-4147-A177-3AD203B41FA5}">
                      <a16:colId xmlns:a16="http://schemas.microsoft.com/office/drawing/2014/main" xmlns="" val="2481799106"/>
                    </a:ext>
                  </a:extLst>
                </a:gridCol>
              </a:tblGrid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Markup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Discount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Profit/Loss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3786825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50 %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34253186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80 %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30 %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98031505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33.33 %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12.5 %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8211098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37.5 %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18.18 %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19937747"/>
                  </a:ext>
                </a:extLst>
              </a:tr>
              <a:tr h="9793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18.18 %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40 %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48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Finding Profit/Loss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093001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Selling Price of 5 Articles is equal to cost price of 6 articles. Find profit/ loss percentage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Finding Profit/Loss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093001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SP: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CP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 6 : 7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CP:SP =  2 : 3 </a:t>
            </a: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Profit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:CP =  3 : 8</a:t>
            </a: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Profit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 SP =  2 : 7</a:t>
            </a: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Finding Profit/Loss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09300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CP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20% lesser than the SP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profit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earned is 20% of the SP</a:t>
            </a: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Finding Profit/Loss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selling 10 articles, a man gets a profit equal to Selling price of 2 articles. Calculate the profit %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selling 10 articles, a man gets a profit equal to Cost price of 2 articles. Calculate the profit %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selling 10 articles, a man suffers a loss equal to Selling price of 2 articles. Calculate the loss %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selling 10 articles, a man suffers a loss equal to Cost price of 2 articles. Calculate the loss %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Finding Profit/Loss Percentage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You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buy</a:t>
            </a:r>
            <a:r>
              <a:rPr lang="en-US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 article at 3 for Rs. 2 and sell at 5 for Rs. 3</a:t>
            </a:r>
            <a:endParaRPr lang="en-IN" sz="2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Ravi buys some toffees at 2 for a rupee and sells them at 5 for two rupees.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boy buys 4 mangoes for Rs. 5 and sells 5 mangoes for Rs. 4.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 smtClean="0"/>
              <a:t>Bantu sells one fourth of his stock of wheat at 10% loss, then find the percentage profit needed on remaining stock so his overall profit is 20%.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alt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alt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alt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alt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en-US" sz="2400" dirty="0" smtClean="0"/>
              <a:t>A shop keeper sold a part of his goods at 60% profit and the rest at 40% loss. On the whole he incurred no profit-no loss. What % of the stock was sold at a profit? </a:t>
            </a: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en-US" sz="2400" dirty="0" smtClean="0"/>
              <a:t>Ram sells half his stock at 20% profit while half of the remaining is lost in transit. At what % should he sell the remaining stock to make a profit of 10% on the whole?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 smtClean="0"/>
              <a:t>A shopkeeper sells 40kg fruits at a loss of 15% and </a:t>
            </a:r>
            <a:r>
              <a:rPr lang="en-US" sz="2400" dirty="0" err="1" smtClean="0"/>
              <a:t>Xkg</a:t>
            </a:r>
            <a:r>
              <a:rPr lang="en-US" sz="2400" dirty="0" smtClean="0"/>
              <a:t> fruits at 20% profit such that he ended up with no profit - no loss. What is the value of X?</a:t>
            </a:r>
          </a:p>
          <a:p>
            <a:pPr>
              <a:spcBef>
                <a:spcPts val="1200"/>
              </a:spcBef>
              <a:defRPr/>
            </a:pPr>
            <a:endParaRPr lang="en-US" sz="2400" dirty="0" smtClean="0"/>
          </a:p>
          <a:p>
            <a:pPr>
              <a:spcBef>
                <a:spcPts val="1200"/>
              </a:spcBef>
            </a:pPr>
            <a:endParaRPr lang="en-US" altLang="en-US" sz="2400" dirty="0" smtClean="0"/>
          </a:p>
          <a:p>
            <a:pPr>
              <a:spcBef>
                <a:spcPts val="1200"/>
              </a:spcBef>
            </a:pPr>
            <a:endParaRPr lang="en-US" altLang="en-US" sz="2400" dirty="0" smtClean="0"/>
          </a:p>
          <a:p>
            <a:pPr>
              <a:spcBef>
                <a:spcPts val="1200"/>
              </a:spcBef>
            </a:pPr>
            <a:endParaRPr lang="en-US" alt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cost price of an article is 33.33% below the marked price.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no discount is offered, what is the profit percentage?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company offers a discount of 10% on the marked price, what is the profit %?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company makes a profit of 20%, then what is the discount %?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company ends up making a loss of 10%, what is the discount %?</a:t>
            </a: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cost price of an article is 33.33% below the marked price.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maximum discount that the company can offer without itself incurring a loss?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If, after offering a discount of X%, there is still a profit of X%. What is the value of X?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company wants to give a 30% discount and yet earn 26% profit, what should be the markup %?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company raises the marked price by 20% and offer a 20% discount, what will be the % change in the selling price?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Dishonest Merchant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1L water is added to 10L of milk and the mixture is sold at CP. Calculate Profit/Loss %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A10L milk solution is 90% Concentrated and shopkeeper claims to sell at the CP. Calculate Profit/Loss %</a:t>
            </a: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Dishonest Merchant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shopkeeper weighs 900gm instead of 1kg and claims to sell at the cost price. Calculate profit/loss %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shopkeeper sells 1100gm instead of 1kg and claims to sell at the cost price. Calculate profit/loss %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Dishonest Merchant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+mj-lt"/>
                <a:cs typeface="Arial" panose="020B0604020202020204" pitchFamily="34" charset="0"/>
              </a:rPr>
              <a:t>A shopkeeper uses a scale of 120cm instead if a </a:t>
            </a:r>
            <a:r>
              <a:rPr lang="en-US" sz="2400" dirty="0" err="1" smtClean="0">
                <a:latin typeface="+mj-lt"/>
                <a:cs typeface="Arial" panose="020B0604020202020204" pitchFamily="34" charset="0"/>
              </a:rPr>
              <a:t>metre</a:t>
            </a:r>
            <a:r>
              <a:rPr lang="en-US" sz="2400" dirty="0" smtClean="0">
                <a:latin typeface="+mj-lt"/>
                <a:cs typeface="Arial" panose="020B0604020202020204" pitchFamily="34" charset="0"/>
              </a:rPr>
              <a:t> while selling.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US" sz="2400" dirty="0" smtClean="0">
                <a:latin typeface="+mj-lt"/>
                <a:cs typeface="Arial" panose="020B0604020202020204" pitchFamily="34" charset="0"/>
              </a:rPr>
              <a:t>A merchant sells oil at 20% profit. But for every 20 L he sells, 3 L oil goes waste. What is his approximate profit or loss in the transaction?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 smtClean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en-IN" sz="2400" dirty="0" smtClean="0">
                <a:latin typeface="+mj-lt"/>
              </a:rPr>
              <a:t>A dishonest merchant cheats by getting 1100 gm instead of 1 Kg while buying from a wholesaler and sells 800 gm to the customer instead of 1 kg. If he claims to sell at the same price at which he bought, find his overall profit %.</a:t>
            </a:r>
            <a:endParaRPr lang="en-US" sz="2400" dirty="0" smtClean="0">
              <a:latin typeface="+mj-lt"/>
            </a:endParaRPr>
          </a:p>
          <a:p>
            <a:r>
              <a:rPr lang="en-IN" sz="2400" dirty="0" smtClean="0">
                <a:latin typeface="+mj-lt"/>
              </a:rPr>
              <a:t> </a:t>
            </a:r>
            <a:endParaRPr lang="en-US" sz="2400" dirty="0" smtClean="0">
              <a:latin typeface="+mj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endParaRPr lang="en-US" sz="24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Special Case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dirty="0" smtClean="0"/>
              <a:t>A merchant sold two items, one at a profit of 10% another at a loss of 10 %, find overall profit or loss % if:</a:t>
            </a:r>
            <a:endParaRPr lang="en-US" sz="2400" dirty="0" smtClean="0"/>
          </a:p>
          <a:p>
            <a:pPr lvl="0"/>
            <a:r>
              <a:rPr lang="en-IN" sz="2400" dirty="0" smtClean="0"/>
              <a:t>1. Cost price of both the items is the same</a:t>
            </a:r>
            <a:endParaRPr lang="en-US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2. Selling price of both the items is the same.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Special Case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6830" y="1494166"/>
            <a:ext cx="158592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dirty="0" smtClean="0"/>
              <a:t>A fruit vendor buys a dozen apples at </a:t>
            </a:r>
            <a:r>
              <a:rPr lang="en-IN" sz="2400" dirty="0" err="1" smtClean="0"/>
              <a:t>Rs</a:t>
            </a:r>
            <a:r>
              <a:rPr lang="en-IN" sz="2400" dirty="0" smtClean="0"/>
              <a:t>. 108. At what price should he sell a dozen so that he makes a profit of 16.67% after allowing 14.28% for decay?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 txBox="1">
            <a:spLocks noGrp="1"/>
          </p:cNvSpPr>
          <p:nvPr>
            <p:ph type="title" idx="4294967295"/>
          </p:nvPr>
        </p:nvSpPr>
        <p:spPr>
          <a:xfrm>
            <a:off x="258762" y="288925"/>
            <a:ext cx="10287000" cy="84638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49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  <a:ea typeface="Cambria" pitchFamily="18" charset="0"/>
              </a:rPr>
              <a:t>Word Problems</a:t>
            </a:r>
            <a:endParaRPr lang="en-IN" sz="4900" b="1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  <a:ea typeface="Cambria" pitchFamily="18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79078" y="1231965"/>
            <a:ext cx="112158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32B46DD-57E2-4B11-919A-CEA290C60585}"/>
              </a:ext>
            </a:extLst>
          </p:cNvPr>
          <p:cNvSpPr txBox="1"/>
          <p:nvPr/>
        </p:nvSpPr>
        <p:spPr>
          <a:xfrm>
            <a:off x="378082" y="1705709"/>
            <a:ext cx="1176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 smtClean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  <a:p>
            <a:pPr>
              <a:spcAft>
                <a:spcPts val="353"/>
              </a:spcAft>
              <a:tabLst>
                <a:tab pos="502751" algn="l"/>
                <a:tab pos="1007739" algn="l"/>
                <a:tab pos="1518328" algn="l"/>
                <a:tab pos="2028915" algn="l"/>
                <a:tab pos="2526067" algn="l"/>
                <a:tab pos="3036655" algn="l"/>
                <a:tab pos="3547243" algn="l"/>
                <a:tab pos="4044395" algn="l"/>
                <a:tab pos="4554982" algn="l"/>
                <a:tab pos="5065571" algn="l"/>
                <a:tab pos="5562722" algn="l"/>
                <a:tab pos="6073310" algn="l"/>
                <a:tab pos="6583898" algn="l"/>
                <a:tab pos="7081049" algn="l"/>
                <a:tab pos="7591638" algn="l"/>
                <a:tab pos="8102225" algn="l"/>
                <a:tab pos="8599377" algn="l"/>
                <a:tab pos="9109964" algn="l"/>
                <a:tab pos="9620553" algn="l"/>
              </a:tabLst>
            </a:pPr>
            <a:endParaRPr lang="pt-BR" dirty="0"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b="83454"/>
          <a:stretch>
            <a:fillRect/>
          </a:stretch>
        </p:blipFill>
        <p:spPr bwMode="auto">
          <a:xfrm>
            <a:off x="425392" y="1486144"/>
            <a:ext cx="6951693" cy="1303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8962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11215</TotalTime>
  <Words>1064</Words>
  <Application>Microsoft Office PowerPoint</Application>
  <PresentationFormat>Custom</PresentationFormat>
  <Paragraphs>306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Slide 1</vt:lpstr>
      <vt:lpstr>Fraction to Percentage</vt:lpstr>
      <vt:lpstr>Relationship between CP, SP &amp;MP</vt:lpstr>
      <vt:lpstr>Basics</vt:lpstr>
      <vt:lpstr>Basics</vt:lpstr>
      <vt:lpstr>Basics</vt:lpstr>
      <vt:lpstr>Basics</vt:lpstr>
      <vt:lpstr>Basics</vt:lpstr>
      <vt:lpstr>Finding Profit/Loss Percentage</vt:lpstr>
      <vt:lpstr>Finding Profit/Loss Percentage</vt:lpstr>
      <vt:lpstr>Finding Profit/Loss Percentage</vt:lpstr>
      <vt:lpstr>Finding Profit/Loss Percentage</vt:lpstr>
      <vt:lpstr>Finding Profit/Loss Percentage</vt:lpstr>
      <vt:lpstr>Word Problems</vt:lpstr>
      <vt:lpstr>Word Problems</vt:lpstr>
      <vt:lpstr>Word Problems</vt:lpstr>
      <vt:lpstr>Word Problems</vt:lpstr>
      <vt:lpstr>Word Problems</vt:lpstr>
      <vt:lpstr>Dishonest Merchant</vt:lpstr>
      <vt:lpstr>Dishonest Merchant</vt:lpstr>
      <vt:lpstr>Dishonest Merchant</vt:lpstr>
      <vt:lpstr>Special Case</vt:lpstr>
      <vt:lpstr>Special Case</vt:lpstr>
      <vt:lpstr>Word Problems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IMS</dc:creator>
  <cp:lastModifiedBy>RAMESH MUNDRA</cp:lastModifiedBy>
  <cp:revision>3009</cp:revision>
  <dcterms:created xsi:type="dcterms:W3CDTF">2017-04-25T06:46:30Z</dcterms:created>
  <dcterms:modified xsi:type="dcterms:W3CDTF">2025-05-07T17:03:20Z</dcterms:modified>
</cp:coreProperties>
</file>