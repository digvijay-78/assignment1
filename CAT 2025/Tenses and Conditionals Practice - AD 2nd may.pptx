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669" r:id="rId3"/>
    <p:sldId id="670" r:id="rId4"/>
    <p:sldId id="671" r:id="rId5"/>
    <p:sldId id="672" r:id="rId6"/>
    <p:sldId id="673" r:id="rId7"/>
    <p:sldId id="674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5" autoAdjust="0"/>
    <p:restoredTop sz="95382" autoAdjust="0"/>
  </p:normalViewPr>
  <p:slideViewPr>
    <p:cSldViewPr snapToGrid="0">
      <p:cViewPr varScale="1">
        <p:scale>
          <a:sx n="33" d="100"/>
          <a:sy n="33" d="100"/>
        </p:scale>
        <p:origin x="103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1" name="Shape 15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17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49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65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94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87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1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55265" y="2607468"/>
            <a:ext cx="21513851" cy="4643439"/>
          </a:xfrm>
          <a:prstGeom prst="rect">
            <a:avLst/>
          </a:prstGeom>
        </p:spPr>
        <p:txBody>
          <a:bodyPr anchor="b"/>
          <a:lstStyle>
            <a:lvl1pPr>
              <a:defRPr sz="11400" spc="-228">
                <a:solidFill>
                  <a:srgbClr val="5E5E5E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06078" y="7417593"/>
            <a:ext cx="21012206" cy="2048062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0"/>
              </a:spcBef>
              <a:defRPr sz="5200" b="1"/>
            </a:lvl1pPr>
            <a:lvl2pPr indent="457200" defTabSz="825500">
              <a:spcBef>
                <a:spcPts val="0"/>
              </a:spcBef>
              <a:defRPr sz="5200" b="1"/>
            </a:lvl2pPr>
            <a:lvl3pPr indent="914400" defTabSz="825500">
              <a:lnSpc>
                <a:spcPct val="100000"/>
              </a:lnSpc>
              <a:spcBef>
                <a:spcPts val="0"/>
              </a:spcBef>
              <a:defRPr sz="5200" b="1"/>
            </a:lvl3pPr>
            <a:lvl4pPr indent="1371600" defTabSz="825500">
              <a:lnSpc>
                <a:spcPct val="100000"/>
              </a:lnSpc>
              <a:spcBef>
                <a:spcPts val="0"/>
              </a:spcBef>
              <a:defRPr sz="5200" b="1"/>
            </a:lvl4pPr>
            <a:lvl5pPr indent="1828800" defTabSz="825500">
              <a:lnSpc>
                <a:spcPct val="100000"/>
              </a:lnSpc>
              <a:spcBef>
                <a:spcPts val="0"/>
              </a:spcBef>
              <a:defRPr sz="52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9574" y="10868735"/>
            <a:ext cx="2654071" cy="2654071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7110" y="12954297"/>
            <a:ext cx="409780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"/>
          <p:cNvSpPr>
            <a:spLocks noGrp="1"/>
          </p:cNvSpPr>
          <p:nvPr>
            <p:ph type="pic" idx="21"/>
          </p:nvPr>
        </p:nvSpPr>
        <p:spPr>
          <a:xfrm>
            <a:off x="2518171" y="-1287976"/>
            <a:ext cx="25081385" cy="1502183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7286625"/>
            <a:ext cx="16323470" cy="4643438"/>
          </a:xfrm>
          <a:prstGeom prst="rect">
            <a:avLst/>
          </a:prstGeom>
        </p:spPr>
        <p:txBody>
          <a:bodyPr anchor="b"/>
          <a:lstStyle>
            <a:lvl1pPr>
              <a:defRPr sz="11400" b="1" cap="none" spc="-22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11858625"/>
            <a:ext cx="16323470" cy="969988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  <a:lvl2pPr indent="457200" defTabSz="825500"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2pPr>
            <a:lvl3pPr indent="914400" defTabSz="825500">
              <a:lnSpc>
                <a:spcPct val="100000"/>
              </a:lnSpc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3pPr>
            <a:lvl4pPr indent="1371600" defTabSz="825500">
              <a:lnSpc>
                <a:spcPct val="100000"/>
              </a:lnSpc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4pPr>
            <a:lvl5pPr indent="1828800" defTabSz="825500">
              <a:lnSpc>
                <a:spcPct val="100000"/>
              </a:lnSpc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7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30265" y="803671"/>
            <a:ext cx="16323471" cy="648365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0"/>
              </a:spcBef>
              <a:defRPr sz="3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2253" y="12954297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910457886_1434x1669.jpeg"/>
          <p:cNvSpPr>
            <a:spLocks noGrp="1"/>
          </p:cNvSpPr>
          <p:nvPr>
            <p:ph type="pic" sz="half" idx="21"/>
          </p:nvPr>
        </p:nvSpPr>
        <p:spPr>
          <a:xfrm>
            <a:off x="10528025" y="696515"/>
            <a:ext cx="10608470" cy="1234695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7036593"/>
            <a:ext cx="7179470" cy="5687672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  <a:lvl2pPr indent="457200" defTabSz="825500"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2pPr>
            <a:lvl3pPr indent="914400" defTabSz="825500">
              <a:lnSpc>
                <a:spcPct val="100000"/>
              </a:lnSpc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3pPr>
            <a:lvl4pPr indent="1371600" defTabSz="825500">
              <a:lnSpc>
                <a:spcPct val="100000"/>
              </a:lnSpc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4pPr>
            <a:lvl5pPr indent="1828800" defTabSz="825500">
              <a:lnSpc>
                <a:spcPct val="100000"/>
              </a:lnSpc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973876"/>
            <a:ext cx="7179470" cy="6169874"/>
          </a:xfrm>
          <a:prstGeom prst="rect">
            <a:avLst/>
          </a:prstGeom>
        </p:spPr>
        <p:txBody>
          <a:bodyPr anchor="b"/>
          <a:lstStyle>
            <a:lvl1pPr>
              <a:defRPr sz="8400" b="1" cap="none" spc="-16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defTabSz="228600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6515" y="420543"/>
            <a:ext cx="16323470" cy="69174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030265" y="4161234"/>
            <a:ext cx="16323470" cy="8572501"/>
          </a:xfrm>
          <a:prstGeom prst="rect">
            <a:avLst/>
          </a:prstGeom>
        </p:spPr>
        <p:txBody>
          <a:bodyPr numCol="2" spcCol="828785"/>
          <a:lstStyle>
            <a:lvl1pPr marL="533400" indent="-533400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  <a:lvl2pPr marL="914400" indent="-533400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2pPr>
            <a:lvl3pPr marL="1295400" indent="-533400"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3pPr>
            <a:lvl4pPr marL="1676400" indent="-533400"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4pPr>
            <a:lvl5pPr marL="2057400" indent="-533400"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660384004_1290x1720.jpeg"/>
          <p:cNvSpPr>
            <a:spLocks noGrp="1"/>
          </p:cNvSpPr>
          <p:nvPr>
            <p:ph type="pic" sz="half" idx="21"/>
          </p:nvPr>
        </p:nvSpPr>
        <p:spPr>
          <a:xfrm>
            <a:off x="11727656" y="839390"/>
            <a:ext cx="9068098" cy="1209079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625078"/>
            <a:ext cx="7179470" cy="1428751"/>
          </a:xfrm>
          <a:prstGeom prst="rect">
            <a:avLst/>
          </a:prstGeom>
        </p:spPr>
        <p:txBody>
          <a:bodyPr/>
          <a:lstStyle>
            <a:lvl1pPr>
              <a:defRPr sz="8400" b="1" cap="none" spc="-16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64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30265" y="1987000"/>
            <a:ext cx="7179470" cy="944721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Subtitle</a:t>
            </a:r>
          </a:p>
        </p:txBody>
      </p:sp>
      <p:sp>
        <p:nvSpPr>
          <p:cNvPr id="6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4894026"/>
            <a:ext cx="7179470" cy="7865382"/>
          </a:xfrm>
          <a:prstGeom prst="rect">
            <a:avLst/>
          </a:prstGeom>
        </p:spPr>
        <p:txBody>
          <a:bodyPr/>
          <a:lstStyle>
            <a:lvl1pPr marL="533400" indent="-533400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  <a:lvl2pPr marL="914400" indent="-533400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2pPr>
            <a:lvl3pPr marL="1295400" indent="-533400"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3pPr>
            <a:lvl4pPr marL="1676400" indent="-533400"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4pPr>
            <a:lvl5pPr marL="2057400" indent="-533400">
              <a:buSzPct val="123000"/>
              <a:buChar char="•"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4536281"/>
            <a:ext cx="16323470" cy="4643438"/>
          </a:xfrm>
          <a:prstGeom prst="rect">
            <a:avLst/>
          </a:prstGeom>
        </p:spPr>
        <p:txBody>
          <a:bodyPr anchor="ctr"/>
          <a:lstStyle>
            <a:lvl1pPr>
              <a:defRPr sz="11400" cap="none" spc="-228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619125"/>
            <a:ext cx="16323470" cy="1428750"/>
          </a:xfrm>
          <a:prstGeom prst="rect">
            <a:avLst/>
          </a:prstGeom>
        </p:spPr>
        <p:txBody>
          <a:bodyPr/>
          <a:lstStyle>
            <a:lvl1pPr>
              <a:defRPr sz="8400" b="1" cap="none" spc="-16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8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5" y="1987000"/>
            <a:ext cx="16323471" cy="944721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Subtitle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625078"/>
            <a:ext cx="16323470" cy="1428751"/>
          </a:xfrm>
          <a:prstGeom prst="rect">
            <a:avLst/>
          </a:prstGeom>
        </p:spPr>
        <p:txBody>
          <a:bodyPr/>
          <a:lstStyle>
            <a:lvl1pPr>
              <a:defRPr sz="8400" b="1" cap="none" spc="-16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Agenda Title</a:t>
            </a:r>
          </a:p>
        </p:txBody>
      </p:sp>
      <p:sp>
        <p:nvSpPr>
          <p:cNvPr id="91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5" y="1982390"/>
            <a:ext cx="16323471" cy="944722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030265" y="4161234"/>
            <a:ext cx="16323470" cy="85725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defRPr sz="5200" spc="-52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  <a:lvl2pPr indent="457200">
              <a:lnSpc>
                <a:spcPct val="90000"/>
              </a:lnSpc>
              <a:spcBef>
                <a:spcPts val="1800"/>
              </a:spcBef>
              <a:defRPr sz="5200" spc="-52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2pPr>
            <a:lvl3pPr indent="914400">
              <a:spcBef>
                <a:spcPts val="1800"/>
              </a:spcBef>
              <a:defRPr sz="5200" spc="-52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3pPr>
            <a:lvl4pPr indent="1371600">
              <a:spcBef>
                <a:spcPts val="1800"/>
              </a:spcBef>
              <a:defRPr sz="5200" spc="-52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4pPr>
            <a:lvl5pPr indent="1828800">
              <a:spcBef>
                <a:spcPts val="1800"/>
              </a:spcBef>
              <a:defRPr sz="5200" spc="-52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5" y="8732784"/>
            <a:ext cx="16323468" cy="944721"/>
          </a:xfrm>
          <a:prstGeom prst="rect">
            <a:avLst/>
          </a:prstGeom>
        </p:spPr>
        <p:txBody>
          <a:bodyPr/>
          <a:lstStyle>
            <a:lvl1pPr algn="ctr">
              <a:spcBef>
                <a:spcPts val="0"/>
              </a:spcBef>
              <a:defRPr sz="5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030265" y="1404937"/>
            <a:ext cx="16323470" cy="7327848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80000"/>
              </a:lnSpc>
              <a:spcBef>
                <a:spcPts val="0"/>
              </a:spcBef>
              <a:defRPr sz="24600" b="1" spc="-246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  <a:lvl2pPr indent="457200" algn="ctr">
              <a:lnSpc>
                <a:spcPct val="80000"/>
              </a:lnSpc>
              <a:spcBef>
                <a:spcPts val="0"/>
              </a:spcBef>
              <a:defRPr sz="24600" b="1" spc="-246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2pPr>
            <a:lvl3pPr indent="914400" algn="ctr">
              <a:lnSpc>
                <a:spcPct val="80000"/>
              </a:lnSpc>
              <a:spcBef>
                <a:spcPts val="0"/>
              </a:spcBef>
              <a:defRPr sz="24600" b="1" spc="-246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3pPr>
            <a:lvl4pPr indent="1371600" algn="ctr">
              <a:lnSpc>
                <a:spcPct val="80000"/>
              </a:lnSpc>
              <a:spcBef>
                <a:spcPts val="0"/>
              </a:spcBef>
              <a:defRPr sz="24600" b="1" spc="-246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4pPr>
            <a:lvl5pPr indent="1828800" algn="ctr">
              <a:lnSpc>
                <a:spcPct val="80000"/>
              </a:lnSpc>
              <a:spcBef>
                <a:spcPts val="0"/>
              </a:spcBef>
              <a:defRPr sz="24600" b="1" spc="-246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83843" y="5232796"/>
            <a:ext cx="16216314" cy="3268267"/>
          </a:xfrm>
          <a:prstGeom prst="rect">
            <a:avLst/>
          </a:prstGeom>
        </p:spPr>
        <p:txBody>
          <a:bodyPr anchor="ctr"/>
          <a:lstStyle>
            <a:lvl1pPr marL="642937" indent="-482203">
              <a:lnSpc>
                <a:spcPct val="90000"/>
              </a:lnSpc>
              <a:spcBef>
                <a:spcPts val="0"/>
              </a:spcBef>
              <a:defRPr sz="8400" spc="-168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42937" indent="-25003">
              <a:lnSpc>
                <a:spcPct val="90000"/>
              </a:lnSpc>
              <a:spcBef>
                <a:spcPts val="0"/>
              </a:spcBef>
              <a:defRPr sz="8400" spc="-168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42937" indent="432196">
              <a:spcBef>
                <a:spcPts val="0"/>
              </a:spcBef>
              <a:defRPr sz="8400" spc="-168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42937" indent="889396">
              <a:spcBef>
                <a:spcPts val="0"/>
              </a:spcBef>
              <a:defRPr sz="8400" spc="-168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42937" indent="1346596">
              <a:spcBef>
                <a:spcPts val="0"/>
              </a:spcBef>
              <a:defRPr sz="8400" spc="-168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8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0" y="9036843"/>
            <a:ext cx="15537657" cy="648365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0"/>
              </a:spcBef>
              <a:defRPr sz="32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Attribution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mage"/>
          <p:cNvSpPr>
            <a:spLocks noGrp="1"/>
          </p:cNvSpPr>
          <p:nvPr>
            <p:ph type="pic" idx="21"/>
          </p:nvPr>
        </p:nvSpPr>
        <p:spPr>
          <a:xfrm>
            <a:off x="119062" y="966878"/>
            <a:ext cx="15701049" cy="117757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Image"/>
          <p:cNvSpPr>
            <a:spLocks noGrp="1"/>
          </p:cNvSpPr>
          <p:nvPr>
            <p:ph type="pic" sz="quarter" idx="22"/>
          </p:nvPr>
        </p:nvSpPr>
        <p:spPr>
          <a:xfrm>
            <a:off x="12325945" y="410765"/>
            <a:ext cx="8072438" cy="64579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8" name="Image"/>
          <p:cNvSpPr>
            <a:spLocks noGrp="1"/>
          </p:cNvSpPr>
          <p:nvPr>
            <p:ph type="pic" idx="23"/>
          </p:nvPr>
        </p:nvSpPr>
        <p:spPr>
          <a:xfrm>
            <a:off x="10057804" y="3866554"/>
            <a:ext cx="11162111" cy="129913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886640052_3195x2556.jpeg"/>
          <p:cNvSpPr>
            <a:spLocks noGrp="1"/>
          </p:cNvSpPr>
          <p:nvPr>
            <p:ph type="pic" idx="21"/>
          </p:nvPr>
        </p:nvSpPr>
        <p:spPr>
          <a:xfrm>
            <a:off x="1619250" y="-1482329"/>
            <a:ext cx="20288250" cy="162306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7110" y="12954297"/>
            <a:ext cx="409780" cy="415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46193" y="1689989"/>
            <a:ext cx="20222115" cy="1033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>
            <a:lvl2pPr indent="0">
              <a:spcBef>
                <a:spcPts val="2400"/>
              </a:spcBef>
            </a:lvl2pPr>
            <a:lvl3pPr>
              <a:lnSpc>
                <a:spcPct val="90000"/>
              </a:lnSpc>
              <a:spcBef>
                <a:spcPts val="4500"/>
              </a:spcBef>
            </a:lvl3pPr>
            <a:lvl4pPr>
              <a:lnSpc>
                <a:spcPct val="90000"/>
              </a:lnSpc>
              <a:spcBef>
                <a:spcPts val="4500"/>
              </a:spcBef>
            </a:lvl4pPr>
            <a:lvl5pPr>
              <a:lnSpc>
                <a:spcPct val="90000"/>
              </a:lnSpc>
              <a:spcBef>
                <a:spcPts val="4500"/>
              </a:spcBef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6515" y="365125"/>
            <a:ext cx="16323470" cy="69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Line"/>
          <p:cNvSpPr/>
          <p:nvPr/>
        </p:nvSpPr>
        <p:spPr>
          <a:xfrm flipV="1">
            <a:off x="635092" y="1373427"/>
            <a:ext cx="20244317" cy="1"/>
          </a:xfrm>
          <a:prstGeom prst="line">
            <a:avLst/>
          </a:prstGeom>
          <a:ln w="50800" cap="rnd">
            <a:solidFill>
              <a:srgbClr val="5E5E5E"/>
            </a:solidFill>
            <a:custDash>
              <a:ds d="100000" sp="200000"/>
            </a:custDash>
            <a:miter lim="400000"/>
          </a:ln>
        </p:spPr>
        <p:txBody>
          <a:bodyPr lIns="71437" tIns="71437" rIns="71437" bIns="71437" anchor="ctr"/>
          <a:lstStyle/>
          <a:p>
            <a:endParaRPr/>
          </a:p>
        </p:txBody>
      </p:sp>
      <p:pic>
        <p:nvPicPr>
          <p:cNvPr id="5" name="Image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19217" y="365125"/>
            <a:ext cx="1607279" cy="6917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02239" y="11152774"/>
            <a:ext cx="2641235" cy="2641235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2348" y="12954297"/>
            <a:ext cx="409779" cy="41587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b">
            <a:spAutoFit/>
          </a:bodyPr>
          <a:lstStyle>
            <a:lvl1pPr defTabSz="821531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62" r:id="rId13"/>
  </p:sldLayoutIdLst>
  <p:transition spd="med"/>
  <p:txStyles>
    <p:titleStyle>
      <a:lvl1pPr marL="0" marR="0" indent="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1pPr>
      <a:lvl2pPr marL="0" marR="0" indent="45720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2pPr>
      <a:lvl3pPr marL="0" marR="0" indent="91440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3pPr>
      <a:lvl4pPr marL="0" marR="0" indent="137160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4pPr>
      <a:lvl5pPr marL="0" marR="0" indent="182880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5pPr>
      <a:lvl6pPr marL="0" marR="0" indent="228600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6pPr>
      <a:lvl7pPr marL="0" marR="0" indent="274320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7pPr>
      <a:lvl8pPr marL="0" marR="0" indent="320040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8pPr>
      <a:lvl9pPr marL="0" marR="0" indent="3657600" algn="l" defTabSz="243833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-72" baseline="0">
          <a:solidFill>
            <a:schemeClr val="accent1">
              <a:hueOff val="114395"/>
              <a:lumOff val="-24975"/>
            </a:schemeClr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9pPr>
    </p:titleStyle>
    <p:bodyStyle>
      <a:lvl1pPr marL="0" marR="0" indent="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1pPr>
      <a:lvl2pPr marL="0" marR="0" indent="38100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2pPr>
      <a:lvl3pPr marL="0" marR="0" indent="76200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3pPr>
      <a:lvl4pPr marL="0" marR="0" indent="114300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4pPr>
      <a:lvl5pPr marL="0" marR="0" indent="152400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5pPr>
      <a:lvl6pPr marL="2438400" marR="0" indent="-53340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6pPr>
      <a:lvl7pPr marL="2819400" marR="0" indent="-53340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7pPr>
      <a:lvl8pPr marL="3200400" marR="0" indent="-53340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8pPr>
      <a:lvl9pPr marL="3581400" marR="0" indent="-533400" algn="l" defTabSz="2438339" latinLnBrk="0">
        <a:lnSpc>
          <a:spcPct val="100000"/>
        </a:lnSpc>
        <a:spcBef>
          <a:spcPts val="36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5E5E5E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LASS TITLE"/>
          <p:cNvSpPr txBox="1">
            <a:spLocks noGrp="1"/>
          </p:cNvSpPr>
          <p:nvPr>
            <p:ph type="ctrTitle"/>
          </p:nvPr>
        </p:nvSpPr>
        <p:spPr>
          <a:xfrm>
            <a:off x="855265" y="2607468"/>
            <a:ext cx="22535677" cy="464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</a:lstStyle>
          <a:p>
            <a:pPr>
              <a:lnSpc>
                <a:spcPct val="99000"/>
              </a:lnSpc>
            </a:pPr>
            <a:r>
              <a:rPr lang="en-US" sz="10000" b="1" smtClean="0"/>
              <a:t>Tenses and </a:t>
            </a:r>
            <a:r>
              <a:rPr lang="en-US" sz="10000" b="1" smtClean="0"/>
              <a:t>conditionals practice</a:t>
            </a:r>
            <a:endParaRPr lang="en-US" sz="10000" dirty="0"/>
          </a:p>
        </p:txBody>
      </p:sp>
      <p:sp>
        <p:nvSpPr>
          <p:cNvPr id="154" name="Area | SECTION"/>
          <p:cNvSpPr txBox="1">
            <a:spLocks noGrp="1"/>
          </p:cNvSpPr>
          <p:nvPr>
            <p:ph type="subTitle" sz="quarter" idx="1"/>
          </p:nvPr>
        </p:nvSpPr>
        <p:spPr>
          <a:xfrm>
            <a:off x="1006078" y="7417593"/>
            <a:ext cx="21012206" cy="1578923"/>
          </a:xfrm>
          <a:prstGeom prst="rect">
            <a:avLst/>
          </a:prstGeom>
        </p:spPr>
        <p:txBody>
          <a:bodyPr/>
          <a:lstStyle>
            <a:lvl1pPr>
              <a:defRPr b="0">
                <a:latin typeface="EB Garamond Regular"/>
                <a:ea typeface="EB Garamond Regular"/>
                <a:cs typeface="EB Garamond Regular"/>
                <a:sym typeface="EB Garamond Regular"/>
              </a:defRPr>
            </a:lvl1pPr>
          </a:lstStyle>
          <a:p>
            <a:r>
              <a:rPr lang="en-US" smtClean="0"/>
              <a:t>VARC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he ratio of ages of the ages of Aman and Boman is 3 : 4. In five years, the ratio of their ages will be 7 : 9. Find the current ages of Aman and Boman respectively.…"/>
          <p:cNvSpPr txBox="1">
            <a:spLocks noGrp="1"/>
          </p:cNvSpPr>
          <p:nvPr>
            <p:ph type="body" idx="1"/>
          </p:nvPr>
        </p:nvSpPr>
        <p:spPr>
          <a:xfrm>
            <a:off x="646193" y="1385190"/>
            <a:ext cx="10972800" cy="10336022"/>
          </a:xfrm>
          <a:prstGeom prst="rect">
            <a:avLst/>
          </a:prstGeom>
        </p:spPr>
        <p:txBody>
          <a:bodyPr>
            <a:noAutofit/>
          </a:bodyPr>
          <a:lstStyle/>
          <a:p>
            <a:pPr marL="731520" indent="-731520" algn="just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/>
              <a:t>If you give me the letter, I .................... (post) it for you 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mtClean="0"/>
              <a:t> </a:t>
            </a:r>
            <a:r>
              <a:rPr lang="en-US"/>
              <a:t>……………….. (You, post) the letter if I had given </a:t>
            </a:r>
            <a:r>
              <a:rPr lang="en-US"/>
              <a:t>it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to </a:t>
            </a:r>
            <a:r>
              <a:rPr lang="en-US"/>
              <a:t>you</a:t>
            </a:r>
            <a:r>
              <a:rPr lang="en-US"/>
              <a:t>?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mtClean="0"/>
              <a:t>If </a:t>
            </a:r>
            <a:r>
              <a:rPr lang="en-US"/>
              <a:t>the weather is fine, I .................... (go) swimming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mtClean="0"/>
              <a:t>If </a:t>
            </a:r>
            <a:r>
              <a:rPr lang="en-US"/>
              <a:t>you.................... (not work) harder, you won't pass the exam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mtClean="0"/>
              <a:t>If </a:t>
            </a:r>
            <a:r>
              <a:rPr lang="en-US"/>
              <a:t>they .................... (be) rich, they would travel around the world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/>
              <a:t>The children .................... (go) skating if the lake were frozen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/>
              <a:defRPr/>
            </a:pP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6" name="QUESTION 1"/>
          <p:cNvSpPr txBox="1">
            <a:spLocks noGrp="1"/>
          </p:cNvSpPr>
          <p:nvPr>
            <p:ph type="title"/>
          </p:nvPr>
        </p:nvSpPr>
        <p:spPr>
          <a:xfrm>
            <a:off x="696515" y="601101"/>
            <a:ext cx="20128208" cy="78408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just" rtl="0">
              <a:lnSpc>
                <a:spcPct val="150000"/>
              </a:lnSpc>
              <a:spcBef>
                <a:spcPts val="1800"/>
              </a:spcBef>
              <a:defRPr/>
            </a:pPr>
            <a:r>
              <a:rPr lang="en-US"/>
              <a:t>Put the verbs in brackets into their correct forms: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C7AA3-8A76-D24A-96F9-B8F1966220B8}"/>
              </a:ext>
            </a:extLst>
          </p:cNvPr>
          <p:cNvSpPr txBox="1"/>
          <p:nvPr/>
        </p:nvSpPr>
        <p:spPr>
          <a:xfrm>
            <a:off x="602651" y="7402669"/>
            <a:ext cx="12192000" cy="4462760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>
            <a:normAutofit/>
          </a:bodyPr>
          <a:lstStyle>
            <a:lvl1pPr algn="just">
              <a:lnSpc>
                <a:spcPct val="150000"/>
              </a:lnSpc>
              <a:spcBef>
                <a:spcPts val="3600"/>
              </a:spcBef>
              <a:defRPr sz="3200">
                <a:latin typeface="Palatino"/>
                <a:ea typeface="Palatino"/>
                <a:cs typeface="Palatino"/>
                <a:sym typeface="Palatino"/>
              </a:defRPr>
            </a:lvl1pPr>
            <a:lvl2pPr indent="0" algn="l">
              <a:spcBef>
                <a:spcPts val="24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2pPr>
            <a:lvl3pPr indent="762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3pPr>
            <a:lvl4pPr indent="1143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4pPr>
            <a:lvl5pPr indent="1524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5pPr>
            <a:lvl6pPr marL="2438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6pPr>
            <a:lvl7pPr marL="2819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7pPr>
            <a:lvl8pPr marL="3200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8pPr>
            <a:lvl9pPr marL="3581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he ratio of ages of the ages of Aman and Boman is 3 : 4. In five years, the ratio of their ages will be 7 : 9. Find the current ages of Aman and Boman respectively.…"/>
          <p:cNvSpPr txBox="1">
            <a:spLocks/>
          </p:cNvSpPr>
          <p:nvPr/>
        </p:nvSpPr>
        <p:spPr>
          <a:xfrm>
            <a:off x="12647166" y="1385190"/>
            <a:ext cx="10972800" cy="1033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Autofit/>
          </a:bodyPr>
          <a:lstStyle>
            <a:lvl1pPr marL="0" marR="0" indent="0" algn="l" defTabSz="228600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Palatino"/>
                <a:cs typeface="Arial" panose="020B0604020202020204" pitchFamily="34" charset="0"/>
                <a:sym typeface="Palatino"/>
              </a:defRPr>
            </a:lvl1pPr>
            <a:lvl2pPr marL="0" marR="0" indent="0" algn="l" defTabSz="2438339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0" marR="0" indent="762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0" marR="0" indent="1143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0" marR="0" indent="1524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2438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2819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3200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3581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731520" indent="-731520" algn="just">
              <a:lnSpc>
                <a:spcPct val="150000"/>
              </a:lnSpc>
              <a:buFont typeface="+mj-lt"/>
              <a:buAutoNum type="arabicPeriod" startAt="7"/>
              <a:defRPr/>
            </a:pPr>
            <a:r>
              <a:rPr lang="en-US" smtClean="0"/>
              <a:t>What would you have done, if you .................... (lose) your handbag? </a:t>
            </a:r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7"/>
              <a:defRPr/>
            </a:pPr>
            <a:r>
              <a:rPr lang="en-US" smtClean="0"/>
              <a:t>What </a:t>
            </a:r>
            <a:r>
              <a:rPr lang="en-US"/>
              <a:t>will happen if you .................... (not know) the answer</a:t>
            </a:r>
            <a:r>
              <a:rPr lang="en-US"/>
              <a:t>?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7"/>
              <a:defRPr/>
            </a:pPr>
            <a:r>
              <a:rPr lang="en-US" smtClean="0"/>
              <a:t>She </a:t>
            </a:r>
            <a:r>
              <a:rPr lang="en-US"/>
              <a:t>.................... (go) on holiday, if she hadn't been ill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7"/>
              <a:defRPr/>
            </a:pPr>
            <a:r>
              <a:rPr lang="en-US" smtClean="0"/>
              <a:t>If </a:t>
            </a:r>
            <a:r>
              <a:rPr lang="en-US"/>
              <a:t>I .................... (notice) you, I would have </a:t>
            </a:r>
            <a:r>
              <a:rPr lang="en-US"/>
              <a:t>said </a:t>
            </a:r>
            <a:r>
              <a:rPr lang="en-US" smtClean="0"/>
              <a:t>hello</a:t>
            </a:r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7"/>
              <a:defRPr/>
            </a:pPr>
            <a:r>
              <a:rPr lang="en-US"/>
              <a:t>If I .................... (be) like you, I wouldn't watch such films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7"/>
              <a:defRPr/>
            </a:pPr>
            <a:r>
              <a:rPr lang="en-US"/>
              <a:t>If you opened your eyes, you .................... (see) a wonderful world</a:t>
            </a:r>
            <a:r>
              <a:rPr lang="en-US"/>
              <a:t>. 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8322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he ratio of ages of the ages of Aman and Boman is 3 : 4. In five years, the ratio of their ages will be 7 : 9. Find the current ages of Aman and Boman respectively.…"/>
          <p:cNvSpPr txBox="1">
            <a:spLocks noGrp="1"/>
          </p:cNvSpPr>
          <p:nvPr>
            <p:ph type="body" idx="1"/>
          </p:nvPr>
        </p:nvSpPr>
        <p:spPr>
          <a:xfrm>
            <a:off x="646193" y="1385190"/>
            <a:ext cx="10972800" cy="10336022"/>
          </a:xfrm>
          <a:prstGeom prst="rect">
            <a:avLst/>
          </a:prstGeom>
        </p:spPr>
        <p:txBody>
          <a:bodyPr>
            <a:noAutofit/>
          </a:bodyPr>
          <a:lstStyle/>
          <a:p>
            <a:pPr marL="731520" indent="-731520" algn="just" rtl="0">
              <a:lnSpc>
                <a:spcPct val="150000"/>
              </a:lnSpc>
              <a:buFont typeface="+mj-lt"/>
              <a:buAutoNum type="arabicPeriod" startAt="13"/>
              <a:defRPr/>
            </a:pPr>
            <a:r>
              <a:rPr lang="en-US" smtClean="0"/>
              <a:t>People </a:t>
            </a:r>
            <a:r>
              <a:rPr lang="en-US"/>
              <a:t>.................... (live) in peace if they stop fighting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13"/>
              <a:defRPr/>
            </a:pPr>
            <a:r>
              <a:rPr lang="en-US" smtClean="0"/>
              <a:t>If </a:t>
            </a:r>
            <a:r>
              <a:rPr lang="en-US"/>
              <a:t>Tom drinks so much, he ……………….. (</a:t>
            </a:r>
            <a:r>
              <a:rPr lang="en-US"/>
              <a:t>cannot </a:t>
            </a:r>
            <a:r>
              <a:rPr lang="en-US" smtClean="0"/>
              <a:t>drive</a:t>
            </a:r>
            <a:r>
              <a:rPr lang="en-US"/>
              <a:t>) home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13"/>
              <a:defRPr/>
            </a:pPr>
            <a:r>
              <a:rPr lang="en-US" smtClean="0"/>
              <a:t>If </a:t>
            </a:r>
            <a:r>
              <a:rPr lang="en-US"/>
              <a:t>we .................... (not hurry) we would miss the </a:t>
            </a:r>
            <a:r>
              <a:rPr lang="en-US"/>
              <a:t>train</a:t>
            </a:r>
            <a:r>
              <a:rPr lang="en-US" smtClean="0"/>
              <a:t>.</a:t>
            </a:r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13"/>
              <a:defRPr/>
            </a:pPr>
            <a:r>
              <a:rPr lang="en-US"/>
              <a:t>He .................... (not spend) so much money if he weren't a happy </a:t>
            </a:r>
            <a:r>
              <a:rPr lang="en-US"/>
              <a:t>person</a:t>
            </a:r>
            <a:r>
              <a:rPr lang="en-US" smtClean="0"/>
              <a:t>.</a:t>
            </a:r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13"/>
              <a:defRPr/>
            </a:pPr>
            <a:r>
              <a:rPr lang="en-US"/>
              <a:t>……………….. (You, come ) , if you had had more </a:t>
            </a:r>
            <a:br>
              <a:rPr lang="en-US"/>
            </a:br>
            <a:r>
              <a:rPr lang="en-US"/>
              <a:t>time </a:t>
            </a:r>
            <a:r>
              <a:rPr lang="en-US" smtClean="0"/>
              <a:t>?</a:t>
            </a:r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13"/>
              <a:defRPr/>
            </a:pPr>
            <a:r>
              <a:rPr lang="en-US"/>
              <a:t>If Jim .................... (study) the new words he would have got a better </a:t>
            </a:r>
            <a:r>
              <a:rPr lang="en-US"/>
              <a:t>mark</a:t>
            </a:r>
            <a:r>
              <a:rPr lang="en-US" smtClean="0"/>
              <a:t>.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6" name="QUESTION 1"/>
          <p:cNvSpPr txBox="1">
            <a:spLocks noGrp="1"/>
          </p:cNvSpPr>
          <p:nvPr>
            <p:ph type="title"/>
          </p:nvPr>
        </p:nvSpPr>
        <p:spPr>
          <a:xfrm>
            <a:off x="696515" y="601101"/>
            <a:ext cx="20128208" cy="78408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just" rtl="0">
              <a:lnSpc>
                <a:spcPct val="150000"/>
              </a:lnSpc>
              <a:spcBef>
                <a:spcPts val="1800"/>
              </a:spcBef>
              <a:defRPr/>
            </a:pPr>
            <a:r>
              <a:rPr lang="en-US"/>
              <a:t>Put the verbs in brackets into their correct forms: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C7AA3-8A76-D24A-96F9-B8F1966220B8}"/>
              </a:ext>
            </a:extLst>
          </p:cNvPr>
          <p:cNvSpPr txBox="1"/>
          <p:nvPr/>
        </p:nvSpPr>
        <p:spPr>
          <a:xfrm>
            <a:off x="602651" y="7402669"/>
            <a:ext cx="12192000" cy="4462760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>
            <a:normAutofit/>
          </a:bodyPr>
          <a:lstStyle>
            <a:lvl1pPr algn="just">
              <a:lnSpc>
                <a:spcPct val="150000"/>
              </a:lnSpc>
              <a:spcBef>
                <a:spcPts val="3600"/>
              </a:spcBef>
              <a:defRPr sz="3200">
                <a:latin typeface="Palatino"/>
                <a:ea typeface="Palatino"/>
                <a:cs typeface="Palatino"/>
                <a:sym typeface="Palatino"/>
              </a:defRPr>
            </a:lvl1pPr>
            <a:lvl2pPr indent="0" algn="l">
              <a:spcBef>
                <a:spcPts val="24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2pPr>
            <a:lvl3pPr indent="762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3pPr>
            <a:lvl4pPr indent="1143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4pPr>
            <a:lvl5pPr indent="1524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5pPr>
            <a:lvl6pPr marL="2438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6pPr>
            <a:lvl7pPr marL="2819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7pPr>
            <a:lvl8pPr marL="3200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8pPr>
            <a:lvl9pPr marL="3581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he ratio of ages of the ages of Aman and Boman is 3 : 4. In five years, the ratio of their ages will be 7 : 9. Find the current ages of Aman and Boman respectively.…"/>
          <p:cNvSpPr txBox="1">
            <a:spLocks/>
          </p:cNvSpPr>
          <p:nvPr/>
        </p:nvSpPr>
        <p:spPr>
          <a:xfrm>
            <a:off x="12647166" y="1385190"/>
            <a:ext cx="10972800" cy="1033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Autofit/>
          </a:bodyPr>
          <a:lstStyle>
            <a:lvl1pPr marL="0" marR="0" indent="0" algn="l" defTabSz="228600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Palatino"/>
                <a:cs typeface="Arial" panose="020B0604020202020204" pitchFamily="34" charset="0"/>
                <a:sym typeface="Palatino"/>
              </a:defRPr>
            </a:lvl1pPr>
            <a:lvl2pPr marL="0" marR="0" indent="0" algn="l" defTabSz="2438339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0" marR="0" indent="762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0" marR="0" indent="1143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0" marR="0" indent="1524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2438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2819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3200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3581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731520" indent="-731520" algn="just">
              <a:lnSpc>
                <a:spcPct val="150000"/>
              </a:lnSpc>
              <a:buFont typeface="+mj-lt"/>
              <a:buAutoNum type="arabicPeriod" startAt="19"/>
              <a:defRPr/>
            </a:pPr>
            <a:r>
              <a:rPr lang="en-US" smtClean="0"/>
              <a:t>If </a:t>
            </a:r>
            <a:r>
              <a:rPr lang="en-US"/>
              <a:t>he were rich, he .................... (buy) the </a:t>
            </a:r>
            <a:r>
              <a:rPr lang="en-US"/>
              <a:t>house</a:t>
            </a:r>
            <a:r>
              <a:rPr lang="en-US" smtClean="0"/>
              <a:t>.</a:t>
            </a:r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19"/>
              <a:defRPr/>
            </a:pPr>
            <a:r>
              <a:rPr lang="en-US"/>
              <a:t>The burglars .................... (not do) so much damage if you hadn´t locked all the drawers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19"/>
              <a:defRPr/>
            </a:pPr>
            <a:r>
              <a:rPr lang="en-US" smtClean="0"/>
              <a:t>If </a:t>
            </a:r>
            <a:r>
              <a:rPr lang="en-US"/>
              <a:t>he had slipped he .................... (fall) 500 metres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19"/>
              <a:defRPr/>
            </a:pPr>
            <a:r>
              <a:rPr lang="en-US" smtClean="0"/>
              <a:t>They </a:t>
            </a:r>
            <a:r>
              <a:rPr lang="en-US"/>
              <a:t>would have forced their way into the house if I .................... (not call) for </a:t>
            </a:r>
            <a:r>
              <a:rPr lang="en-US"/>
              <a:t>help</a:t>
            </a:r>
            <a:r>
              <a:rPr lang="en-US" smtClean="0"/>
              <a:t>.</a:t>
            </a:r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19"/>
              <a:defRPr/>
            </a:pPr>
            <a:r>
              <a:rPr lang="en-US" smtClean="0"/>
              <a:t>You </a:t>
            </a:r>
            <a:r>
              <a:rPr lang="en-US"/>
              <a:t>.................... (not be) of any use to me unless you learn to type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19"/>
              <a:defRPr/>
            </a:pPr>
            <a:r>
              <a:rPr lang="en-US" smtClean="0"/>
              <a:t>I </a:t>
            </a:r>
            <a:r>
              <a:rPr lang="en-US"/>
              <a:t>.................... (bring) you some beer if I had known that you were thirsty. 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4795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he ratio of ages of the ages of Aman and Boman is 3 : 4. In five years, the ratio of their ages will be 7 : 9. Find the current ages of Aman and Boman respectively.…"/>
          <p:cNvSpPr txBox="1">
            <a:spLocks noGrp="1"/>
          </p:cNvSpPr>
          <p:nvPr>
            <p:ph type="body" idx="1"/>
          </p:nvPr>
        </p:nvSpPr>
        <p:spPr>
          <a:xfrm>
            <a:off x="646193" y="1385190"/>
            <a:ext cx="10972800" cy="10336022"/>
          </a:xfrm>
          <a:prstGeom prst="rect">
            <a:avLst/>
          </a:prstGeom>
        </p:spPr>
        <p:txBody>
          <a:bodyPr>
            <a:noAutofit/>
          </a:bodyPr>
          <a:lstStyle/>
          <a:p>
            <a:pPr marL="731520" indent="-731520" algn="just" rtl="0">
              <a:lnSpc>
                <a:spcPct val="150000"/>
              </a:lnSpc>
              <a:buFont typeface="+mj-lt"/>
              <a:buAutoNum type="arabicPeriod" startAt="25"/>
              <a:defRPr/>
            </a:pPr>
            <a:r>
              <a:rPr lang="en-US"/>
              <a:t>You´ll get a cold if you .................... (not change) your wet clothes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25"/>
              <a:defRPr/>
            </a:pPr>
            <a:r>
              <a:rPr lang="en-US" smtClean="0"/>
              <a:t>I´ll </a:t>
            </a:r>
            <a:r>
              <a:rPr lang="en-US"/>
              <a:t>probably get lost unless he .................... (come) with me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25"/>
              <a:defRPr/>
            </a:pPr>
            <a:r>
              <a:rPr lang="en-US" smtClean="0"/>
              <a:t>I </a:t>
            </a:r>
            <a:r>
              <a:rPr lang="en-US"/>
              <a:t>could repair the roof myself if I .................... (have) a ladder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25"/>
              <a:defRPr/>
            </a:pPr>
            <a:r>
              <a:rPr lang="en-US" smtClean="0"/>
              <a:t>If </a:t>
            </a:r>
            <a:r>
              <a:rPr lang="en-US"/>
              <a:t>a train entered this tunnel, it .................... (not come) out again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25"/>
              <a:defRPr/>
            </a:pPr>
            <a:r>
              <a:rPr lang="en-US" smtClean="0"/>
              <a:t>If </a:t>
            </a:r>
            <a:r>
              <a:rPr lang="en-US"/>
              <a:t>you had told me earlier, I .................... (be able) to </a:t>
            </a:r>
            <a:r>
              <a:rPr lang="en-US"/>
              <a:t>help </a:t>
            </a:r>
            <a:r>
              <a:rPr lang="en-US" smtClean="0"/>
              <a:t>you</a:t>
            </a:r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25"/>
              <a:defRPr/>
            </a:pPr>
            <a:r>
              <a:rPr lang="en-US"/>
              <a:t>You´ll get a cold if you .................... (not change) your wet clothes.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6" name="QUESTION 1"/>
          <p:cNvSpPr txBox="1">
            <a:spLocks noGrp="1"/>
          </p:cNvSpPr>
          <p:nvPr>
            <p:ph type="title"/>
          </p:nvPr>
        </p:nvSpPr>
        <p:spPr>
          <a:xfrm>
            <a:off x="696515" y="601101"/>
            <a:ext cx="20128208" cy="78408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just" rtl="0">
              <a:lnSpc>
                <a:spcPct val="150000"/>
              </a:lnSpc>
              <a:spcBef>
                <a:spcPts val="1800"/>
              </a:spcBef>
              <a:defRPr/>
            </a:pPr>
            <a:r>
              <a:rPr lang="en-US"/>
              <a:t>Put the verbs in brackets into their correct forms: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C7AA3-8A76-D24A-96F9-B8F1966220B8}"/>
              </a:ext>
            </a:extLst>
          </p:cNvPr>
          <p:cNvSpPr txBox="1"/>
          <p:nvPr/>
        </p:nvSpPr>
        <p:spPr>
          <a:xfrm>
            <a:off x="602651" y="7402669"/>
            <a:ext cx="12192000" cy="4462760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>
            <a:normAutofit/>
          </a:bodyPr>
          <a:lstStyle>
            <a:lvl1pPr algn="just">
              <a:lnSpc>
                <a:spcPct val="150000"/>
              </a:lnSpc>
              <a:spcBef>
                <a:spcPts val="3600"/>
              </a:spcBef>
              <a:defRPr sz="3200">
                <a:latin typeface="Palatino"/>
                <a:ea typeface="Palatino"/>
                <a:cs typeface="Palatino"/>
                <a:sym typeface="Palatino"/>
              </a:defRPr>
            </a:lvl1pPr>
            <a:lvl2pPr indent="0" algn="l">
              <a:spcBef>
                <a:spcPts val="24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2pPr>
            <a:lvl3pPr indent="762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3pPr>
            <a:lvl4pPr indent="1143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4pPr>
            <a:lvl5pPr indent="1524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5pPr>
            <a:lvl6pPr marL="2438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6pPr>
            <a:lvl7pPr marL="2819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7pPr>
            <a:lvl8pPr marL="3200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8pPr>
            <a:lvl9pPr marL="3581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he ratio of ages of the ages of Aman and Boman is 3 : 4. In five years, the ratio of their ages will be 7 : 9. Find the current ages of Aman and Boman respectively.…"/>
          <p:cNvSpPr txBox="1">
            <a:spLocks/>
          </p:cNvSpPr>
          <p:nvPr/>
        </p:nvSpPr>
        <p:spPr>
          <a:xfrm>
            <a:off x="12647166" y="1385190"/>
            <a:ext cx="10972800" cy="1033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Autofit/>
          </a:bodyPr>
          <a:lstStyle>
            <a:lvl1pPr marL="0" marR="0" indent="0" algn="l" defTabSz="228600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Palatino"/>
                <a:cs typeface="Arial" panose="020B0604020202020204" pitchFamily="34" charset="0"/>
                <a:sym typeface="Palatino"/>
              </a:defRPr>
            </a:lvl1pPr>
            <a:lvl2pPr marL="0" marR="0" indent="0" algn="l" defTabSz="2438339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0" marR="0" indent="762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0" marR="0" indent="1143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0" marR="0" indent="1524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2438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2819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3200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3581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731520" indent="-731520" algn="just">
              <a:lnSpc>
                <a:spcPct val="150000"/>
              </a:lnSpc>
              <a:buFont typeface="+mj-lt"/>
              <a:buAutoNum type="arabicPeriod" startAt="31"/>
              <a:defRPr/>
            </a:pPr>
            <a:r>
              <a:rPr lang="en-US"/>
              <a:t>I´ll probably get lost unless he .................... (come</a:t>
            </a:r>
            <a:r>
              <a:rPr lang="en-US"/>
              <a:t>)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with </a:t>
            </a:r>
            <a:r>
              <a:rPr lang="en-US"/>
              <a:t>me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31"/>
              <a:defRPr/>
            </a:pPr>
            <a:r>
              <a:rPr lang="en-US" smtClean="0"/>
              <a:t>I </a:t>
            </a:r>
            <a:r>
              <a:rPr lang="en-US"/>
              <a:t>could repair the roof myself if I .................... (have</a:t>
            </a:r>
            <a:r>
              <a:rPr lang="en-US"/>
              <a:t>)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a </a:t>
            </a:r>
            <a:r>
              <a:rPr lang="en-US"/>
              <a:t>ladder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31"/>
              <a:defRPr/>
            </a:pPr>
            <a:r>
              <a:rPr lang="en-US" smtClean="0"/>
              <a:t>If </a:t>
            </a:r>
            <a:r>
              <a:rPr lang="en-US"/>
              <a:t>a train entered this tunnel, it .................... (not come) out again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31"/>
              <a:defRPr/>
            </a:pPr>
            <a:r>
              <a:rPr lang="en-US" smtClean="0"/>
              <a:t>If </a:t>
            </a:r>
            <a:r>
              <a:rPr lang="en-US"/>
              <a:t>you had told me earlier, I .................... (be able</a:t>
            </a:r>
            <a:r>
              <a:rPr lang="en-US"/>
              <a:t>)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to </a:t>
            </a:r>
            <a:r>
              <a:rPr lang="en-US"/>
              <a:t>help </a:t>
            </a:r>
            <a:r>
              <a:rPr lang="en-US"/>
              <a:t>you</a:t>
            </a:r>
            <a:r>
              <a:rPr lang="en-US" smtClean="0"/>
              <a:t>.</a:t>
            </a:r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31"/>
              <a:defRPr/>
            </a:pPr>
            <a:r>
              <a:rPr lang="en-US"/>
              <a:t>If you .................... (can/come)with us, we would have been pleased</a:t>
            </a:r>
            <a:r>
              <a:rPr lang="en-US"/>
              <a:t>. 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822647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he ratio of ages of the ages of Aman and Boman is 3 : 4. In five years, the ratio of their ages will be 7 : 9. Find the current ages of Aman and Boman respectively.…"/>
          <p:cNvSpPr txBox="1">
            <a:spLocks noGrp="1"/>
          </p:cNvSpPr>
          <p:nvPr>
            <p:ph type="body" idx="1"/>
          </p:nvPr>
        </p:nvSpPr>
        <p:spPr>
          <a:xfrm>
            <a:off x="646193" y="1385190"/>
            <a:ext cx="10972800" cy="10336022"/>
          </a:xfrm>
          <a:prstGeom prst="rect">
            <a:avLst/>
          </a:prstGeom>
        </p:spPr>
        <p:txBody>
          <a:bodyPr>
            <a:noAutofit/>
          </a:bodyPr>
          <a:lstStyle/>
          <a:p>
            <a:pPr marL="731520" indent="-731520" algn="just" rtl="0">
              <a:lnSpc>
                <a:spcPct val="150000"/>
              </a:lnSpc>
              <a:buFont typeface="+mj-lt"/>
              <a:buAutoNum type="arabicPeriod" startAt="36"/>
              <a:defRPr/>
            </a:pPr>
            <a:r>
              <a:rPr lang="en-US"/>
              <a:t>You .................... (not make) such a mistake if you had been more careful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36"/>
              <a:defRPr/>
            </a:pPr>
            <a:r>
              <a:rPr lang="en-US" smtClean="0"/>
              <a:t>If </a:t>
            </a:r>
            <a:r>
              <a:rPr lang="en-US"/>
              <a:t>father .................... (be) alive he would be horrified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36"/>
              <a:defRPr/>
            </a:pPr>
            <a:r>
              <a:rPr lang="en-US" smtClean="0"/>
              <a:t>If </a:t>
            </a:r>
            <a:r>
              <a:rPr lang="en-US"/>
              <a:t>it .................... (be ) fine tomorrow we shall go </a:t>
            </a:r>
            <a:r>
              <a:rPr lang="en-US"/>
              <a:t>for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a </a:t>
            </a:r>
            <a:r>
              <a:rPr lang="en-US"/>
              <a:t>swim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36"/>
              <a:defRPr/>
            </a:pPr>
            <a:r>
              <a:rPr lang="en-US" smtClean="0"/>
              <a:t>If </a:t>
            </a:r>
            <a:r>
              <a:rPr lang="en-US"/>
              <a:t>he is out, I .................... (call) </a:t>
            </a:r>
            <a:r>
              <a:rPr lang="en-US"/>
              <a:t>tomorrow</a:t>
            </a:r>
            <a:r>
              <a:rPr lang="en-US" smtClean="0"/>
              <a:t>.</a:t>
            </a:r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36"/>
              <a:defRPr/>
            </a:pPr>
            <a:r>
              <a:rPr lang="en-US"/>
              <a:t>You`ll miss the train if you .................... (not hurry</a:t>
            </a:r>
            <a:r>
              <a:rPr lang="en-US"/>
              <a:t>).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36"/>
              <a:defRPr/>
            </a:pPr>
            <a:r>
              <a:rPr lang="en-US" smtClean="0"/>
              <a:t>If </a:t>
            </a:r>
            <a:r>
              <a:rPr lang="en-US"/>
              <a:t>you had gone to the exhibition you .................... (enjoy) it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36"/>
              <a:defRPr/>
            </a:pPr>
            <a:r>
              <a:rPr lang="en-US"/>
              <a:t>If I .................... (be) in your position I would act differently</a:t>
            </a:r>
            <a:r>
              <a:rPr lang="en-US"/>
              <a:t>. </a:t>
            </a:r>
            <a:endParaRPr lang="en-US"/>
          </a:p>
        </p:txBody>
      </p:sp>
      <p:sp>
        <p:nvSpPr>
          <p:cNvPr id="166" name="QUESTION 1"/>
          <p:cNvSpPr txBox="1">
            <a:spLocks noGrp="1"/>
          </p:cNvSpPr>
          <p:nvPr>
            <p:ph type="title"/>
          </p:nvPr>
        </p:nvSpPr>
        <p:spPr>
          <a:xfrm>
            <a:off x="696515" y="601101"/>
            <a:ext cx="20128208" cy="78408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just" rtl="0">
              <a:lnSpc>
                <a:spcPct val="150000"/>
              </a:lnSpc>
              <a:spcBef>
                <a:spcPts val="1800"/>
              </a:spcBef>
              <a:defRPr/>
            </a:pPr>
            <a:r>
              <a:rPr lang="en-US"/>
              <a:t>Put the verbs in brackets into their correct forms: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C7AA3-8A76-D24A-96F9-B8F1966220B8}"/>
              </a:ext>
            </a:extLst>
          </p:cNvPr>
          <p:cNvSpPr txBox="1"/>
          <p:nvPr/>
        </p:nvSpPr>
        <p:spPr>
          <a:xfrm>
            <a:off x="602651" y="7402669"/>
            <a:ext cx="12192000" cy="4462760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>
            <a:normAutofit/>
          </a:bodyPr>
          <a:lstStyle>
            <a:lvl1pPr algn="just">
              <a:lnSpc>
                <a:spcPct val="150000"/>
              </a:lnSpc>
              <a:spcBef>
                <a:spcPts val="3600"/>
              </a:spcBef>
              <a:defRPr sz="3200">
                <a:latin typeface="Palatino"/>
                <a:ea typeface="Palatino"/>
                <a:cs typeface="Palatino"/>
                <a:sym typeface="Palatino"/>
              </a:defRPr>
            </a:lvl1pPr>
            <a:lvl2pPr indent="0" algn="l">
              <a:spcBef>
                <a:spcPts val="24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2pPr>
            <a:lvl3pPr indent="762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3pPr>
            <a:lvl4pPr indent="1143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4pPr>
            <a:lvl5pPr indent="1524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5pPr>
            <a:lvl6pPr marL="2438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6pPr>
            <a:lvl7pPr marL="2819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7pPr>
            <a:lvl8pPr marL="3200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8pPr>
            <a:lvl9pPr marL="3581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he ratio of ages of the ages of Aman and Boman is 3 : 4. In five years, the ratio of their ages will be 7 : 9. Find the current ages of Aman and Boman respectively.…"/>
          <p:cNvSpPr txBox="1">
            <a:spLocks/>
          </p:cNvSpPr>
          <p:nvPr/>
        </p:nvSpPr>
        <p:spPr>
          <a:xfrm>
            <a:off x="12647166" y="1385190"/>
            <a:ext cx="10972800" cy="1033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Autofit/>
          </a:bodyPr>
          <a:lstStyle>
            <a:lvl1pPr marL="0" marR="0" indent="0" algn="l" defTabSz="228600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Palatino"/>
                <a:cs typeface="Arial" panose="020B0604020202020204" pitchFamily="34" charset="0"/>
                <a:sym typeface="Palatino"/>
              </a:defRPr>
            </a:lvl1pPr>
            <a:lvl2pPr marL="0" marR="0" indent="0" algn="l" defTabSz="2438339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0" marR="0" indent="762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0" marR="0" indent="1143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0" marR="0" indent="1524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2438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2819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3200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3581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731520" indent="-731520" algn="just">
              <a:lnSpc>
                <a:spcPct val="150000"/>
              </a:lnSpc>
              <a:buFont typeface="+mj-lt"/>
              <a:buAutoNum type="arabicPeriod" startAt="43"/>
              <a:defRPr/>
            </a:pPr>
            <a:r>
              <a:rPr lang="en-US" smtClean="0"/>
              <a:t>If </a:t>
            </a:r>
            <a:r>
              <a:rPr lang="en-US"/>
              <a:t>he had had 50 euros, he .................... (go) to the stadium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43"/>
              <a:defRPr/>
            </a:pPr>
            <a:r>
              <a:rPr lang="en-US" smtClean="0"/>
              <a:t>If </a:t>
            </a:r>
            <a:r>
              <a:rPr lang="en-US"/>
              <a:t>that ship .................... (sink) there will not be enough life boats on board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43"/>
              <a:defRPr/>
            </a:pPr>
            <a:r>
              <a:rPr lang="en-US" smtClean="0"/>
              <a:t>If </a:t>
            </a:r>
            <a:r>
              <a:rPr lang="en-US"/>
              <a:t>he .................... (be) able to win that match he would have made it to the finals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43"/>
              <a:defRPr/>
            </a:pPr>
            <a:r>
              <a:rPr lang="en-US" smtClean="0"/>
              <a:t>If </a:t>
            </a:r>
            <a:r>
              <a:rPr lang="en-US"/>
              <a:t>it .................... (clear) up we could still have a game of tennis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43"/>
              <a:defRPr/>
            </a:pPr>
            <a:r>
              <a:rPr lang="en-US" smtClean="0"/>
              <a:t>If </a:t>
            </a:r>
            <a:r>
              <a:rPr lang="en-US"/>
              <a:t>he sends the letter off today Joan .................... (have) it by </a:t>
            </a:r>
            <a:r>
              <a:rPr lang="en-US"/>
              <a:t>Monday</a:t>
            </a:r>
            <a:r>
              <a:rPr lang="en-US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35648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he ratio of ages of the ages of Aman and Boman is 3 : 4. In five years, the ratio of their ages will be 7 : 9. Find the current ages of Aman and Boman respectively.…"/>
          <p:cNvSpPr txBox="1">
            <a:spLocks noGrp="1"/>
          </p:cNvSpPr>
          <p:nvPr>
            <p:ph type="body" idx="1"/>
          </p:nvPr>
        </p:nvSpPr>
        <p:spPr>
          <a:xfrm>
            <a:off x="646193" y="1385190"/>
            <a:ext cx="10972800" cy="10336022"/>
          </a:xfrm>
          <a:prstGeom prst="rect">
            <a:avLst/>
          </a:prstGeom>
        </p:spPr>
        <p:txBody>
          <a:bodyPr>
            <a:noAutofit/>
          </a:bodyPr>
          <a:lstStyle/>
          <a:p>
            <a:pPr marL="731520" indent="-731520" algn="just" rtl="0">
              <a:lnSpc>
                <a:spcPct val="150000"/>
              </a:lnSpc>
              <a:buFont typeface="+mj-lt"/>
              <a:buAutoNum type="arabicPeriod" startAt="48"/>
              <a:defRPr/>
            </a:pPr>
            <a:r>
              <a:rPr lang="en-US" smtClean="0"/>
              <a:t>If </a:t>
            </a:r>
            <a:r>
              <a:rPr lang="en-US"/>
              <a:t>I .................... (not smoke) like a chimney the curtains would not get so yellow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48"/>
              <a:defRPr/>
            </a:pPr>
            <a:r>
              <a:rPr lang="en-US" smtClean="0"/>
              <a:t>If </a:t>
            </a:r>
            <a:r>
              <a:rPr lang="en-US"/>
              <a:t>my wife .................... (have) a dishwasher I would not have to dry up daily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48"/>
              <a:defRPr/>
            </a:pPr>
            <a:r>
              <a:rPr lang="en-US" smtClean="0"/>
              <a:t>If </a:t>
            </a:r>
            <a:r>
              <a:rPr lang="en-US"/>
              <a:t>you are good I .................... (buy) you a box of chocolates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48"/>
              <a:defRPr/>
            </a:pPr>
            <a:r>
              <a:rPr lang="en-US" smtClean="0"/>
              <a:t>If </a:t>
            </a:r>
            <a:r>
              <a:rPr lang="en-US"/>
              <a:t>John .................... (eat) those mushrooms he would not have survived</a:t>
            </a:r>
            <a:r>
              <a:rPr lang="en-US"/>
              <a:t>. </a:t>
            </a:r>
            <a:endParaRPr lang="en-US" smtClean="0"/>
          </a:p>
          <a:p>
            <a:pPr marL="731520" indent="-731520" algn="just" rtl="0">
              <a:lnSpc>
                <a:spcPct val="150000"/>
              </a:lnSpc>
              <a:buFont typeface="+mj-lt"/>
              <a:buAutoNum type="arabicPeriod" startAt="48"/>
              <a:defRPr/>
            </a:pPr>
            <a:r>
              <a:rPr lang="en-US" smtClean="0"/>
              <a:t>If </a:t>
            </a:r>
            <a:r>
              <a:rPr lang="en-US"/>
              <a:t>the weather lasts for one more week the farmers .................... (be) able to bring in the harvest</a:t>
            </a:r>
            <a:r>
              <a:rPr lang="en-US"/>
              <a:t>. 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6" name="QUESTION 1"/>
          <p:cNvSpPr txBox="1">
            <a:spLocks noGrp="1"/>
          </p:cNvSpPr>
          <p:nvPr>
            <p:ph type="title"/>
          </p:nvPr>
        </p:nvSpPr>
        <p:spPr>
          <a:xfrm>
            <a:off x="696515" y="601101"/>
            <a:ext cx="20128208" cy="78408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just" rtl="0">
              <a:lnSpc>
                <a:spcPct val="150000"/>
              </a:lnSpc>
              <a:spcBef>
                <a:spcPts val="1800"/>
              </a:spcBef>
              <a:defRPr/>
            </a:pPr>
            <a:r>
              <a:rPr lang="en-US"/>
              <a:t>Put the verbs in brackets into their correct forms: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C7AA3-8A76-D24A-96F9-B8F1966220B8}"/>
              </a:ext>
            </a:extLst>
          </p:cNvPr>
          <p:cNvSpPr txBox="1"/>
          <p:nvPr/>
        </p:nvSpPr>
        <p:spPr>
          <a:xfrm>
            <a:off x="602651" y="7402669"/>
            <a:ext cx="12192000" cy="4462760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>
            <a:normAutofit/>
          </a:bodyPr>
          <a:lstStyle>
            <a:lvl1pPr algn="just">
              <a:lnSpc>
                <a:spcPct val="150000"/>
              </a:lnSpc>
              <a:spcBef>
                <a:spcPts val="3600"/>
              </a:spcBef>
              <a:defRPr sz="3200">
                <a:latin typeface="Palatino"/>
                <a:ea typeface="Palatino"/>
                <a:cs typeface="Palatino"/>
                <a:sym typeface="Palatino"/>
              </a:defRPr>
            </a:lvl1pPr>
            <a:lvl2pPr indent="0" algn="l">
              <a:spcBef>
                <a:spcPts val="24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2pPr>
            <a:lvl3pPr indent="762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3pPr>
            <a:lvl4pPr indent="1143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4pPr>
            <a:lvl5pPr indent="1524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5pPr>
            <a:lvl6pPr marL="2438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6pPr>
            <a:lvl7pPr marL="2819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7pPr>
            <a:lvl8pPr marL="3200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8pPr>
            <a:lvl9pPr marL="3581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he ratio of ages of the ages of Aman and Boman is 3 : 4. In five years, the ratio of their ages will be 7 : 9. Find the current ages of Aman and Boman respectively.…"/>
          <p:cNvSpPr txBox="1">
            <a:spLocks/>
          </p:cNvSpPr>
          <p:nvPr/>
        </p:nvSpPr>
        <p:spPr>
          <a:xfrm>
            <a:off x="12647166" y="1385190"/>
            <a:ext cx="10972800" cy="1033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Autofit/>
          </a:bodyPr>
          <a:lstStyle>
            <a:lvl1pPr marL="0" marR="0" indent="0" algn="l" defTabSz="228600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Palatino"/>
                <a:cs typeface="Arial" panose="020B0604020202020204" pitchFamily="34" charset="0"/>
                <a:sym typeface="Palatino"/>
              </a:defRPr>
            </a:lvl1pPr>
            <a:lvl2pPr marL="0" marR="0" indent="0" algn="l" defTabSz="2438339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0" marR="0" indent="762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0" marR="0" indent="1143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0" marR="0" indent="1524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2438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2819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3200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3581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731520" indent="-731520" algn="just">
              <a:lnSpc>
                <a:spcPct val="150000"/>
              </a:lnSpc>
              <a:buFont typeface="+mj-lt"/>
              <a:buAutoNum type="arabicPeriod" startAt="53"/>
              <a:defRPr/>
            </a:pPr>
            <a:r>
              <a:rPr lang="en-US" smtClean="0"/>
              <a:t>He </a:t>
            </a:r>
            <a:r>
              <a:rPr lang="en-US"/>
              <a:t>might have been happier at school if he .................... (be) good at sport 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3"/>
              <a:defRPr/>
            </a:pPr>
            <a:r>
              <a:rPr lang="en-US" smtClean="0"/>
              <a:t>If </a:t>
            </a:r>
            <a:r>
              <a:rPr lang="en-US"/>
              <a:t>his French lessons at school .................... (be) more interesting, he wouldn´t have studied German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3"/>
              <a:defRPr/>
            </a:pPr>
            <a:r>
              <a:rPr lang="en-US" smtClean="0"/>
              <a:t>If </a:t>
            </a:r>
            <a:r>
              <a:rPr lang="en-US"/>
              <a:t>he hadn´t specialized in languages, he .................... (might do) mathematics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3"/>
              <a:defRPr/>
            </a:pPr>
            <a:r>
              <a:rPr lang="en-US" smtClean="0"/>
              <a:t>When </a:t>
            </a:r>
            <a:r>
              <a:rPr lang="en-US"/>
              <a:t>he was 24, he was seriously ill. If he hadn´t been sent to a very good hospital, he .................... (could die</a:t>
            </a:r>
            <a:r>
              <a:rPr lang="en-US"/>
              <a:t>).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3"/>
              <a:defRPr/>
            </a:pPr>
            <a:r>
              <a:rPr lang="en-US" smtClean="0"/>
              <a:t>He </a:t>
            </a:r>
            <a:r>
              <a:rPr lang="en-US"/>
              <a:t>wouldn´t have become a teacher if he .................... (not meet) a certain man</a:t>
            </a:r>
            <a:r>
              <a:rPr lang="en-US"/>
              <a:t>. 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9281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he ratio of ages of the ages of Aman and Boman is 3 : 4. In five years, the ratio of their ages will be 7 : 9. Find the current ages of Aman and Boman respectively.…"/>
          <p:cNvSpPr txBox="1">
            <a:spLocks noGrp="1"/>
          </p:cNvSpPr>
          <p:nvPr>
            <p:ph type="body" idx="1"/>
          </p:nvPr>
        </p:nvSpPr>
        <p:spPr>
          <a:xfrm>
            <a:off x="646193" y="1385190"/>
            <a:ext cx="10972800" cy="10336022"/>
          </a:xfrm>
          <a:prstGeom prst="rect">
            <a:avLst/>
          </a:prstGeom>
        </p:spPr>
        <p:txBody>
          <a:bodyPr>
            <a:noAutofit/>
          </a:bodyPr>
          <a:lstStyle/>
          <a:p>
            <a:pPr marL="731520" indent="-731520" algn="just">
              <a:lnSpc>
                <a:spcPct val="150000"/>
              </a:lnSpc>
              <a:buFont typeface="+mj-lt"/>
              <a:buAutoNum type="arabicPeriod" startAt="58"/>
              <a:defRPr/>
            </a:pPr>
            <a:r>
              <a:rPr lang="en-US" smtClean="0"/>
              <a:t>If </a:t>
            </a:r>
            <a:r>
              <a:rPr lang="en-US"/>
              <a:t>he hadn´t met a certain woman, he .................... (might not go) to live abroad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8"/>
              <a:defRPr/>
            </a:pPr>
            <a:r>
              <a:rPr lang="en-US" smtClean="0"/>
              <a:t>If </a:t>
            </a:r>
            <a:r>
              <a:rPr lang="en-US"/>
              <a:t>he .................... (work) less hard, he might enjoy </a:t>
            </a:r>
            <a:r>
              <a:rPr lang="en-US"/>
              <a:t>himself </a:t>
            </a:r>
            <a:r>
              <a:rPr lang="en-US" smtClean="0"/>
              <a:t>more</a:t>
            </a:r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8"/>
              <a:defRPr/>
            </a:pPr>
            <a:r>
              <a:rPr lang="en-US"/>
              <a:t>He would not have been so happy if he </a:t>
            </a:r>
            <a:r>
              <a:rPr lang="en-US"/>
              <a:t>....................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(not </a:t>
            </a:r>
            <a:r>
              <a:rPr lang="en-US"/>
              <a:t>have) a very good life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8"/>
              <a:defRPr/>
            </a:pPr>
            <a:r>
              <a:rPr lang="en-US" smtClean="0"/>
              <a:t>If </a:t>
            </a:r>
            <a:r>
              <a:rPr lang="en-US"/>
              <a:t>I .................... (be) you I would go home immediately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8"/>
              <a:defRPr/>
            </a:pPr>
            <a:r>
              <a:rPr lang="en-US" smtClean="0"/>
              <a:t>If </a:t>
            </a:r>
            <a:r>
              <a:rPr lang="en-US"/>
              <a:t>you had married Peter you .................... (have) a very unhappy life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58"/>
              <a:defRPr/>
            </a:pPr>
            <a:r>
              <a:rPr lang="en-US" smtClean="0"/>
              <a:t>I </a:t>
            </a:r>
            <a:r>
              <a:rPr lang="en-US"/>
              <a:t>would tell you the answer if I .................... (know) it</a:t>
            </a:r>
            <a:r>
              <a:rPr lang="en-US"/>
              <a:t>. 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6" name="QUESTION 1"/>
          <p:cNvSpPr txBox="1">
            <a:spLocks noGrp="1"/>
          </p:cNvSpPr>
          <p:nvPr>
            <p:ph type="title"/>
          </p:nvPr>
        </p:nvSpPr>
        <p:spPr>
          <a:xfrm>
            <a:off x="696515" y="601101"/>
            <a:ext cx="20128208" cy="78408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just" rtl="0">
              <a:lnSpc>
                <a:spcPct val="150000"/>
              </a:lnSpc>
              <a:spcBef>
                <a:spcPts val="1800"/>
              </a:spcBef>
              <a:defRPr/>
            </a:pPr>
            <a:r>
              <a:rPr lang="en-US"/>
              <a:t>Put the verbs in brackets into their correct forms: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C7AA3-8A76-D24A-96F9-B8F1966220B8}"/>
              </a:ext>
            </a:extLst>
          </p:cNvPr>
          <p:cNvSpPr txBox="1"/>
          <p:nvPr/>
        </p:nvSpPr>
        <p:spPr>
          <a:xfrm>
            <a:off x="602651" y="7402669"/>
            <a:ext cx="12192000" cy="4462760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>
            <a:normAutofit/>
          </a:bodyPr>
          <a:lstStyle>
            <a:lvl1pPr algn="just">
              <a:lnSpc>
                <a:spcPct val="150000"/>
              </a:lnSpc>
              <a:spcBef>
                <a:spcPts val="3600"/>
              </a:spcBef>
              <a:defRPr sz="3200">
                <a:latin typeface="Palatino"/>
                <a:ea typeface="Palatino"/>
                <a:cs typeface="Palatino"/>
                <a:sym typeface="Palatino"/>
              </a:defRPr>
            </a:lvl1pPr>
            <a:lvl2pPr indent="0" algn="l">
              <a:spcBef>
                <a:spcPts val="24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2pPr>
            <a:lvl3pPr indent="762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3pPr>
            <a:lvl4pPr indent="1143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4pPr>
            <a:lvl5pPr indent="1524000" algn="l">
              <a:lnSpc>
                <a:spcPct val="90000"/>
              </a:lnSpc>
              <a:spcBef>
                <a:spcPts val="4500"/>
              </a:spcBef>
              <a:defRPr sz="4200">
                <a:latin typeface="Palatino"/>
                <a:ea typeface="Palatino"/>
                <a:cs typeface="Palatino"/>
                <a:sym typeface="Palatino"/>
              </a:defRPr>
            </a:lvl5pPr>
            <a:lvl6pPr marL="2438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6pPr>
            <a:lvl7pPr marL="2819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7pPr>
            <a:lvl8pPr marL="3200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8pPr>
            <a:lvl9pPr marL="3581400" indent="-533400" algn="l">
              <a:spcBef>
                <a:spcPts val="3600"/>
              </a:spcBef>
              <a:buSzPct val="123000"/>
              <a:buChar char="•"/>
              <a:defRPr sz="4200"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he ratio of ages of the ages of Aman and Boman is 3 : 4. In five years, the ratio of their ages will be 7 : 9. Find the current ages of Aman and Boman respectively.…"/>
          <p:cNvSpPr txBox="1">
            <a:spLocks/>
          </p:cNvSpPr>
          <p:nvPr/>
        </p:nvSpPr>
        <p:spPr>
          <a:xfrm>
            <a:off x="12647166" y="1385190"/>
            <a:ext cx="10972800" cy="1033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Autofit/>
          </a:bodyPr>
          <a:lstStyle>
            <a:lvl1pPr marL="0" marR="0" indent="0" algn="l" defTabSz="228600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Palatino"/>
                <a:cs typeface="Arial" panose="020B0604020202020204" pitchFamily="34" charset="0"/>
                <a:sym typeface="Palatino"/>
              </a:defRPr>
            </a:lvl1pPr>
            <a:lvl2pPr marL="0" marR="0" indent="0" algn="l" defTabSz="2438339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0" marR="0" indent="762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0" marR="0" indent="1143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0" marR="0" indent="1524000" algn="l" defTabSz="2438339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2438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2819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3200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3581400" marR="0" indent="-533400" algn="l" defTabSz="2438339" latinLnBrk="0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200" b="0" i="0" u="none" strike="noStrike" cap="none" spc="0" baseline="0">
                <a:solidFill>
                  <a:srgbClr val="5E5E5E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731520" indent="-731520" algn="just">
              <a:lnSpc>
                <a:spcPct val="150000"/>
              </a:lnSpc>
              <a:buFont typeface="+mj-lt"/>
              <a:buAutoNum type="arabicPeriod" startAt="64"/>
              <a:defRPr/>
            </a:pPr>
            <a:r>
              <a:rPr lang="en-US" smtClean="0"/>
              <a:t>If </a:t>
            </a:r>
            <a:r>
              <a:rPr lang="en-US"/>
              <a:t>John .................... (smile) sometimes, he would be </a:t>
            </a:r>
            <a:r>
              <a:rPr lang="en-US"/>
              <a:t>more </a:t>
            </a:r>
            <a:r>
              <a:rPr lang="en-US" smtClean="0"/>
              <a:t>attractive</a:t>
            </a:r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64"/>
              <a:defRPr/>
            </a:pPr>
            <a:r>
              <a:rPr lang="en-US" smtClean="0"/>
              <a:t>I </a:t>
            </a:r>
            <a:r>
              <a:rPr lang="en-US"/>
              <a:t>.................... (learn) German if I had had more time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64"/>
              <a:defRPr/>
            </a:pPr>
            <a:r>
              <a:rPr lang="en-US" smtClean="0"/>
              <a:t>What </a:t>
            </a:r>
            <a:r>
              <a:rPr lang="en-US"/>
              <a:t>will you do if I .................... (go) away </a:t>
            </a:r>
            <a:r>
              <a:rPr lang="en-US"/>
              <a:t>?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64"/>
              <a:defRPr/>
            </a:pPr>
            <a:r>
              <a:rPr lang="en-US" smtClean="0"/>
              <a:t>If </a:t>
            </a:r>
            <a:r>
              <a:rPr lang="en-US"/>
              <a:t>you went away I .................... (invite) all my friends and have a party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64"/>
              <a:defRPr/>
            </a:pPr>
            <a:r>
              <a:rPr lang="en-US" smtClean="0"/>
              <a:t>I </a:t>
            </a:r>
            <a:r>
              <a:rPr lang="en-US"/>
              <a:t>.................... (send) Jane a postcard if I had known her address</a:t>
            </a:r>
            <a:r>
              <a:rPr lang="en-US"/>
              <a:t>. </a:t>
            </a:r>
            <a:endParaRPr lang="en-US" smtClean="0"/>
          </a:p>
          <a:p>
            <a:pPr marL="731520" indent="-731520" algn="just">
              <a:lnSpc>
                <a:spcPct val="150000"/>
              </a:lnSpc>
              <a:buFont typeface="+mj-lt"/>
              <a:buAutoNum type="arabicPeriod" startAt="64"/>
              <a:defRPr/>
            </a:pPr>
            <a:r>
              <a:rPr lang="en-US" smtClean="0"/>
              <a:t>Would </a:t>
            </a:r>
            <a:r>
              <a:rPr lang="en-US"/>
              <a:t>you still love me if I .................... (grow) </a:t>
            </a:r>
            <a:r>
              <a:rPr lang="en-US"/>
              <a:t>a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beard </a:t>
            </a:r>
            <a:r>
              <a:rPr lang="en-US"/>
              <a:t>? 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275743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2796</TotalTime>
  <Words>880</Words>
  <Application>Microsoft Office PowerPoint</Application>
  <PresentationFormat>Custom</PresentationFormat>
  <Paragraphs>83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EB Garamond Regular</vt:lpstr>
      <vt:lpstr>Franklin Gothic Medium</vt:lpstr>
      <vt:lpstr>Helvetica Neue</vt:lpstr>
      <vt:lpstr>Helvetica Neue Medium</vt:lpstr>
      <vt:lpstr>Palatino</vt:lpstr>
      <vt:lpstr>21_BasicWhite</vt:lpstr>
      <vt:lpstr>Tenses and conditionals practice</vt:lpstr>
      <vt:lpstr>Put the verbs in brackets into their correct forms:</vt:lpstr>
      <vt:lpstr>Put the verbs in brackets into their correct forms:</vt:lpstr>
      <vt:lpstr>Put the verbs in brackets into their correct forms:</vt:lpstr>
      <vt:lpstr>Put the verbs in brackets into their correct forms:</vt:lpstr>
      <vt:lpstr>Put the verbs in brackets into their correct forms:</vt:lpstr>
      <vt:lpstr>Put the verbs in brackets into their correct forms: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QA and DILR + Speed Mathematics</dc:title>
  <cp:lastModifiedBy>ftt</cp:lastModifiedBy>
  <cp:revision>1262</cp:revision>
  <dcterms:modified xsi:type="dcterms:W3CDTF">2025-05-01T11:26:46Z</dcterms:modified>
</cp:coreProperties>
</file>