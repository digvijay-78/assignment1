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307" r:id="rId2"/>
    <p:sldId id="949" r:id="rId3"/>
    <p:sldId id="966" r:id="rId4"/>
    <p:sldId id="952" r:id="rId5"/>
    <p:sldId id="953" r:id="rId6"/>
    <p:sldId id="954" r:id="rId7"/>
    <p:sldId id="956" r:id="rId8"/>
    <p:sldId id="955" r:id="rId9"/>
    <p:sldId id="957" r:id="rId10"/>
    <p:sldId id="921" r:id="rId11"/>
    <p:sldId id="941" r:id="rId12"/>
    <p:sldId id="942" r:id="rId13"/>
    <p:sldId id="943" r:id="rId14"/>
    <p:sldId id="958" r:id="rId15"/>
    <p:sldId id="959" r:id="rId16"/>
    <p:sldId id="945" r:id="rId17"/>
    <p:sldId id="948" r:id="rId18"/>
    <p:sldId id="946" r:id="rId19"/>
    <p:sldId id="960" r:id="rId20"/>
    <p:sldId id="962" r:id="rId21"/>
    <p:sldId id="963" r:id="rId22"/>
    <p:sldId id="964" r:id="rId23"/>
    <p:sldId id="965" r:id="rId24"/>
  </p:sldIdLst>
  <p:sldSz cx="17281525" cy="9721850"/>
  <p:notesSz cx="6858000" cy="9144000"/>
  <p:defaultTextStyle>
    <a:defPPr>
      <a:defRPr lang="en-US"/>
    </a:defPPr>
    <a:lvl1pPr marL="0" algn="l" defTabSz="1543050" rtl="0" eaLnBrk="1" latinLnBrk="0" hangingPunct="1">
      <a:defRPr sz="3000" kern="1200">
        <a:solidFill>
          <a:schemeClr val="tx1"/>
        </a:solidFill>
        <a:latin typeface="+mn-lt"/>
        <a:ea typeface="+mn-ea"/>
        <a:cs typeface="+mn-cs"/>
      </a:defRPr>
    </a:lvl1pPr>
    <a:lvl2pPr marL="771525" algn="l" defTabSz="1543050" rtl="0" eaLnBrk="1" latinLnBrk="0" hangingPunct="1">
      <a:defRPr sz="3000" kern="1200">
        <a:solidFill>
          <a:schemeClr val="tx1"/>
        </a:solidFill>
        <a:latin typeface="+mn-lt"/>
        <a:ea typeface="+mn-ea"/>
        <a:cs typeface="+mn-cs"/>
      </a:defRPr>
    </a:lvl2pPr>
    <a:lvl3pPr marL="1543050" algn="l" defTabSz="1543050" rtl="0" eaLnBrk="1" latinLnBrk="0" hangingPunct="1">
      <a:defRPr sz="3000" kern="1200">
        <a:solidFill>
          <a:schemeClr val="tx1"/>
        </a:solidFill>
        <a:latin typeface="+mn-lt"/>
        <a:ea typeface="+mn-ea"/>
        <a:cs typeface="+mn-cs"/>
      </a:defRPr>
    </a:lvl3pPr>
    <a:lvl4pPr marL="2314575" algn="l" defTabSz="1543050" rtl="0" eaLnBrk="1" latinLnBrk="0" hangingPunct="1">
      <a:defRPr sz="3000" kern="1200">
        <a:solidFill>
          <a:schemeClr val="tx1"/>
        </a:solidFill>
        <a:latin typeface="+mn-lt"/>
        <a:ea typeface="+mn-ea"/>
        <a:cs typeface="+mn-cs"/>
      </a:defRPr>
    </a:lvl4pPr>
    <a:lvl5pPr marL="3086100" algn="l" defTabSz="1543050" rtl="0" eaLnBrk="1" latinLnBrk="0" hangingPunct="1">
      <a:defRPr sz="3000" kern="1200">
        <a:solidFill>
          <a:schemeClr val="tx1"/>
        </a:solidFill>
        <a:latin typeface="+mn-lt"/>
        <a:ea typeface="+mn-ea"/>
        <a:cs typeface="+mn-cs"/>
      </a:defRPr>
    </a:lvl5pPr>
    <a:lvl6pPr marL="3857625" algn="l" defTabSz="1543050" rtl="0" eaLnBrk="1" latinLnBrk="0" hangingPunct="1">
      <a:defRPr sz="3000" kern="1200">
        <a:solidFill>
          <a:schemeClr val="tx1"/>
        </a:solidFill>
        <a:latin typeface="+mn-lt"/>
        <a:ea typeface="+mn-ea"/>
        <a:cs typeface="+mn-cs"/>
      </a:defRPr>
    </a:lvl6pPr>
    <a:lvl7pPr marL="4629150" algn="l" defTabSz="1543050" rtl="0" eaLnBrk="1" latinLnBrk="0" hangingPunct="1">
      <a:defRPr sz="3000" kern="1200">
        <a:solidFill>
          <a:schemeClr val="tx1"/>
        </a:solidFill>
        <a:latin typeface="+mn-lt"/>
        <a:ea typeface="+mn-ea"/>
        <a:cs typeface="+mn-cs"/>
      </a:defRPr>
    </a:lvl7pPr>
    <a:lvl8pPr marL="5400675" algn="l" defTabSz="1543050" rtl="0" eaLnBrk="1" latinLnBrk="0" hangingPunct="1">
      <a:defRPr sz="3000" kern="1200">
        <a:solidFill>
          <a:schemeClr val="tx1"/>
        </a:solidFill>
        <a:latin typeface="+mn-lt"/>
        <a:ea typeface="+mn-ea"/>
        <a:cs typeface="+mn-cs"/>
      </a:defRPr>
    </a:lvl8pPr>
    <a:lvl9pPr marL="6172200" algn="l" defTabSz="1543050" rtl="0" eaLnBrk="1" latinLnBrk="0" hangingPunct="1">
      <a:defRPr sz="30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3062">
          <p15:clr>
            <a:srgbClr val="A4A3A4"/>
          </p15:clr>
        </p15:guide>
        <p15:guide id="2" pos="5443">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0AFEF"/>
    <a:srgbClr val="ED3237"/>
    <a:srgbClr val="F4F3EC"/>
    <a:srgbClr val="FF3399"/>
    <a:srgbClr val="FFD243"/>
    <a:srgbClr val="FFDF79"/>
    <a:srgbClr val="FFF3CD"/>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7193" autoAdjust="0"/>
    <p:restoredTop sz="98703" autoAdjust="0"/>
  </p:normalViewPr>
  <p:slideViewPr>
    <p:cSldViewPr>
      <p:cViewPr varScale="1">
        <p:scale>
          <a:sx n="47" d="100"/>
          <a:sy n="47" d="100"/>
        </p:scale>
        <p:origin x="-548" y="-64"/>
      </p:cViewPr>
      <p:guideLst>
        <p:guide orient="horz" pos="3062"/>
        <p:guide pos="5443"/>
      </p:guideLst>
    </p:cSldViewPr>
  </p:slideViewPr>
  <p:outlineViewPr>
    <p:cViewPr>
      <p:scale>
        <a:sx n="33" d="100"/>
        <a:sy n="33" d="100"/>
      </p:scale>
      <p:origin x="0" y="0"/>
    </p:cViewPr>
    <p:sldLst>
      <p:sld r:id="rId1" collapse="1"/>
    </p:sldLst>
  </p:outlineViewPr>
  <p:notesTextViewPr>
    <p:cViewPr>
      <p:scale>
        <a:sx n="1" d="1"/>
        <a:sy n="1" d="1"/>
      </p:scale>
      <p:origin x="0" y="0"/>
    </p:cViewPr>
  </p:notesTextViewPr>
  <p:sorterViewPr>
    <p:cViewPr>
      <p:scale>
        <a:sx n="50" d="100"/>
        <a:sy n="50" d="100"/>
      </p:scale>
      <p:origin x="0" y="-8730"/>
    </p:cViewPr>
  </p:sorterViewPr>
  <p:notesViewPr>
    <p:cSldViewPr>
      <p:cViewPr varScale="1">
        <p:scale>
          <a:sx n="67" d="100"/>
          <a:sy n="67" d="100"/>
        </p:scale>
        <p:origin x="-2796" y="-96"/>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8FFA46F-CC41-471A-BD49-7840A8499DD0}" type="datetimeFigureOut">
              <a:rPr lang="en-US" smtClean="0"/>
              <a:pPr/>
              <a:t>5/5/2025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579FA41-50F0-4D9B-8071-273D457305FC}" type="slidenum">
              <a:rPr lang="en-US" smtClean="0"/>
              <a:pPr/>
              <a:t>‹#›</a:t>
            </a:fld>
            <a:endParaRPr lang="en-US"/>
          </a:p>
        </p:txBody>
      </p:sp>
    </p:spTree>
    <p:extLst>
      <p:ext uri="{BB962C8B-B14F-4D97-AF65-F5344CB8AC3E}">
        <p14:creationId xmlns="" xmlns:p14="http://schemas.microsoft.com/office/powerpoint/2010/main" val="19593891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BD2A565-A765-4629-A7CE-380639E4C6EC}" type="datetimeFigureOut">
              <a:rPr lang="en-IN" smtClean="0"/>
              <a:pPr/>
              <a:t>05-05-2025</a:t>
            </a:fld>
            <a:endParaRPr lang="en-IN"/>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3FB610-2326-4C6C-BF3C-11A8CACD4C9B}" type="slidenum">
              <a:rPr lang="en-IN" smtClean="0"/>
              <a:pPr/>
              <a:t>‹#›</a:t>
            </a:fld>
            <a:endParaRPr lang="en-IN"/>
          </a:p>
        </p:txBody>
      </p:sp>
    </p:spTree>
    <p:extLst>
      <p:ext uri="{BB962C8B-B14F-4D97-AF65-F5344CB8AC3E}">
        <p14:creationId xmlns="" xmlns:p14="http://schemas.microsoft.com/office/powerpoint/2010/main" val="2083002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93FB610-2326-4C6C-BF3C-11A8CACD4C9B}" type="slidenum">
              <a:rPr lang="en-IN" smtClean="0"/>
              <a:pPr/>
              <a:t>1</a:t>
            </a:fld>
            <a:endParaRPr lang="en-IN"/>
          </a:p>
        </p:txBody>
      </p:sp>
    </p:spTree>
    <p:extLst>
      <p:ext uri="{BB962C8B-B14F-4D97-AF65-F5344CB8AC3E}">
        <p14:creationId xmlns="" xmlns:p14="http://schemas.microsoft.com/office/powerpoint/2010/main" val="17571594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2</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3</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4</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5</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6</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7</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8</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9</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10</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11</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12</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13</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14</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15</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16</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17</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18</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19</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20</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21</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22</a:t>
            </a:fld>
            <a:endParaRPr lang="en-US"/>
          </a:p>
        </p:txBody>
      </p:sp>
    </p:spTree>
    <p:extLst>
      <p:ext uri="{BB962C8B-B14F-4D97-AF65-F5344CB8AC3E}">
        <p14:creationId xmlns="" xmlns:p14="http://schemas.microsoft.com/office/powerpoint/2010/main" val="10671153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23</a:t>
            </a:fld>
            <a:endParaRPr lang="en-US"/>
          </a:p>
        </p:txBody>
      </p:sp>
    </p:spTree>
    <p:extLst>
      <p:ext uri="{BB962C8B-B14F-4D97-AF65-F5344CB8AC3E}">
        <p14:creationId xmlns="" xmlns:p14="http://schemas.microsoft.com/office/powerpoint/2010/main" val="10671153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134831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 name="Picture 2" descr="D:\IMS Backup\Random Files\Pics\IMS logo_transparent.png"/>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rcRect/>
          <a:stretch>
            <a:fillRect/>
          </a:stretch>
        </p:blipFill>
        <p:spPr bwMode="auto">
          <a:xfrm>
            <a:off x="16184563" y="45812"/>
            <a:ext cx="1017930" cy="71350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587019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8" name="Picture 2" descr="D:\IMS Backup\Random Files\Pics\IMS logo_transparent.png"/>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rcRect/>
          <a:stretch>
            <a:fillRect/>
          </a:stretch>
        </p:blipFill>
        <p:spPr bwMode="auto">
          <a:xfrm>
            <a:off x="16184563" y="45812"/>
            <a:ext cx="1017930" cy="71350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248458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5460625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txStyles>
    <p:titleStyle>
      <a:lvl1pPr algn="l" defTabSz="1543050" rtl="0" eaLnBrk="1" latinLnBrk="0" hangingPunct="1">
        <a:spcBef>
          <a:spcPct val="0"/>
        </a:spcBef>
        <a:buNone/>
        <a:defRPr sz="8800" kern="1200">
          <a:solidFill>
            <a:schemeClr val="tx1"/>
          </a:solidFill>
          <a:latin typeface="Futura New Cond Bold" pitchFamily="34" charset="0"/>
          <a:ea typeface="+mj-ea"/>
          <a:cs typeface="+mj-cs"/>
        </a:defRPr>
      </a:lvl1pPr>
    </p:titleStyle>
    <p:bodyStyle>
      <a:lvl1pPr marL="578644" indent="-578644" algn="l" defTabSz="1543050" rtl="0" eaLnBrk="1" latinLnBrk="0" hangingPunct="1">
        <a:spcBef>
          <a:spcPct val="20000"/>
        </a:spcBef>
        <a:buSzPct val="70000"/>
        <a:buFont typeface="Wingdings" panose="05000000000000000000" pitchFamily="2" charset="2"/>
        <a:buChar char="q"/>
        <a:defRPr sz="4800" kern="1200">
          <a:solidFill>
            <a:schemeClr val="tx1"/>
          </a:solidFill>
          <a:latin typeface="HP Simplified" pitchFamily="34" charset="0"/>
          <a:ea typeface="+mn-ea"/>
          <a:cs typeface="+mn-cs"/>
        </a:defRPr>
      </a:lvl1pPr>
      <a:lvl2pPr marL="1253728" indent="-482203" algn="l" defTabSz="1543050" rtl="0" eaLnBrk="1" latinLnBrk="0" hangingPunct="1">
        <a:spcBef>
          <a:spcPct val="20000"/>
        </a:spcBef>
        <a:buFont typeface="Arial" panose="020B0604020202020204" pitchFamily="34" charset="0"/>
        <a:buChar char="–"/>
        <a:defRPr sz="4400" kern="1200">
          <a:solidFill>
            <a:schemeClr val="tx1"/>
          </a:solidFill>
          <a:latin typeface="HP Simplified" pitchFamily="34" charset="0"/>
          <a:ea typeface="+mn-ea"/>
          <a:cs typeface="+mn-cs"/>
        </a:defRPr>
      </a:lvl2pPr>
      <a:lvl3pPr marL="1928813" indent="-385763" algn="l" defTabSz="1543050" rtl="0" eaLnBrk="1" latinLnBrk="0" hangingPunct="1">
        <a:spcBef>
          <a:spcPct val="20000"/>
        </a:spcBef>
        <a:buFont typeface="Arial" panose="020B0604020202020204" pitchFamily="34" charset="0"/>
        <a:buChar char="•"/>
        <a:defRPr sz="4000" kern="1200">
          <a:solidFill>
            <a:schemeClr val="tx1"/>
          </a:solidFill>
          <a:latin typeface="HP Simplified" pitchFamily="34" charset="0"/>
          <a:ea typeface="+mn-ea"/>
          <a:cs typeface="+mn-cs"/>
        </a:defRPr>
      </a:lvl3pPr>
      <a:lvl4pPr marL="2700338" indent="-385763" algn="l" defTabSz="1543050" rtl="0" eaLnBrk="1" latinLnBrk="0" hangingPunct="1">
        <a:spcBef>
          <a:spcPct val="20000"/>
        </a:spcBef>
        <a:buFont typeface="Arial" panose="020B0604020202020204" pitchFamily="34" charset="0"/>
        <a:buChar char="–"/>
        <a:defRPr sz="3200" kern="1200">
          <a:solidFill>
            <a:schemeClr val="tx1"/>
          </a:solidFill>
          <a:latin typeface="HP Simplified" pitchFamily="34" charset="0"/>
          <a:ea typeface="+mn-ea"/>
          <a:cs typeface="+mn-cs"/>
        </a:defRPr>
      </a:lvl4pPr>
      <a:lvl5pPr marL="3471863" indent="-385763" algn="l" defTabSz="1543050" rtl="0" eaLnBrk="1" latinLnBrk="0" hangingPunct="1">
        <a:spcBef>
          <a:spcPct val="20000"/>
        </a:spcBef>
        <a:buFont typeface="Arial" panose="020B0604020202020204" pitchFamily="34" charset="0"/>
        <a:buChar char="»"/>
        <a:defRPr sz="3200" kern="1200">
          <a:solidFill>
            <a:schemeClr val="tx1"/>
          </a:solidFill>
          <a:latin typeface="HP Simplified" pitchFamily="34" charset="0"/>
          <a:ea typeface="+mn-ea"/>
          <a:cs typeface="+mn-cs"/>
        </a:defRPr>
      </a:lvl5pPr>
      <a:lvl6pPr marL="4243388" indent="-385763" algn="l" defTabSz="1543050" rtl="0" eaLnBrk="1" latinLnBrk="0" hangingPunct="1">
        <a:spcBef>
          <a:spcPct val="20000"/>
        </a:spcBef>
        <a:buFont typeface="Arial" panose="020B0604020202020204" pitchFamily="34" charset="0"/>
        <a:buChar char="•"/>
        <a:defRPr sz="3400" kern="1200">
          <a:solidFill>
            <a:schemeClr val="tx1"/>
          </a:solidFill>
          <a:latin typeface="+mn-lt"/>
          <a:ea typeface="+mn-ea"/>
          <a:cs typeface="+mn-cs"/>
        </a:defRPr>
      </a:lvl6pPr>
      <a:lvl7pPr marL="5014913" indent="-385763" algn="l" defTabSz="1543050" rtl="0" eaLnBrk="1" latinLnBrk="0" hangingPunct="1">
        <a:spcBef>
          <a:spcPct val="20000"/>
        </a:spcBef>
        <a:buFont typeface="Arial" panose="020B0604020202020204" pitchFamily="34" charset="0"/>
        <a:buChar char="•"/>
        <a:defRPr sz="3400" kern="1200">
          <a:solidFill>
            <a:schemeClr val="tx1"/>
          </a:solidFill>
          <a:latin typeface="+mn-lt"/>
          <a:ea typeface="+mn-ea"/>
          <a:cs typeface="+mn-cs"/>
        </a:defRPr>
      </a:lvl7pPr>
      <a:lvl8pPr marL="5786438" indent="-385763" algn="l" defTabSz="1543050" rtl="0" eaLnBrk="1" latinLnBrk="0" hangingPunct="1">
        <a:spcBef>
          <a:spcPct val="20000"/>
        </a:spcBef>
        <a:buFont typeface="Arial" panose="020B0604020202020204" pitchFamily="34" charset="0"/>
        <a:buChar char="•"/>
        <a:defRPr sz="3400" kern="1200">
          <a:solidFill>
            <a:schemeClr val="tx1"/>
          </a:solidFill>
          <a:latin typeface="+mn-lt"/>
          <a:ea typeface="+mn-ea"/>
          <a:cs typeface="+mn-cs"/>
        </a:defRPr>
      </a:lvl8pPr>
      <a:lvl9pPr marL="6557963" indent="-385763" algn="l" defTabSz="1543050" rtl="0" eaLnBrk="1" latinLnBrk="0" hangingPunct="1">
        <a:spcBef>
          <a:spcPct val="20000"/>
        </a:spcBef>
        <a:buFont typeface="Arial" panose="020B0604020202020204" pitchFamily="34" charset="0"/>
        <a:buChar char="•"/>
        <a:defRPr sz="3400" kern="1200">
          <a:solidFill>
            <a:schemeClr val="tx1"/>
          </a:solidFill>
          <a:latin typeface="+mn-lt"/>
          <a:ea typeface="+mn-ea"/>
          <a:cs typeface="+mn-cs"/>
        </a:defRPr>
      </a:lvl9pPr>
    </p:bodyStyle>
    <p:otherStyle>
      <a:defPPr>
        <a:defRPr lang="en-US"/>
      </a:defPPr>
      <a:lvl1pPr marL="0" algn="l" defTabSz="1543050" rtl="0" eaLnBrk="1" latinLnBrk="0" hangingPunct="1">
        <a:defRPr sz="3000" kern="1200">
          <a:solidFill>
            <a:schemeClr val="tx1"/>
          </a:solidFill>
          <a:latin typeface="+mn-lt"/>
          <a:ea typeface="+mn-ea"/>
          <a:cs typeface="+mn-cs"/>
        </a:defRPr>
      </a:lvl1pPr>
      <a:lvl2pPr marL="771525" algn="l" defTabSz="1543050" rtl="0" eaLnBrk="1" latinLnBrk="0" hangingPunct="1">
        <a:defRPr sz="3000" kern="1200">
          <a:solidFill>
            <a:schemeClr val="tx1"/>
          </a:solidFill>
          <a:latin typeface="+mn-lt"/>
          <a:ea typeface="+mn-ea"/>
          <a:cs typeface="+mn-cs"/>
        </a:defRPr>
      </a:lvl2pPr>
      <a:lvl3pPr marL="1543050" algn="l" defTabSz="1543050" rtl="0" eaLnBrk="1" latinLnBrk="0" hangingPunct="1">
        <a:defRPr sz="3000" kern="1200">
          <a:solidFill>
            <a:schemeClr val="tx1"/>
          </a:solidFill>
          <a:latin typeface="+mn-lt"/>
          <a:ea typeface="+mn-ea"/>
          <a:cs typeface="+mn-cs"/>
        </a:defRPr>
      </a:lvl3pPr>
      <a:lvl4pPr marL="2314575" algn="l" defTabSz="1543050" rtl="0" eaLnBrk="1" latinLnBrk="0" hangingPunct="1">
        <a:defRPr sz="3000" kern="1200">
          <a:solidFill>
            <a:schemeClr val="tx1"/>
          </a:solidFill>
          <a:latin typeface="+mn-lt"/>
          <a:ea typeface="+mn-ea"/>
          <a:cs typeface="+mn-cs"/>
        </a:defRPr>
      </a:lvl4pPr>
      <a:lvl5pPr marL="3086100" algn="l" defTabSz="1543050" rtl="0" eaLnBrk="1" latinLnBrk="0" hangingPunct="1">
        <a:defRPr sz="3000" kern="1200">
          <a:solidFill>
            <a:schemeClr val="tx1"/>
          </a:solidFill>
          <a:latin typeface="+mn-lt"/>
          <a:ea typeface="+mn-ea"/>
          <a:cs typeface="+mn-cs"/>
        </a:defRPr>
      </a:lvl5pPr>
      <a:lvl6pPr marL="3857625" algn="l" defTabSz="1543050" rtl="0" eaLnBrk="1" latinLnBrk="0" hangingPunct="1">
        <a:defRPr sz="3000" kern="1200">
          <a:solidFill>
            <a:schemeClr val="tx1"/>
          </a:solidFill>
          <a:latin typeface="+mn-lt"/>
          <a:ea typeface="+mn-ea"/>
          <a:cs typeface="+mn-cs"/>
        </a:defRPr>
      </a:lvl6pPr>
      <a:lvl7pPr marL="4629150" algn="l" defTabSz="1543050" rtl="0" eaLnBrk="1" latinLnBrk="0" hangingPunct="1">
        <a:defRPr sz="3000" kern="1200">
          <a:solidFill>
            <a:schemeClr val="tx1"/>
          </a:solidFill>
          <a:latin typeface="+mn-lt"/>
          <a:ea typeface="+mn-ea"/>
          <a:cs typeface="+mn-cs"/>
        </a:defRPr>
      </a:lvl7pPr>
      <a:lvl8pPr marL="5400675" algn="l" defTabSz="1543050" rtl="0" eaLnBrk="1" latinLnBrk="0" hangingPunct="1">
        <a:defRPr sz="3000" kern="1200">
          <a:solidFill>
            <a:schemeClr val="tx1"/>
          </a:solidFill>
          <a:latin typeface="+mn-lt"/>
          <a:ea typeface="+mn-ea"/>
          <a:cs typeface="+mn-cs"/>
        </a:defRPr>
      </a:lvl8pPr>
      <a:lvl9pPr marL="6172200" algn="l" defTabSz="1543050" rtl="0" eaLnBrk="1" latinLnBrk="0" hangingPunct="1">
        <a:defRPr sz="3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9"/>
          <p:cNvSpPr txBox="1">
            <a:spLocks/>
          </p:cNvSpPr>
          <p:nvPr/>
        </p:nvSpPr>
        <p:spPr>
          <a:xfrm>
            <a:off x="1" y="4251325"/>
            <a:ext cx="17281524" cy="1015663"/>
          </a:xfrm>
          <a:prstGeom prst="roundRect">
            <a:avLst>
              <a:gd name="adj" fmla="val 0"/>
            </a:avLst>
          </a:prstGeom>
          <a:noFill/>
          <a:ln w="25400" cap="flat" cmpd="sng" algn="ctr">
            <a:noFill/>
            <a:prstDash val="solid"/>
          </a:ln>
        </p:spPr>
        <p:style>
          <a:lnRef idx="2">
            <a:schemeClr val="dk1"/>
          </a:lnRef>
          <a:fillRef idx="1">
            <a:schemeClr val="lt1"/>
          </a:fillRef>
          <a:effectRef idx="0">
            <a:schemeClr val="dk1"/>
          </a:effectRef>
          <a:fontRef idx="minor">
            <a:schemeClr val="dk1"/>
          </a:fontRef>
        </p:style>
        <p:txBody>
          <a:bodyPr wrap="square" rtlCol="0">
            <a:spAutoFit/>
          </a:bodyPr>
          <a:lstStyle>
            <a:lvl1pPr algn="l" defTabSz="1543050" rtl="0" eaLnBrk="1" latinLnBrk="0" hangingPunct="1">
              <a:spcBef>
                <a:spcPct val="0"/>
              </a:spcBef>
              <a:buNone/>
              <a:defRPr sz="88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IN" sz="6000" b="1" dirty="0" smtClean="0">
                <a:solidFill>
                  <a:schemeClr val="tx1">
                    <a:lumMod val="95000"/>
                    <a:lumOff val="5000"/>
                  </a:schemeClr>
                </a:solidFill>
                <a:latin typeface="Baskerville Old Face" panose="02020602080505020303" pitchFamily="18" charset="0"/>
                <a:ea typeface="Cambria" pitchFamily="18" charset="0"/>
              </a:rPr>
              <a:t>PERCENTAGES</a:t>
            </a:r>
            <a:endParaRPr lang="en-US" sz="6000" b="1" dirty="0" smtClean="0">
              <a:solidFill>
                <a:schemeClr val="tx1">
                  <a:lumMod val="95000"/>
                  <a:lumOff val="5000"/>
                </a:schemeClr>
              </a:solidFill>
              <a:latin typeface="Baskerville Old Face" panose="02020602080505020303" pitchFamily="18" charset="0"/>
              <a:ea typeface="Cambria" pitchFamily="18" charset="0"/>
            </a:endParaRPr>
          </a:p>
        </p:txBody>
      </p:sp>
    </p:spTree>
    <p:extLst>
      <p:ext uri="{BB962C8B-B14F-4D97-AF65-F5344CB8AC3E}">
        <p14:creationId xmlns="" xmlns:p14="http://schemas.microsoft.com/office/powerpoint/2010/main" val="397389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Fraction to Percentage</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graphicFrame>
        <p:nvGraphicFramePr>
          <p:cNvPr id="44" name="Table 43"/>
          <p:cNvGraphicFramePr>
            <a:graphicFrameLocks noGrp="1"/>
          </p:cNvGraphicFramePr>
          <p:nvPr/>
        </p:nvGraphicFramePr>
        <p:xfrm>
          <a:off x="425392" y="1574777"/>
          <a:ext cx="4643470" cy="6500857"/>
        </p:xfrm>
        <a:graphic>
          <a:graphicData uri="http://schemas.openxmlformats.org/drawingml/2006/table">
            <a:tbl>
              <a:tblPr/>
              <a:tblGrid>
                <a:gridCol w="991810"/>
                <a:gridCol w="3651660"/>
              </a:tblGrid>
              <a:tr h="590987">
                <a:tc>
                  <a:txBody>
                    <a:bodyPr/>
                    <a:lstStyle/>
                    <a:p>
                      <a:r>
                        <a:rPr lang="en-US" sz="2000" b="1" dirty="0"/>
                        <a:t>Fraction</a:t>
                      </a:r>
                    </a:p>
                  </a:txBody>
                  <a:tcPr marL="60958" marR="60958" marT="30479" marB="30479" anchor="ctr">
                    <a:lnL>
                      <a:noFill/>
                    </a:lnL>
                    <a:lnR>
                      <a:noFill/>
                    </a:lnR>
                    <a:lnT>
                      <a:noFill/>
                    </a:lnT>
                    <a:lnB>
                      <a:noFill/>
                    </a:lnB>
                  </a:tcPr>
                </a:tc>
                <a:tc>
                  <a:txBody>
                    <a:bodyPr/>
                    <a:lstStyle/>
                    <a:p>
                      <a:r>
                        <a:rPr lang="en-US" sz="2000" b="1" dirty="0"/>
                        <a:t>Percentage</a:t>
                      </a:r>
                    </a:p>
                  </a:txBody>
                  <a:tcPr marL="60958" marR="60958" marT="30479" marB="30479" anchor="ctr">
                    <a:lnL>
                      <a:noFill/>
                    </a:lnL>
                    <a:lnR>
                      <a:noFill/>
                    </a:lnR>
                    <a:lnT>
                      <a:noFill/>
                    </a:lnT>
                    <a:lnB>
                      <a:noFill/>
                    </a:lnB>
                  </a:tcPr>
                </a:tc>
              </a:tr>
              <a:tr h="590987">
                <a:tc>
                  <a:txBody>
                    <a:bodyPr/>
                    <a:lstStyle/>
                    <a:p>
                      <a:r>
                        <a:rPr lang="en-US" sz="2000" b="1" dirty="0"/>
                        <a:t>1/1</a:t>
                      </a:r>
                    </a:p>
                  </a:txBody>
                  <a:tcPr marL="60958" marR="60958" marT="30479" marB="30479" anchor="ctr">
                    <a:lnL>
                      <a:noFill/>
                    </a:lnL>
                    <a:lnR>
                      <a:noFill/>
                    </a:lnR>
                    <a:lnT>
                      <a:noFill/>
                    </a:lnT>
                    <a:lnB>
                      <a:noFill/>
                    </a:lnB>
                  </a:tcPr>
                </a:tc>
                <a:tc>
                  <a:txBody>
                    <a:bodyPr/>
                    <a:lstStyle/>
                    <a:p>
                      <a:r>
                        <a:rPr lang="en-US" sz="2000" dirty="0"/>
                        <a:t>100%</a:t>
                      </a:r>
                    </a:p>
                  </a:txBody>
                  <a:tcPr marL="60958" marR="60958" marT="30479" marB="30479" anchor="ctr">
                    <a:lnL>
                      <a:noFill/>
                    </a:lnL>
                    <a:lnR>
                      <a:noFill/>
                    </a:lnR>
                    <a:lnT>
                      <a:noFill/>
                    </a:lnT>
                    <a:lnB>
                      <a:noFill/>
                    </a:lnB>
                  </a:tcPr>
                </a:tc>
              </a:tr>
              <a:tr h="590987">
                <a:tc>
                  <a:txBody>
                    <a:bodyPr/>
                    <a:lstStyle/>
                    <a:p>
                      <a:r>
                        <a:rPr lang="en-US" sz="2000" b="1" dirty="0"/>
                        <a:t>1/2</a:t>
                      </a:r>
                    </a:p>
                  </a:txBody>
                  <a:tcPr marL="60958" marR="60958" marT="30479" marB="30479" anchor="ctr">
                    <a:lnL>
                      <a:noFill/>
                    </a:lnL>
                    <a:lnR>
                      <a:noFill/>
                    </a:lnR>
                    <a:lnT>
                      <a:noFill/>
                    </a:lnT>
                    <a:lnB>
                      <a:noFill/>
                    </a:lnB>
                  </a:tcPr>
                </a:tc>
                <a:tc>
                  <a:txBody>
                    <a:bodyPr/>
                    <a:lstStyle/>
                    <a:p>
                      <a:r>
                        <a:rPr lang="en-US" sz="2000" dirty="0"/>
                        <a:t>50%</a:t>
                      </a:r>
                    </a:p>
                  </a:txBody>
                  <a:tcPr marL="60958" marR="60958" marT="30479" marB="30479" anchor="ctr">
                    <a:lnL>
                      <a:noFill/>
                    </a:lnL>
                    <a:lnR>
                      <a:noFill/>
                    </a:lnR>
                    <a:lnT>
                      <a:noFill/>
                    </a:lnT>
                    <a:lnB>
                      <a:noFill/>
                    </a:lnB>
                  </a:tcPr>
                </a:tc>
              </a:tr>
              <a:tr h="590987">
                <a:tc>
                  <a:txBody>
                    <a:bodyPr/>
                    <a:lstStyle/>
                    <a:p>
                      <a:r>
                        <a:rPr lang="en-US" sz="2000" b="1" dirty="0"/>
                        <a:t>1/3</a:t>
                      </a:r>
                    </a:p>
                  </a:txBody>
                  <a:tcPr marL="60958" marR="60958" marT="30479" marB="30479" anchor="ctr">
                    <a:lnL>
                      <a:noFill/>
                    </a:lnL>
                    <a:lnR>
                      <a:noFill/>
                    </a:lnR>
                    <a:lnT>
                      <a:noFill/>
                    </a:lnT>
                    <a:lnB>
                      <a:noFill/>
                    </a:lnB>
                  </a:tcPr>
                </a:tc>
                <a:tc>
                  <a:txBody>
                    <a:bodyPr/>
                    <a:lstStyle/>
                    <a:p>
                      <a:r>
                        <a:rPr lang="en-US" sz="2000"/>
                        <a:t>33.33%</a:t>
                      </a:r>
                    </a:p>
                  </a:txBody>
                  <a:tcPr marL="60958" marR="60958" marT="30479" marB="30479" anchor="ctr">
                    <a:lnL>
                      <a:noFill/>
                    </a:lnL>
                    <a:lnR>
                      <a:noFill/>
                    </a:lnR>
                    <a:lnT>
                      <a:noFill/>
                    </a:lnT>
                    <a:lnB>
                      <a:noFill/>
                    </a:lnB>
                  </a:tcPr>
                </a:tc>
              </a:tr>
              <a:tr h="590987">
                <a:tc>
                  <a:txBody>
                    <a:bodyPr/>
                    <a:lstStyle/>
                    <a:p>
                      <a:r>
                        <a:rPr lang="en-US" sz="2000" b="1" dirty="0"/>
                        <a:t>1/4</a:t>
                      </a:r>
                    </a:p>
                  </a:txBody>
                  <a:tcPr marL="60958" marR="60958" marT="30479" marB="30479" anchor="ctr">
                    <a:lnL>
                      <a:noFill/>
                    </a:lnL>
                    <a:lnR>
                      <a:noFill/>
                    </a:lnR>
                    <a:lnT>
                      <a:noFill/>
                    </a:lnT>
                    <a:lnB>
                      <a:noFill/>
                    </a:lnB>
                  </a:tcPr>
                </a:tc>
                <a:tc>
                  <a:txBody>
                    <a:bodyPr/>
                    <a:lstStyle/>
                    <a:p>
                      <a:r>
                        <a:rPr lang="en-US" sz="2000"/>
                        <a:t>25%</a:t>
                      </a:r>
                    </a:p>
                  </a:txBody>
                  <a:tcPr marL="60958" marR="60958" marT="30479" marB="30479" anchor="ctr">
                    <a:lnL>
                      <a:noFill/>
                    </a:lnL>
                    <a:lnR>
                      <a:noFill/>
                    </a:lnR>
                    <a:lnT>
                      <a:noFill/>
                    </a:lnT>
                    <a:lnB>
                      <a:noFill/>
                    </a:lnB>
                  </a:tcPr>
                </a:tc>
              </a:tr>
              <a:tr h="590987">
                <a:tc>
                  <a:txBody>
                    <a:bodyPr/>
                    <a:lstStyle/>
                    <a:p>
                      <a:r>
                        <a:rPr lang="en-US" sz="2000" b="1" dirty="0"/>
                        <a:t>1/5</a:t>
                      </a:r>
                    </a:p>
                  </a:txBody>
                  <a:tcPr marL="60958" marR="60958" marT="30479" marB="30479" anchor="ctr">
                    <a:lnL>
                      <a:noFill/>
                    </a:lnL>
                    <a:lnR>
                      <a:noFill/>
                    </a:lnR>
                    <a:lnT>
                      <a:noFill/>
                    </a:lnT>
                    <a:lnB>
                      <a:noFill/>
                    </a:lnB>
                  </a:tcPr>
                </a:tc>
                <a:tc>
                  <a:txBody>
                    <a:bodyPr/>
                    <a:lstStyle/>
                    <a:p>
                      <a:r>
                        <a:rPr lang="en-US" sz="2000"/>
                        <a:t>20%</a:t>
                      </a:r>
                    </a:p>
                  </a:txBody>
                  <a:tcPr marL="60958" marR="60958" marT="30479" marB="30479" anchor="ctr">
                    <a:lnL>
                      <a:noFill/>
                    </a:lnL>
                    <a:lnR>
                      <a:noFill/>
                    </a:lnR>
                    <a:lnT>
                      <a:noFill/>
                    </a:lnT>
                    <a:lnB>
                      <a:noFill/>
                    </a:lnB>
                  </a:tcPr>
                </a:tc>
              </a:tr>
              <a:tr h="590987">
                <a:tc>
                  <a:txBody>
                    <a:bodyPr/>
                    <a:lstStyle/>
                    <a:p>
                      <a:r>
                        <a:rPr lang="en-US" sz="2000" b="1" dirty="0"/>
                        <a:t>1/6</a:t>
                      </a:r>
                    </a:p>
                  </a:txBody>
                  <a:tcPr marL="60958" marR="60958" marT="30479" marB="30479" anchor="ctr">
                    <a:lnL>
                      <a:noFill/>
                    </a:lnL>
                    <a:lnR>
                      <a:noFill/>
                    </a:lnR>
                    <a:lnT>
                      <a:noFill/>
                    </a:lnT>
                    <a:lnB>
                      <a:noFill/>
                    </a:lnB>
                  </a:tcPr>
                </a:tc>
                <a:tc>
                  <a:txBody>
                    <a:bodyPr/>
                    <a:lstStyle/>
                    <a:p>
                      <a:r>
                        <a:rPr lang="en-US" sz="2000" dirty="0" smtClean="0"/>
                        <a:t>16.66%</a:t>
                      </a:r>
                      <a:endParaRPr lang="en-US" sz="2000" dirty="0"/>
                    </a:p>
                  </a:txBody>
                  <a:tcPr marL="60958" marR="60958" marT="30479" marB="30479" anchor="ctr">
                    <a:lnL>
                      <a:noFill/>
                    </a:lnL>
                    <a:lnR>
                      <a:noFill/>
                    </a:lnR>
                    <a:lnT>
                      <a:noFill/>
                    </a:lnT>
                    <a:lnB>
                      <a:noFill/>
                    </a:lnB>
                  </a:tcPr>
                </a:tc>
              </a:tr>
              <a:tr h="590987">
                <a:tc>
                  <a:txBody>
                    <a:bodyPr/>
                    <a:lstStyle/>
                    <a:p>
                      <a:r>
                        <a:rPr lang="en-US" sz="2000" b="1" dirty="0"/>
                        <a:t>1/7</a:t>
                      </a:r>
                    </a:p>
                  </a:txBody>
                  <a:tcPr marL="60958" marR="60958" marT="30479" marB="30479" anchor="ctr">
                    <a:lnL>
                      <a:noFill/>
                    </a:lnL>
                    <a:lnR>
                      <a:noFill/>
                    </a:lnR>
                    <a:lnT>
                      <a:noFill/>
                    </a:lnT>
                    <a:lnB>
                      <a:noFill/>
                    </a:lnB>
                  </a:tcPr>
                </a:tc>
                <a:tc>
                  <a:txBody>
                    <a:bodyPr/>
                    <a:lstStyle/>
                    <a:p>
                      <a:r>
                        <a:rPr lang="en-US" sz="2000" dirty="0" smtClean="0"/>
                        <a:t>14.28%</a:t>
                      </a:r>
                      <a:endParaRPr lang="en-US" sz="2000" dirty="0"/>
                    </a:p>
                  </a:txBody>
                  <a:tcPr marL="60958" marR="60958" marT="30479" marB="30479" anchor="ctr">
                    <a:lnL>
                      <a:noFill/>
                    </a:lnL>
                    <a:lnR>
                      <a:noFill/>
                    </a:lnR>
                    <a:lnT>
                      <a:noFill/>
                    </a:lnT>
                    <a:lnB>
                      <a:noFill/>
                    </a:lnB>
                  </a:tcPr>
                </a:tc>
              </a:tr>
              <a:tr h="590987">
                <a:tc>
                  <a:txBody>
                    <a:bodyPr/>
                    <a:lstStyle/>
                    <a:p>
                      <a:r>
                        <a:rPr lang="en-US" sz="2000" b="1" dirty="0"/>
                        <a:t>1/8</a:t>
                      </a:r>
                    </a:p>
                  </a:txBody>
                  <a:tcPr marL="60958" marR="60958" marT="30479" marB="30479" anchor="ctr">
                    <a:lnL>
                      <a:noFill/>
                    </a:lnL>
                    <a:lnR>
                      <a:noFill/>
                    </a:lnR>
                    <a:lnT>
                      <a:noFill/>
                    </a:lnT>
                    <a:lnB>
                      <a:noFill/>
                    </a:lnB>
                  </a:tcPr>
                </a:tc>
                <a:tc>
                  <a:txBody>
                    <a:bodyPr/>
                    <a:lstStyle/>
                    <a:p>
                      <a:r>
                        <a:rPr lang="en-US" sz="2000"/>
                        <a:t>12.5%</a:t>
                      </a:r>
                    </a:p>
                  </a:txBody>
                  <a:tcPr marL="60958" marR="60958" marT="30479" marB="30479" anchor="ctr">
                    <a:lnL>
                      <a:noFill/>
                    </a:lnL>
                    <a:lnR>
                      <a:noFill/>
                    </a:lnR>
                    <a:lnT>
                      <a:noFill/>
                    </a:lnT>
                    <a:lnB>
                      <a:noFill/>
                    </a:lnB>
                  </a:tcPr>
                </a:tc>
              </a:tr>
              <a:tr h="590987">
                <a:tc>
                  <a:txBody>
                    <a:bodyPr/>
                    <a:lstStyle/>
                    <a:p>
                      <a:r>
                        <a:rPr lang="en-US" sz="2000" b="1" dirty="0"/>
                        <a:t>1/9</a:t>
                      </a:r>
                    </a:p>
                  </a:txBody>
                  <a:tcPr marL="60958" marR="60958" marT="30479" marB="30479" anchor="ctr">
                    <a:lnL>
                      <a:noFill/>
                    </a:lnL>
                    <a:lnR>
                      <a:noFill/>
                    </a:lnR>
                    <a:lnT>
                      <a:noFill/>
                    </a:lnT>
                    <a:lnB>
                      <a:noFill/>
                    </a:lnB>
                  </a:tcPr>
                </a:tc>
                <a:tc>
                  <a:txBody>
                    <a:bodyPr/>
                    <a:lstStyle/>
                    <a:p>
                      <a:r>
                        <a:rPr lang="en-US" sz="2000"/>
                        <a:t>11.11%</a:t>
                      </a:r>
                    </a:p>
                  </a:txBody>
                  <a:tcPr marL="60958" marR="60958" marT="30479" marB="30479" anchor="ctr">
                    <a:lnL>
                      <a:noFill/>
                    </a:lnL>
                    <a:lnR>
                      <a:noFill/>
                    </a:lnR>
                    <a:lnT>
                      <a:noFill/>
                    </a:lnT>
                    <a:lnB>
                      <a:noFill/>
                    </a:lnB>
                  </a:tcPr>
                </a:tc>
              </a:tr>
              <a:tr h="590987">
                <a:tc>
                  <a:txBody>
                    <a:bodyPr/>
                    <a:lstStyle/>
                    <a:p>
                      <a:r>
                        <a:rPr lang="en-US" sz="2000" b="1" dirty="0"/>
                        <a:t>1/10</a:t>
                      </a:r>
                    </a:p>
                  </a:txBody>
                  <a:tcPr marL="60958" marR="60958" marT="30479" marB="30479" anchor="ctr">
                    <a:lnL>
                      <a:noFill/>
                    </a:lnL>
                    <a:lnR>
                      <a:noFill/>
                    </a:lnR>
                    <a:lnT>
                      <a:noFill/>
                    </a:lnT>
                    <a:lnB>
                      <a:noFill/>
                    </a:lnB>
                  </a:tcPr>
                </a:tc>
                <a:tc>
                  <a:txBody>
                    <a:bodyPr/>
                    <a:lstStyle/>
                    <a:p>
                      <a:r>
                        <a:rPr lang="en-US" sz="2000" dirty="0"/>
                        <a:t>10%</a:t>
                      </a:r>
                    </a:p>
                  </a:txBody>
                  <a:tcPr marL="60958" marR="60958" marT="30479" marB="30479" anchor="ctr">
                    <a:lnL>
                      <a:noFill/>
                    </a:lnL>
                    <a:lnR>
                      <a:noFill/>
                    </a:lnR>
                    <a:lnT>
                      <a:noFill/>
                    </a:lnT>
                    <a:lnB>
                      <a:noFill/>
                    </a:lnB>
                  </a:tcPr>
                </a:tc>
              </a:tr>
            </a:tbl>
          </a:graphicData>
        </a:graphic>
      </p:graphicFrame>
      <p:graphicFrame>
        <p:nvGraphicFramePr>
          <p:cNvPr id="45" name="Table 44"/>
          <p:cNvGraphicFramePr>
            <a:graphicFrameLocks noGrp="1"/>
          </p:cNvGraphicFramePr>
          <p:nvPr/>
        </p:nvGraphicFramePr>
        <p:xfrm>
          <a:off x="3640102" y="1646212"/>
          <a:ext cx="4643470" cy="6429423"/>
        </p:xfrm>
        <a:graphic>
          <a:graphicData uri="http://schemas.openxmlformats.org/drawingml/2006/table">
            <a:tbl>
              <a:tblPr/>
              <a:tblGrid>
                <a:gridCol w="1273872"/>
                <a:gridCol w="3369598"/>
              </a:tblGrid>
              <a:tr h="584493">
                <a:tc>
                  <a:txBody>
                    <a:bodyPr/>
                    <a:lstStyle/>
                    <a:p>
                      <a:r>
                        <a:rPr lang="en-US" sz="2000" b="1" dirty="0"/>
                        <a:t>Fraction</a:t>
                      </a:r>
                    </a:p>
                  </a:txBody>
                  <a:tcPr marL="60958" marR="60958" marT="30479" marB="30479" anchor="ctr">
                    <a:lnL>
                      <a:noFill/>
                    </a:lnL>
                    <a:lnR>
                      <a:noFill/>
                    </a:lnR>
                    <a:lnT>
                      <a:noFill/>
                    </a:lnT>
                    <a:lnB>
                      <a:noFill/>
                    </a:lnB>
                  </a:tcPr>
                </a:tc>
                <a:tc>
                  <a:txBody>
                    <a:bodyPr/>
                    <a:lstStyle/>
                    <a:p>
                      <a:r>
                        <a:rPr lang="en-US" sz="2000" b="1" dirty="0"/>
                        <a:t>Percentage</a:t>
                      </a:r>
                    </a:p>
                  </a:txBody>
                  <a:tcPr marL="60958" marR="60958" marT="30479" marB="30479" anchor="ctr">
                    <a:lnL>
                      <a:noFill/>
                    </a:lnL>
                    <a:lnR>
                      <a:noFill/>
                    </a:lnR>
                    <a:lnT>
                      <a:noFill/>
                    </a:lnT>
                    <a:lnB>
                      <a:noFill/>
                    </a:lnB>
                  </a:tcPr>
                </a:tc>
              </a:tr>
              <a:tr h="584493">
                <a:tc>
                  <a:txBody>
                    <a:bodyPr/>
                    <a:lstStyle/>
                    <a:p>
                      <a:r>
                        <a:rPr lang="en-US" sz="2000" b="1" dirty="0"/>
                        <a:t>1/11</a:t>
                      </a:r>
                    </a:p>
                  </a:txBody>
                  <a:tcPr marL="60958" marR="60958" marT="30479" marB="30479" anchor="ctr">
                    <a:lnL>
                      <a:noFill/>
                    </a:lnL>
                    <a:lnR>
                      <a:noFill/>
                    </a:lnR>
                    <a:lnT>
                      <a:noFill/>
                    </a:lnT>
                    <a:lnB>
                      <a:noFill/>
                    </a:lnB>
                  </a:tcPr>
                </a:tc>
                <a:tc>
                  <a:txBody>
                    <a:bodyPr/>
                    <a:lstStyle/>
                    <a:p>
                      <a:r>
                        <a:rPr lang="en-US" sz="2000" dirty="0"/>
                        <a:t>9.09%</a:t>
                      </a:r>
                    </a:p>
                  </a:txBody>
                  <a:tcPr marL="60958" marR="60958" marT="30479" marB="30479" anchor="ctr">
                    <a:lnL>
                      <a:noFill/>
                    </a:lnL>
                    <a:lnR>
                      <a:noFill/>
                    </a:lnR>
                    <a:lnT>
                      <a:noFill/>
                    </a:lnT>
                    <a:lnB>
                      <a:noFill/>
                    </a:lnB>
                  </a:tcPr>
                </a:tc>
              </a:tr>
              <a:tr h="584493">
                <a:tc>
                  <a:txBody>
                    <a:bodyPr/>
                    <a:lstStyle/>
                    <a:p>
                      <a:r>
                        <a:rPr lang="en-US" sz="2000" b="1" dirty="0"/>
                        <a:t>1/12</a:t>
                      </a:r>
                    </a:p>
                  </a:txBody>
                  <a:tcPr marL="60958" marR="60958" marT="30479" marB="30479" anchor="ctr">
                    <a:lnL>
                      <a:noFill/>
                    </a:lnL>
                    <a:lnR>
                      <a:noFill/>
                    </a:lnR>
                    <a:lnT>
                      <a:noFill/>
                    </a:lnT>
                    <a:lnB>
                      <a:noFill/>
                    </a:lnB>
                  </a:tcPr>
                </a:tc>
                <a:tc>
                  <a:txBody>
                    <a:bodyPr/>
                    <a:lstStyle/>
                    <a:p>
                      <a:r>
                        <a:rPr lang="en-US" sz="2000"/>
                        <a:t>8.33%</a:t>
                      </a:r>
                    </a:p>
                  </a:txBody>
                  <a:tcPr marL="60958" marR="60958" marT="30479" marB="30479" anchor="ctr">
                    <a:lnL>
                      <a:noFill/>
                    </a:lnL>
                    <a:lnR>
                      <a:noFill/>
                    </a:lnR>
                    <a:lnT>
                      <a:noFill/>
                    </a:lnT>
                    <a:lnB>
                      <a:noFill/>
                    </a:lnB>
                  </a:tcPr>
                </a:tc>
              </a:tr>
              <a:tr h="584493">
                <a:tc>
                  <a:txBody>
                    <a:bodyPr/>
                    <a:lstStyle/>
                    <a:p>
                      <a:r>
                        <a:rPr lang="en-US" sz="2000" b="1" dirty="0"/>
                        <a:t>1/13</a:t>
                      </a:r>
                    </a:p>
                  </a:txBody>
                  <a:tcPr marL="60958" marR="60958" marT="30479" marB="30479" anchor="ctr">
                    <a:lnL>
                      <a:noFill/>
                    </a:lnL>
                    <a:lnR>
                      <a:noFill/>
                    </a:lnR>
                    <a:lnT>
                      <a:noFill/>
                    </a:lnT>
                    <a:lnB>
                      <a:noFill/>
                    </a:lnB>
                  </a:tcPr>
                </a:tc>
                <a:tc>
                  <a:txBody>
                    <a:bodyPr/>
                    <a:lstStyle/>
                    <a:p>
                      <a:r>
                        <a:rPr lang="en-US" sz="2000"/>
                        <a:t>7.69%</a:t>
                      </a:r>
                    </a:p>
                  </a:txBody>
                  <a:tcPr marL="60958" marR="60958" marT="30479" marB="30479" anchor="ctr">
                    <a:lnL>
                      <a:noFill/>
                    </a:lnL>
                    <a:lnR>
                      <a:noFill/>
                    </a:lnR>
                    <a:lnT>
                      <a:noFill/>
                    </a:lnT>
                    <a:lnB>
                      <a:noFill/>
                    </a:lnB>
                  </a:tcPr>
                </a:tc>
              </a:tr>
              <a:tr h="584493">
                <a:tc>
                  <a:txBody>
                    <a:bodyPr/>
                    <a:lstStyle/>
                    <a:p>
                      <a:r>
                        <a:rPr lang="en-US" sz="2000" b="1" dirty="0"/>
                        <a:t>1/14</a:t>
                      </a:r>
                    </a:p>
                  </a:txBody>
                  <a:tcPr marL="60958" marR="60958" marT="30479" marB="30479" anchor="ctr">
                    <a:lnL>
                      <a:noFill/>
                    </a:lnL>
                    <a:lnR>
                      <a:noFill/>
                    </a:lnR>
                    <a:lnT>
                      <a:noFill/>
                    </a:lnT>
                    <a:lnB>
                      <a:noFill/>
                    </a:lnB>
                  </a:tcPr>
                </a:tc>
                <a:tc>
                  <a:txBody>
                    <a:bodyPr/>
                    <a:lstStyle/>
                    <a:p>
                      <a:r>
                        <a:rPr lang="en-US" sz="2000"/>
                        <a:t>7.14%</a:t>
                      </a:r>
                    </a:p>
                  </a:txBody>
                  <a:tcPr marL="60958" marR="60958" marT="30479" marB="30479" anchor="ctr">
                    <a:lnL>
                      <a:noFill/>
                    </a:lnL>
                    <a:lnR>
                      <a:noFill/>
                    </a:lnR>
                    <a:lnT>
                      <a:noFill/>
                    </a:lnT>
                    <a:lnB>
                      <a:noFill/>
                    </a:lnB>
                  </a:tcPr>
                </a:tc>
              </a:tr>
              <a:tr h="584493">
                <a:tc>
                  <a:txBody>
                    <a:bodyPr/>
                    <a:lstStyle/>
                    <a:p>
                      <a:r>
                        <a:rPr lang="en-US" sz="2000" b="1" dirty="0"/>
                        <a:t>1/15</a:t>
                      </a:r>
                    </a:p>
                  </a:txBody>
                  <a:tcPr marL="60958" marR="60958" marT="30479" marB="30479" anchor="ctr">
                    <a:lnL>
                      <a:noFill/>
                    </a:lnL>
                    <a:lnR>
                      <a:noFill/>
                    </a:lnR>
                    <a:lnT>
                      <a:noFill/>
                    </a:lnT>
                    <a:lnB>
                      <a:noFill/>
                    </a:lnB>
                  </a:tcPr>
                </a:tc>
                <a:tc>
                  <a:txBody>
                    <a:bodyPr/>
                    <a:lstStyle/>
                    <a:p>
                      <a:r>
                        <a:rPr lang="en-US" sz="2000" dirty="0" smtClean="0"/>
                        <a:t>6.66%</a:t>
                      </a:r>
                      <a:endParaRPr lang="en-US" sz="2000" dirty="0"/>
                    </a:p>
                  </a:txBody>
                  <a:tcPr marL="60958" marR="60958" marT="30479" marB="30479" anchor="ctr">
                    <a:lnL>
                      <a:noFill/>
                    </a:lnL>
                    <a:lnR>
                      <a:noFill/>
                    </a:lnR>
                    <a:lnT>
                      <a:noFill/>
                    </a:lnT>
                    <a:lnB>
                      <a:noFill/>
                    </a:lnB>
                  </a:tcPr>
                </a:tc>
              </a:tr>
              <a:tr h="584493">
                <a:tc>
                  <a:txBody>
                    <a:bodyPr/>
                    <a:lstStyle/>
                    <a:p>
                      <a:r>
                        <a:rPr lang="en-US" sz="2000" b="1" dirty="0"/>
                        <a:t>1/16</a:t>
                      </a:r>
                    </a:p>
                  </a:txBody>
                  <a:tcPr marL="60958" marR="60958" marT="30479" marB="30479" anchor="ctr">
                    <a:lnL>
                      <a:noFill/>
                    </a:lnL>
                    <a:lnR>
                      <a:noFill/>
                    </a:lnR>
                    <a:lnT>
                      <a:noFill/>
                    </a:lnT>
                    <a:lnB>
                      <a:noFill/>
                    </a:lnB>
                  </a:tcPr>
                </a:tc>
                <a:tc>
                  <a:txBody>
                    <a:bodyPr/>
                    <a:lstStyle/>
                    <a:p>
                      <a:r>
                        <a:rPr lang="en-US" sz="2000" dirty="0"/>
                        <a:t>6.25%</a:t>
                      </a:r>
                    </a:p>
                  </a:txBody>
                  <a:tcPr marL="60958" marR="60958" marT="30479" marB="30479" anchor="ctr">
                    <a:lnL>
                      <a:noFill/>
                    </a:lnL>
                    <a:lnR>
                      <a:noFill/>
                    </a:lnR>
                    <a:lnT>
                      <a:noFill/>
                    </a:lnT>
                    <a:lnB>
                      <a:noFill/>
                    </a:lnB>
                  </a:tcPr>
                </a:tc>
              </a:tr>
              <a:tr h="584493">
                <a:tc>
                  <a:txBody>
                    <a:bodyPr/>
                    <a:lstStyle/>
                    <a:p>
                      <a:r>
                        <a:rPr lang="en-US" sz="2000" b="1" dirty="0"/>
                        <a:t>1/17</a:t>
                      </a:r>
                    </a:p>
                  </a:txBody>
                  <a:tcPr marL="60958" marR="60958" marT="30479" marB="30479" anchor="ctr">
                    <a:lnL>
                      <a:noFill/>
                    </a:lnL>
                    <a:lnR>
                      <a:noFill/>
                    </a:lnR>
                    <a:lnT>
                      <a:noFill/>
                    </a:lnT>
                    <a:lnB>
                      <a:noFill/>
                    </a:lnB>
                  </a:tcPr>
                </a:tc>
                <a:tc>
                  <a:txBody>
                    <a:bodyPr/>
                    <a:lstStyle/>
                    <a:p>
                      <a:r>
                        <a:rPr lang="en-US" sz="2000" dirty="0"/>
                        <a:t>5.88%</a:t>
                      </a:r>
                    </a:p>
                  </a:txBody>
                  <a:tcPr marL="60958" marR="60958" marT="30479" marB="30479" anchor="ctr">
                    <a:lnL>
                      <a:noFill/>
                    </a:lnL>
                    <a:lnR>
                      <a:noFill/>
                    </a:lnR>
                    <a:lnT>
                      <a:noFill/>
                    </a:lnT>
                    <a:lnB>
                      <a:noFill/>
                    </a:lnB>
                  </a:tcPr>
                </a:tc>
              </a:tr>
              <a:tr h="584493">
                <a:tc>
                  <a:txBody>
                    <a:bodyPr/>
                    <a:lstStyle/>
                    <a:p>
                      <a:r>
                        <a:rPr lang="en-US" sz="2000" b="1" dirty="0"/>
                        <a:t>1/18</a:t>
                      </a:r>
                    </a:p>
                  </a:txBody>
                  <a:tcPr marL="60958" marR="60958" marT="30479" marB="30479" anchor="ctr">
                    <a:lnL>
                      <a:noFill/>
                    </a:lnL>
                    <a:lnR>
                      <a:noFill/>
                    </a:lnR>
                    <a:lnT>
                      <a:noFill/>
                    </a:lnT>
                    <a:lnB>
                      <a:noFill/>
                    </a:lnB>
                  </a:tcPr>
                </a:tc>
                <a:tc>
                  <a:txBody>
                    <a:bodyPr/>
                    <a:lstStyle/>
                    <a:p>
                      <a:r>
                        <a:rPr lang="en-US" sz="2000" dirty="0" smtClean="0"/>
                        <a:t>5.55%</a:t>
                      </a:r>
                      <a:endParaRPr lang="en-US" sz="2000" dirty="0"/>
                    </a:p>
                  </a:txBody>
                  <a:tcPr marL="60958" marR="60958" marT="30479" marB="30479" anchor="ctr">
                    <a:lnL>
                      <a:noFill/>
                    </a:lnL>
                    <a:lnR>
                      <a:noFill/>
                    </a:lnR>
                    <a:lnT>
                      <a:noFill/>
                    </a:lnT>
                    <a:lnB>
                      <a:noFill/>
                    </a:lnB>
                  </a:tcPr>
                </a:tc>
              </a:tr>
              <a:tr h="584493">
                <a:tc>
                  <a:txBody>
                    <a:bodyPr/>
                    <a:lstStyle/>
                    <a:p>
                      <a:r>
                        <a:rPr lang="en-US" sz="2000" b="1" dirty="0"/>
                        <a:t>1/19</a:t>
                      </a:r>
                    </a:p>
                  </a:txBody>
                  <a:tcPr marL="60958" marR="60958" marT="30479" marB="30479" anchor="ctr">
                    <a:lnL>
                      <a:noFill/>
                    </a:lnL>
                    <a:lnR>
                      <a:noFill/>
                    </a:lnR>
                    <a:lnT>
                      <a:noFill/>
                    </a:lnT>
                    <a:lnB>
                      <a:noFill/>
                    </a:lnB>
                  </a:tcPr>
                </a:tc>
                <a:tc>
                  <a:txBody>
                    <a:bodyPr/>
                    <a:lstStyle/>
                    <a:p>
                      <a:r>
                        <a:rPr lang="en-US" sz="2000"/>
                        <a:t>5.26%</a:t>
                      </a:r>
                    </a:p>
                  </a:txBody>
                  <a:tcPr marL="60958" marR="60958" marT="30479" marB="30479" anchor="ctr">
                    <a:lnL>
                      <a:noFill/>
                    </a:lnL>
                    <a:lnR>
                      <a:noFill/>
                    </a:lnR>
                    <a:lnT>
                      <a:noFill/>
                    </a:lnT>
                    <a:lnB>
                      <a:noFill/>
                    </a:lnB>
                  </a:tcPr>
                </a:tc>
              </a:tr>
              <a:tr h="584493">
                <a:tc>
                  <a:txBody>
                    <a:bodyPr/>
                    <a:lstStyle/>
                    <a:p>
                      <a:r>
                        <a:rPr lang="en-US" sz="2000" b="1" dirty="0"/>
                        <a:t>1/20</a:t>
                      </a:r>
                    </a:p>
                  </a:txBody>
                  <a:tcPr marL="60958" marR="60958" marT="30479" marB="30479" anchor="ctr">
                    <a:lnL>
                      <a:noFill/>
                    </a:lnL>
                    <a:lnR>
                      <a:noFill/>
                    </a:lnR>
                    <a:lnT>
                      <a:noFill/>
                    </a:lnT>
                    <a:lnB>
                      <a:noFill/>
                    </a:lnB>
                  </a:tcPr>
                </a:tc>
                <a:tc>
                  <a:txBody>
                    <a:bodyPr/>
                    <a:lstStyle/>
                    <a:p>
                      <a:r>
                        <a:rPr lang="en-US" sz="2000" dirty="0"/>
                        <a:t>5%</a:t>
                      </a:r>
                    </a:p>
                  </a:txBody>
                  <a:tcPr marL="60958" marR="60958" marT="30479" marB="30479" anchor="ctr">
                    <a:lnL>
                      <a:noFill/>
                    </a:lnL>
                    <a:lnR>
                      <a:noFill/>
                    </a:lnR>
                    <a:lnT>
                      <a:noFill/>
                    </a:lnT>
                    <a:lnB>
                      <a:noFill/>
                    </a:lnB>
                  </a:tcPr>
                </a:tc>
              </a:tr>
            </a:tbl>
          </a:graphicData>
        </a:graphic>
      </p:graphicFrame>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Percentages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446519"/>
            <a:ext cx="12001584" cy="61290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nSpc>
                <a:spcPct val="150000"/>
              </a:lnSpc>
              <a:buFont typeface="+mj-lt"/>
              <a:buAutoNum type="arabicParenR"/>
            </a:pPr>
            <a:r>
              <a:rPr lang="en-US" sz="2400" dirty="0" smtClean="0"/>
              <a:t>5% of 20 is ________.</a:t>
            </a:r>
          </a:p>
          <a:p>
            <a:pPr marL="342900" indent="-342900">
              <a:lnSpc>
                <a:spcPct val="150000"/>
              </a:lnSpc>
              <a:buFont typeface="+mj-lt"/>
              <a:buAutoNum type="arabicParenR"/>
            </a:pPr>
            <a:endParaRPr lang="en-US" sz="2400" dirty="0" smtClean="0"/>
          </a:p>
          <a:p>
            <a:pPr marL="342900" indent="-342900">
              <a:lnSpc>
                <a:spcPct val="150000"/>
              </a:lnSpc>
              <a:buFont typeface="+mj-lt"/>
              <a:buAutoNum type="arabicParenR"/>
            </a:pPr>
            <a:r>
              <a:rPr lang="en-US" sz="2400" dirty="0" smtClean="0"/>
              <a:t>______% of 20 is 5.</a:t>
            </a:r>
          </a:p>
          <a:p>
            <a:pPr marL="342900" indent="-342900">
              <a:lnSpc>
                <a:spcPct val="150000"/>
              </a:lnSpc>
              <a:buFont typeface="+mj-lt"/>
              <a:buAutoNum type="arabicParenR"/>
            </a:pPr>
            <a:endParaRPr lang="en-US" sz="2400" dirty="0" smtClean="0"/>
          </a:p>
          <a:p>
            <a:pPr marL="342900" indent="-342900">
              <a:lnSpc>
                <a:spcPct val="150000"/>
              </a:lnSpc>
              <a:buFont typeface="+mj-lt"/>
              <a:buAutoNum type="arabicParenR"/>
            </a:pPr>
            <a:r>
              <a:rPr lang="en-US" sz="2400" dirty="0" smtClean="0"/>
              <a:t>5% of _______ is 20.</a:t>
            </a:r>
          </a:p>
          <a:p>
            <a:pPr marL="342900" indent="-342900">
              <a:lnSpc>
                <a:spcPct val="150000"/>
              </a:lnSpc>
              <a:buFont typeface="+mj-lt"/>
              <a:buAutoNum type="arabicParenR"/>
            </a:pPr>
            <a:endParaRPr lang="en-US" sz="2400" dirty="0" smtClean="0"/>
          </a:p>
          <a:p>
            <a:pPr marL="342900" indent="-342900">
              <a:lnSpc>
                <a:spcPct val="150000"/>
              </a:lnSpc>
              <a:buFont typeface="+mj-lt"/>
              <a:buAutoNum type="arabicParenR"/>
            </a:pPr>
            <a:r>
              <a:rPr lang="en-US" sz="2400" dirty="0" smtClean="0"/>
              <a:t>120% of 200 is 200% of _______.</a:t>
            </a:r>
          </a:p>
          <a:p>
            <a:pPr marL="342900" indent="-342900">
              <a:lnSpc>
                <a:spcPct val="150000"/>
              </a:lnSpc>
              <a:buFont typeface="+mj-lt"/>
              <a:buAutoNum type="arabicParenR"/>
            </a:pPr>
            <a:endParaRPr lang="en-US" sz="2400" dirty="0" smtClean="0"/>
          </a:p>
          <a:p>
            <a:pPr marL="342900" indent="-342900">
              <a:lnSpc>
                <a:spcPct val="150000"/>
              </a:lnSpc>
              <a:buFont typeface="+mj-lt"/>
              <a:buAutoNum type="arabicParenR"/>
            </a:pPr>
            <a:r>
              <a:rPr lang="en-US" sz="2400" dirty="0" smtClean="0"/>
              <a:t>12.5% of 88 is more than 16.66% of 66 by _______.</a:t>
            </a:r>
          </a:p>
          <a:p>
            <a:pPr marL="342900" indent="-342900">
              <a:lnSpc>
                <a:spcPct val="150000"/>
              </a:lnSpc>
              <a:buFont typeface="+mj-lt"/>
              <a:buAutoNum type="arabicParenR"/>
            </a:pPr>
            <a:endParaRPr lang="en-US" sz="2400" dirty="0" smtClean="0"/>
          </a:p>
          <a:p>
            <a:pPr marL="342900" indent="-342900">
              <a:lnSpc>
                <a:spcPct val="150000"/>
              </a:lnSpc>
              <a:buFont typeface="+mj-lt"/>
              <a:buAutoNum type="arabicParenR"/>
            </a:pPr>
            <a:r>
              <a:rPr lang="en-US" sz="2400" dirty="0" smtClean="0"/>
              <a:t>_______% of 4% of 5 equals 4% of 5% of 6.</a:t>
            </a:r>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Base Value	</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289025"/>
            <a:ext cx="10930014" cy="500720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15000"/>
              </a:lnSpc>
              <a:spcAft>
                <a:spcPts val="600"/>
              </a:spcAft>
              <a:buNone/>
            </a:pPr>
            <a:r>
              <a:rPr lang="en-US" sz="2400" dirty="0" smtClean="0">
                <a:ea typeface="Times New Roman" panose="02020603050405020304" pitchFamily="18" charset="0"/>
              </a:rPr>
              <a:t>If A:B:C:D = 1:2:3:4, then</a:t>
            </a:r>
            <a:endParaRPr lang="en-IN" sz="2400" dirty="0" smtClean="0">
              <a:ea typeface="Times New Roman" panose="02020603050405020304" pitchFamily="18" charset="0"/>
            </a:endParaRPr>
          </a:p>
          <a:p>
            <a:pPr marL="342900" lvl="0" indent="-342900" algn="just">
              <a:lnSpc>
                <a:spcPct val="115000"/>
              </a:lnSpc>
              <a:spcAft>
                <a:spcPts val="600"/>
              </a:spcAft>
              <a:buFont typeface="+mj-lt"/>
              <a:buAutoNum type="arabicParenR"/>
            </a:pPr>
            <a:r>
              <a:rPr lang="en-US" sz="2400" dirty="0" smtClean="0">
                <a:ea typeface="Times New Roman" panose="02020603050405020304" pitchFamily="18" charset="0"/>
              </a:rPr>
              <a:t>A is what percent of B?</a:t>
            </a:r>
          </a:p>
          <a:p>
            <a:pPr marL="342900" lvl="0" indent="-342900" algn="just">
              <a:lnSpc>
                <a:spcPct val="115000"/>
              </a:lnSpc>
              <a:spcAft>
                <a:spcPts val="600"/>
              </a:spcAft>
              <a:buFont typeface="+mj-lt"/>
              <a:buAutoNum type="arabicParenR"/>
            </a:pPr>
            <a:endParaRPr lang="en-IN" sz="2400" dirty="0" smtClean="0">
              <a:ea typeface="Times New Roman" panose="02020603050405020304" pitchFamily="18" charset="0"/>
            </a:endParaRPr>
          </a:p>
          <a:p>
            <a:pPr marL="342900" lvl="0" indent="-342900" algn="just">
              <a:lnSpc>
                <a:spcPct val="115000"/>
              </a:lnSpc>
              <a:spcAft>
                <a:spcPts val="600"/>
              </a:spcAft>
              <a:buFont typeface="+mj-lt"/>
              <a:buAutoNum type="arabicParenR"/>
            </a:pPr>
            <a:r>
              <a:rPr lang="en-US" sz="2400" dirty="0" smtClean="0">
                <a:ea typeface="Times New Roman" panose="02020603050405020304" pitchFamily="18" charset="0"/>
              </a:rPr>
              <a:t>By what % is A lesser than B?</a:t>
            </a:r>
          </a:p>
          <a:p>
            <a:pPr marL="342900" lvl="0" indent="-342900" algn="just">
              <a:lnSpc>
                <a:spcPct val="115000"/>
              </a:lnSpc>
              <a:spcAft>
                <a:spcPts val="600"/>
              </a:spcAft>
              <a:buFont typeface="+mj-lt"/>
              <a:buAutoNum type="arabicParenR"/>
            </a:pPr>
            <a:endParaRPr lang="en-US" sz="2400" dirty="0" smtClean="0">
              <a:ea typeface="Times New Roman" panose="02020603050405020304" pitchFamily="18" charset="0"/>
            </a:endParaRPr>
          </a:p>
          <a:p>
            <a:pPr marL="342900" lvl="0" indent="-342900" algn="just">
              <a:lnSpc>
                <a:spcPct val="115000"/>
              </a:lnSpc>
              <a:spcAft>
                <a:spcPts val="600"/>
              </a:spcAft>
              <a:buFont typeface="+mj-lt"/>
              <a:buAutoNum type="arabicParenR"/>
            </a:pPr>
            <a:r>
              <a:rPr lang="en-US" sz="2400" dirty="0" smtClean="0">
                <a:ea typeface="Times New Roman" panose="02020603050405020304" pitchFamily="18" charset="0"/>
              </a:rPr>
              <a:t>By what % should C be increased to make it equal to D?</a:t>
            </a:r>
          </a:p>
          <a:p>
            <a:pPr marL="342900" lvl="0" indent="-342900" algn="just">
              <a:lnSpc>
                <a:spcPct val="115000"/>
              </a:lnSpc>
              <a:spcAft>
                <a:spcPts val="600"/>
              </a:spcAft>
              <a:buFont typeface="+mj-lt"/>
              <a:buAutoNum type="arabicParenR"/>
            </a:pPr>
            <a:endParaRPr lang="en-IN" sz="2400" dirty="0" smtClean="0">
              <a:ea typeface="Times New Roman" panose="02020603050405020304" pitchFamily="18" charset="0"/>
            </a:endParaRPr>
          </a:p>
          <a:p>
            <a:pPr marL="342900" lvl="0" indent="-342900" algn="just">
              <a:lnSpc>
                <a:spcPct val="115000"/>
              </a:lnSpc>
              <a:spcAft>
                <a:spcPts val="600"/>
              </a:spcAft>
              <a:buFont typeface="+mj-lt"/>
              <a:buAutoNum type="arabicParenR"/>
            </a:pPr>
            <a:r>
              <a:rPr lang="en-US" sz="2400" dirty="0" smtClean="0">
                <a:ea typeface="Times New Roman" panose="02020603050405020304" pitchFamily="18" charset="0"/>
              </a:rPr>
              <a:t>The sum of A and B is what percent of the sum of C and D?</a:t>
            </a:r>
          </a:p>
          <a:p>
            <a:pPr marL="342900" lvl="0" indent="-342900" algn="just">
              <a:lnSpc>
                <a:spcPct val="115000"/>
              </a:lnSpc>
              <a:spcAft>
                <a:spcPts val="600"/>
              </a:spcAft>
              <a:buFont typeface="+mj-lt"/>
              <a:buAutoNum type="arabicParenR"/>
            </a:pPr>
            <a:endParaRPr lang="en-IN" sz="2400" dirty="0" smtClean="0">
              <a:ea typeface="Times New Roman" panose="02020603050405020304" pitchFamily="18" charset="0"/>
            </a:endParaRPr>
          </a:p>
          <a:p>
            <a:pPr marL="342900" lvl="0" indent="-342900" algn="just">
              <a:lnSpc>
                <a:spcPct val="115000"/>
              </a:lnSpc>
              <a:spcAft>
                <a:spcPts val="600"/>
              </a:spcAft>
              <a:buFont typeface="+mj-lt"/>
              <a:buAutoNum type="arabicParenR"/>
            </a:pPr>
            <a:r>
              <a:rPr lang="en-US" sz="2400" dirty="0" smtClean="0">
                <a:ea typeface="Times New Roman" panose="02020603050405020304" pitchFamily="18" charset="0"/>
              </a:rPr>
              <a:t>The difference between A and D is what percent of the sum of B and C?</a:t>
            </a:r>
            <a:endParaRPr lang="en-IN" sz="2400" dirty="0">
              <a:ea typeface="Times New Roman" panose="02020603050405020304" pitchFamily="18" charset="0"/>
            </a:endParaRPr>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Base Value</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289025"/>
            <a:ext cx="11715832" cy="35021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15000"/>
              </a:lnSpc>
              <a:spcAft>
                <a:spcPts val="600"/>
              </a:spcAft>
            </a:pPr>
            <a:r>
              <a:rPr lang="en-US" sz="2400" dirty="0" smtClean="0"/>
              <a:t>1. If A is 20% more than B, then by what % is B lesser than A?</a:t>
            </a:r>
          </a:p>
          <a:p>
            <a:pPr algn="just">
              <a:lnSpc>
                <a:spcPct val="115000"/>
              </a:lnSpc>
              <a:spcAft>
                <a:spcPts val="600"/>
              </a:spcAft>
            </a:pPr>
            <a:endParaRPr lang="en-US" sz="2400" dirty="0" smtClean="0"/>
          </a:p>
          <a:p>
            <a:pPr algn="just">
              <a:lnSpc>
                <a:spcPct val="115000"/>
              </a:lnSpc>
              <a:spcAft>
                <a:spcPts val="600"/>
              </a:spcAft>
            </a:pPr>
            <a:endParaRPr lang="en-US" sz="2400" dirty="0" smtClean="0"/>
          </a:p>
          <a:p>
            <a:pPr algn="just">
              <a:lnSpc>
                <a:spcPct val="115000"/>
              </a:lnSpc>
              <a:spcAft>
                <a:spcPts val="600"/>
              </a:spcAft>
            </a:pPr>
            <a:endParaRPr lang="en-US" sz="2400" dirty="0" smtClean="0"/>
          </a:p>
          <a:p>
            <a:pPr algn="just">
              <a:lnSpc>
                <a:spcPct val="115000"/>
              </a:lnSpc>
              <a:spcAft>
                <a:spcPts val="600"/>
              </a:spcAft>
            </a:pPr>
            <a:endParaRPr lang="en-US" sz="2400" dirty="0" smtClean="0"/>
          </a:p>
          <a:p>
            <a:pPr algn="just">
              <a:lnSpc>
                <a:spcPct val="115000"/>
              </a:lnSpc>
              <a:spcAft>
                <a:spcPts val="600"/>
              </a:spcAft>
            </a:pPr>
            <a:endParaRPr lang="en-US" sz="2400" dirty="0" smtClean="0"/>
          </a:p>
          <a:p>
            <a:pPr algn="just">
              <a:lnSpc>
                <a:spcPct val="115000"/>
              </a:lnSpc>
              <a:spcAft>
                <a:spcPts val="600"/>
              </a:spcAft>
            </a:pPr>
            <a:r>
              <a:rPr lang="en-US" sz="2400" dirty="0" smtClean="0"/>
              <a:t>2. If A is 40% of the sum of A and B, then B is what % of A?</a:t>
            </a:r>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Base Value</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289025"/>
            <a:ext cx="11715832" cy="3425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15000"/>
              </a:lnSpc>
              <a:spcAft>
                <a:spcPts val="600"/>
              </a:spcAft>
            </a:pPr>
            <a:r>
              <a:rPr lang="en-US" sz="2400" dirty="0" smtClean="0"/>
              <a:t>3. If A is increased by 50% to make it equal to B, then A is what % of B?</a:t>
            </a:r>
          </a:p>
          <a:p>
            <a:pPr algn="just">
              <a:lnSpc>
                <a:spcPct val="115000"/>
              </a:lnSpc>
              <a:spcAft>
                <a:spcPts val="600"/>
              </a:spcAft>
            </a:pPr>
            <a:endParaRPr lang="en-US" sz="2400" dirty="0" smtClean="0">
              <a:ea typeface="Times New Roman" panose="02020603050405020304" pitchFamily="18" charset="0"/>
              <a:cs typeface="Arial" panose="020B0604020202020204" pitchFamily="34" charset="0"/>
            </a:endParaRPr>
          </a:p>
          <a:p>
            <a:pPr algn="just">
              <a:lnSpc>
                <a:spcPct val="115000"/>
              </a:lnSpc>
              <a:spcAft>
                <a:spcPts val="600"/>
              </a:spcAft>
            </a:pPr>
            <a:endParaRPr lang="en-US" sz="2400" dirty="0" smtClean="0">
              <a:ea typeface="Times New Roman" panose="02020603050405020304" pitchFamily="18" charset="0"/>
              <a:cs typeface="Arial" panose="020B0604020202020204" pitchFamily="34" charset="0"/>
            </a:endParaRPr>
          </a:p>
          <a:p>
            <a:pPr algn="just">
              <a:lnSpc>
                <a:spcPct val="115000"/>
              </a:lnSpc>
              <a:spcAft>
                <a:spcPts val="600"/>
              </a:spcAft>
            </a:pPr>
            <a:endParaRPr lang="en-US" sz="2400" dirty="0" smtClean="0">
              <a:ea typeface="Times New Roman" panose="02020603050405020304" pitchFamily="18" charset="0"/>
              <a:cs typeface="Arial" panose="020B0604020202020204" pitchFamily="34" charset="0"/>
            </a:endParaRPr>
          </a:p>
          <a:p>
            <a:pPr algn="just">
              <a:lnSpc>
                <a:spcPct val="115000"/>
              </a:lnSpc>
              <a:spcAft>
                <a:spcPts val="600"/>
              </a:spcAft>
            </a:pPr>
            <a:endParaRPr lang="en-US" sz="2400" dirty="0" smtClean="0">
              <a:ea typeface="Times New Roman" panose="02020603050405020304" pitchFamily="18" charset="0"/>
              <a:cs typeface="Arial" panose="020B0604020202020204" pitchFamily="34" charset="0"/>
            </a:endParaRPr>
          </a:p>
          <a:p>
            <a:pPr algn="just">
              <a:lnSpc>
                <a:spcPct val="115000"/>
              </a:lnSpc>
              <a:spcAft>
                <a:spcPts val="600"/>
              </a:spcAft>
            </a:pPr>
            <a:r>
              <a:rPr lang="en-US" sz="2400" dirty="0" smtClean="0">
                <a:ea typeface="Times New Roman" panose="02020603050405020304" pitchFamily="18" charset="0"/>
                <a:cs typeface="Arial" panose="020B0604020202020204" pitchFamily="34" charset="0"/>
              </a:rPr>
              <a:t>4. Number of students who passed in an exam is 60% more than the number of students who failed. By what percent are the failures less than those who passed?</a:t>
            </a:r>
            <a:endParaRPr lang="en-IN" sz="2400" dirty="0">
              <a:ea typeface="Times New Roman" panose="02020603050405020304" pitchFamily="18" charset="0"/>
              <a:cs typeface="Arial" panose="020B0604020202020204" pitchFamily="34" charset="0"/>
            </a:endParaRPr>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Multiplication Factor</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289025"/>
            <a:ext cx="11715832" cy="114307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lnSpc>
                <a:spcPct val="150000"/>
              </a:lnSpc>
            </a:pPr>
            <a:r>
              <a:rPr lang="en-US" sz="2400" dirty="0" smtClean="0">
                <a:ea typeface="Times New Roman" panose="02020603050405020304" pitchFamily="18" charset="0"/>
              </a:rPr>
              <a:t>    The present population of bacteria in a culture is 17576. It has been increasing at the rate of 4% per hour. What was its population 3 hours ago ?</a:t>
            </a:r>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Multiplication Factor</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289025"/>
            <a:ext cx="11715832" cy="169706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lnSpc>
                <a:spcPct val="150000"/>
              </a:lnSpc>
            </a:pPr>
            <a:r>
              <a:rPr lang="en-US" sz="2400" dirty="0" smtClean="0">
                <a:ea typeface="Times New Roman" panose="02020603050405020304" pitchFamily="18" charset="0"/>
              </a:rPr>
              <a:t>    I bought a scooter at a certain price. Its value depreciates every year at the rate of 10%. If its value at the end of 3 years is Rs.72900, approximately what was its cost when I purchased it?</a:t>
            </a:r>
            <a:endParaRPr lang="en-IN" sz="2400" dirty="0">
              <a:ea typeface="Times New Roman" panose="02020603050405020304" pitchFamily="18" charset="0"/>
            </a:endParaRPr>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Multiplication Factor</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289025"/>
            <a:ext cx="11715832" cy="31854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a:lnSpc>
                <a:spcPct val="115000"/>
              </a:lnSpc>
              <a:spcBef>
                <a:spcPct val="20000"/>
              </a:spcBef>
              <a:spcAft>
                <a:spcPts val="600"/>
              </a:spcAft>
              <a:buSzPct val="70000"/>
              <a:defRPr/>
            </a:pPr>
            <a:r>
              <a:rPr lang="en-US" dirty="0" smtClean="0">
                <a:latin typeface="+mj-lt"/>
                <a:ea typeface="Times New Roman" panose="02020603050405020304" pitchFamily="18" charset="0"/>
              </a:rPr>
              <a:t>The length of a room changed by X% and its width is changed by Y%. What is the percentage change in its area? </a:t>
            </a:r>
            <a:endParaRPr lang="en-IN" dirty="0" smtClean="0">
              <a:latin typeface="+mj-lt"/>
              <a:ea typeface="Times New Roman" panose="02020603050405020304" pitchFamily="18" charset="0"/>
            </a:endParaRPr>
          </a:p>
          <a:p>
            <a:pPr marL="578644" lvl="0" indent="-578644" algn="just">
              <a:lnSpc>
                <a:spcPct val="115000"/>
              </a:lnSpc>
              <a:spcBef>
                <a:spcPct val="20000"/>
              </a:spcBef>
              <a:spcAft>
                <a:spcPts val="600"/>
              </a:spcAft>
              <a:buSzPct val="70000"/>
              <a:defRPr/>
            </a:pPr>
            <a:endParaRPr lang="en-US" b="1" dirty="0" smtClean="0">
              <a:latin typeface="+mj-lt"/>
              <a:ea typeface="Times New Roman" panose="02020603050405020304" pitchFamily="18" charset="0"/>
            </a:endParaRPr>
          </a:p>
          <a:p>
            <a:pPr marL="578644" lvl="0" indent="-578644" algn="just">
              <a:lnSpc>
                <a:spcPct val="115000"/>
              </a:lnSpc>
              <a:spcBef>
                <a:spcPct val="20000"/>
              </a:spcBef>
              <a:spcAft>
                <a:spcPts val="600"/>
              </a:spcAft>
              <a:buSzPct val="70000"/>
              <a:defRPr/>
            </a:pPr>
            <a:endParaRPr lang="en-US" b="1" dirty="0" smtClean="0">
              <a:latin typeface="+mj-lt"/>
              <a:ea typeface="Times New Roman" panose="02020603050405020304" pitchFamily="18" charset="0"/>
            </a:endParaRPr>
          </a:p>
          <a:p>
            <a:pPr lvl="0">
              <a:spcBef>
                <a:spcPct val="20000"/>
              </a:spcBef>
              <a:buSzPct val="70000"/>
              <a:defRPr/>
            </a:pPr>
            <a:endParaRPr lang="en-US" dirty="0">
              <a:latin typeface="+mj-lt"/>
            </a:endParaRPr>
          </a:p>
        </p:txBody>
      </p:sp>
      <p:sp>
        <p:nvSpPr>
          <p:cNvPr id="6" name="Content Placeholder 2">
            <a:extLst>
              <a:ext uri="{FF2B5EF4-FFF2-40B4-BE49-F238E27FC236}">
                <a16:creationId xmlns="" xmlns:a16="http://schemas.microsoft.com/office/drawing/2014/main" id="{2F89C5A0-ED18-1033-CC24-3C543DAF75E7}"/>
              </a:ext>
            </a:extLst>
          </p:cNvPr>
          <p:cNvSpPr txBox="1">
            <a:spLocks/>
          </p:cNvSpPr>
          <p:nvPr/>
        </p:nvSpPr>
        <p:spPr>
          <a:xfrm>
            <a:off x="4597373" y="2572519"/>
            <a:ext cx="6096000" cy="6148606"/>
          </a:xfrm>
          <a:prstGeom prst="rect">
            <a:avLst/>
          </a:prstGeom>
        </p:spPr>
        <p:txBody>
          <a:bodyPr>
            <a:normAutofit/>
          </a:bodyPr>
          <a:lstStyle/>
          <a:p>
            <a:pPr marL="578644" marR="0" lvl="0" indent="-578644" algn="just" defTabSz="1543050" rtl="0" eaLnBrk="1" fontAlgn="auto" latinLnBrk="0" hangingPunct="1">
              <a:lnSpc>
                <a:spcPct val="115000"/>
              </a:lnSpc>
              <a:spcBef>
                <a:spcPct val="20000"/>
              </a:spcBef>
              <a:spcAft>
                <a:spcPts val="600"/>
              </a:spcAft>
              <a:buClrTx/>
              <a:buSzPct val="70000"/>
              <a:buFont typeface="Wingdings" panose="05000000000000000000" pitchFamily="2" charset="2"/>
              <a:buNone/>
              <a:tabLst/>
              <a:defRPr/>
            </a:pPr>
            <a:r>
              <a:rPr kumimoji="0" lang="en-US" sz="1800" b="1" i="0" u="none" strike="noStrike" kern="1200" cap="none" spc="0" normalizeH="0" baseline="0" noProof="0" dirty="0" smtClean="0">
                <a:ln>
                  <a:noFill/>
                </a:ln>
                <a:solidFill>
                  <a:schemeClr val="tx1"/>
                </a:solidFill>
                <a:effectLst/>
                <a:uLnTx/>
                <a:uFillTx/>
                <a:latin typeface="Arial" panose="020B0604020202020204" pitchFamily="34" charset="0"/>
                <a:ea typeface="Times New Roman" panose="02020603050405020304" pitchFamily="18" charset="0"/>
                <a:cs typeface="+mn-cs"/>
              </a:rPr>
              <a:t> </a:t>
            </a:r>
            <a:endParaRPr kumimoji="0" lang="en-IN" sz="1800" b="0" i="0" u="none" strike="noStrike" kern="1200" cap="none" spc="0" normalizeH="0" baseline="0" noProof="0" dirty="0" smtClean="0">
              <a:ln>
                <a:noFill/>
              </a:ln>
              <a:solidFill>
                <a:schemeClr val="tx1"/>
              </a:solidFill>
              <a:effectLst/>
              <a:uLnTx/>
              <a:uFillTx/>
              <a:latin typeface="Arial" panose="020B0604020202020204" pitchFamily="34" charset="0"/>
              <a:ea typeface="Times New Roman" panose="02020603050405020304" pitchFamily="18" charset="0"/>
              <a:cs typeface="+mn-cs"/>
            </a:endParaRPr>
          </a:p>
          <a:p>
            <a:pPr marL="0" marR="0" lvl="0" indent="0" algn="just" defTabSz="1543050" rtl="0" eaLnBrk="1" fontAlgn="auto" latinLnBrk="0" hangingPunct="1">
              <a:lnSpc>
                <a:spcPct val="115000"/>
              </a:lnSpc>
              <a:spcBef>
                <a:spcPct val="20000"/>
              </a:spcBef>
              <a:spcAft>
                <a:spcPts val="600"/>
              </a:spcAft>
              <a:buClrTx/>
              <a:buSzPct val="70000"/>
              <a:buFont typeface="Wingdings" panose="05000000000000000000" pitchFamily="2" charset="2"/>
              <a:buNone/>
              <a:tabLst/>
              <a:defRPr/>
            </a:pPr>
            <a:endParaRPr kumimoji="0" lang="en-US" sz="1800" b="1" i="0" u="none" strike="noStrike" kern="1200" cap="none" spc="0" normalizeH="0" baseline="0" noProof="0" dirty="0" smtClean="0">
              <a:ln>
                <a:noFill/>
              </a:ln>
              <a:solidFill>
                <a:schemeClr val="tx1"/>
              </a:solidFill>
              <a:effectLst/>
              <a:uLnTx/>
              <a:uFillTx/>
              <a:latin typeface="Arial" panose="020B0604020202020204" pitchFamily="34" charset="0"/>
              <a:ea typeface="Times New Roman" panose="02020603050405020304" pitchFamily="18" charset="0"/>
              <a:cs typeface="+mn-cs"/>
            </a:endParaRPr>
          </a:p>
          <a:p>
            <a:pPr marL="0" marR="0" lvl="0" indent="0" algn="just" defTabSz="1543050" rtl="0" eaLnBrk="1" fontAlgn="auto" latinLnBrk="0" hangingPunct="1">
              <a:lnSpc>
                <a:spcPct val="115000"/>
              </a:lnSpc>
              <a:spcBef>
                <a:spcPct val="20000"/>
              </a:spcBef>
              <a:spcAft>
                <a:spcPts val="600"/>
              </a:spcAft>
              <a:buClrTx/>
              <a:buSzPct val="70000"/>
              <a:buFont typeface="Wingdings" panose="05000000000000000000" pitchFamily="2" charset="2"/>
              <a:buNone/>
              <a:tabLst/>
              <a:defRPr/>
            </a:pPr>
            <a:endParaRPr kumimoji="0" lang="en-US" sz="4800" b="0" i="0" u="none" strike="noStrike" kern="1200" cap="none" spc="0" normalizeH="0" baseline="0" noProof="0" dirty="0">
              <a:ln>
                <a:noFill/>
              </a:ln>
              <a:solidFill>
                <a:schemeClr val="tx1"/>
              </a:solidFill>
              <a:effectLst/>
              <a:uLnTx/>
              <a:uFillTx/>
              <a:latin typeface="HP Simplified" pitchFamily="34" charset="0"/>
              <a:ea typeface="+mn-ea"/>
              <a:cs typeface="+mn-cs"/>
            </a:endParaRPr>
          </a:p>
        </p:txBody>
      </p:sp>
      <p:graphicFrame>
        <p:nvGraphicFramePr>
          <p:cNvPr id="7" name="Table 6">
            <a:extLst>
              <a:ext uri="{FF2B5EF4-FFF2-40B4-BE49-F238E27FC236}">
                <a16:creationId xmlns="" xmlns:a16="http://schemas.microsoft.com/office/drawing/2014/main" id="{31407BDF-A2C1-8D01-3E1B-62266722D701}"/>
              </a:ext>
            </a:extLst>
          </p:cNvPr>
          <p:cNvGraphicFramePr>
            <a:graphicFrameLocks noGrp="1"/>
          </p:cNvGraphicFramePr>
          <p:nvPr>
            <p:extLst>
              <p:ext uri="{D42A27DB-BD31-4B8C-83A1-F6EECF244321}">
                <p14:modId xmlns="" xmlns:p14="http://schemas.microsoft.com/office/powerpoint/2010/main" val="2394249752"/>
              </p:ext>
            </p:extLst>
          </p:nvPr>
        </p:nvGraphicFramePr>
        <p:xfrm>
          <a:off x="711144" y="2574909"/>
          <a:ext cx="9286940" cy="4857784"/>
        </p:xfrm>
        <a:graphic>
          <a:graphicData uri="http://schemas.openxmlformats.org/drawingml/2006/table">
            <a:tbl>
              <a:tblPr firstRow="1" firstCol="1" bandRow="1">
                <a:tableStyleId>{5C22544A-7EE6-4342-B048-85BDC9FD1C3A}</a:tableStyleId>
              </a:tblPr>
              <a:tblGrid>
                <a:gridCol w="2294209">
                  <a:extLst>
                    <a:ext uri="{9D8B030D-6E8A-4147-A177-3AD203B41FA5}">
                      <a16:colId xmlns="" xmlns:a16="http://schemas.microsoft.com/office/drawing/2014/main" val="64417488"/>
                    </a:ext>
                  </a:extLst>
                </a:gridCol>
                <a:gridCol w="2303233">
                  <a:extLst>
                    <a:ext uri="{9D8B030D-6E8A-4147-A177-3AD203B41FA5}">
                      <a16:colId xmlns="" xmlns:a16="http://schemas.microsoft.com/office/drawing/2014/main" val="679847527"/>
                    </a:ext>
                  </a:extLst>
                </a:gridCol>
                <a:gridCol w="4689498">
                  <a:extLst>
                    <a:ext uri="{9D8B030D-6E8A-4147-A177-3AD203B41FA5}">
                      <a16:colId xmlns="" xmlns:a16="http://schemas.microsoft.com/office/drawing/2014/main" val="2643554028"/>
                    </a:ext>
                  </a:extLst>
                </a:gridCol>
              </a:tblGrid>
              <a:tr h="804736">
                <a:tc>
                  <a:txBody>
                    <a:bodyPr/>
                    <a:lstStyle/>
                    <a:p>
                      <a:pPr algn="ctr">
                        <a:spcBef>
                          <a:spcPts val="400"/>
                        </a:spcBef>
                        <a:spcAft>
                          <a:spcPts val="200"/>
                        </a:spcAft>
                        <a:buNone/>
                      </a:pPr>
                      <a:r>
                        <a:rPr lang="en-US" sz="1800" dirty="0">
                          <a:effectLst/>
                        </a:rPr>
                        <a:t>Change in X</a:t>
                      </a:r>
                      <a:endParaRPr lang="en-IN" sz="1800" b="1" i="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400"/>
                        </a:spcBef>
                        <a:spcAft>
                          <a:spcPts val="200"/>
                        </a:spcAft>
                        <a:buNone/>
                      </a:pPr>
                      <a:r>
                        <a:rPr lang="en-US" sz="1800">
                          <a:effectLst/>
                        </a:rPr>
                        <a:t>Change in Y</a:t>
                      </a:r>
                      <a:endParaRPr lang="en-IN" sz="1800" b="1" i="1">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400"/>
                        </a:spcBef>
                        <a:spcAft>
                          <a:spcPts val="200"/>
                        </a:spcAft>
                        <a:buNone/>
                      </a:pPr>
                      <a:r>
                        <a:rPr lang="en-US" sz="1800">
                          <a:effectLst/>
                        </a:rPr>
                        <a:t>% Change in product</a:t>
                      </a:r>
                      <a:endParaRPr lang="en-IN" sz="1800" b="1" i="1">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 xmlns:a16="http://schemas.microsoft.com/office/drawing/2014/main" val="4104631021"/>
                  </a:ext>
                </a:extLst>
              </a:tr>
              <a:tr h="975081">
                <a:tc>
                  <a:txBody>
                    <a:bodyPr/>
                    <a:lstStyle/>
                    <a:p>
                      <a:pPr algn="ctr">
                        <a:spcBef>
                          <a:spcPts val="400"/>
                        </a:spcBef>
                        <a:spcAft>
                          <a:spcPts val="200"/>
                        </a:spcAft>
                        <a:buNone/>
                      </a:pPr>
                      <a:r>
                        <a:rPr lang="en-US" sz="1800" dirty="0">
                          <a:effectLst/>
                        </a:rPr>
                        <a:t>+30%</a:t>
                      </a:r>
                      <a:endParaRPr lang="en-IN" sz="1800" b="1" i="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400"/>
                        </a:spcBef>
                        <a:spcAft>
                          <a:spcPts val="200"/>
                        </a:spcAft>
                        <a:buNone/>
                      </a:pPr>
                      <a:r>
                        <a:rPr lang="en-US" sz="1800">
                          <a:effectLst/>
                        </a:rPr>
                        <a:t>+20%</a:t>
                      </a:r>
                      <a:endParaRPr lang="en-IN" sz="1800" b="1" i="1">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400"/>
                        </a:spcBef>
                        <a:spcAft>
                          <a:spcPts val="200"/>
                        </a:spcAft>
                        <a:buNone/>
                      </a:pPr>
                      <a:r>
                        <a:rPr lang="en-US" sz="1800">
                          <a:effectLst/>
                        </a:rPr>
                        <a:t> </a:t>
                      </a:r>
                      <a:endParaRPr lang="en-IN" sz="1800" b="1" i="1">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 xmlns:a16="http://schemas.microsoft.com/office/drawing/2014/main" val="527250030"/>
                  </a:ext>
                </a:extLst>
              </a:tr>
              <a:tr h="1007388">
                <a:tc>
                  <a:txBody>
                    <a:bodyPr/>
                    <a:lstStyle/>
                    <a:p>
                      <a:pPr algn="ctr">
                        <a:spcBef>
                          <a:spcPts val="400"/>
                        </a:spcBef>
                        <a:spcAft>
                          <a:spcPts val="200"/>
                        </a:spcAft>
                        <a:buNone/>
                      </a:pPr>
                      <a:r>
                        <a:rPr lang="en-US" sz="1800">
                          <a:effectLst/>
                        </a:rPr>
                        <a:t>+30%</a:t>
                      </a:r>
                      <a:endParaRPr lang="en-IN" sz="1800" b="1" i="1">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400"/>
                        </a:spcBef>
                        <a:spcAft>
                          <a:spcPts val="200"/>
                        </a:spcAft>
                        <a:buNone/>
                      </a:pPr>
                      <a:r>
                        <a:rPr lang="en-US" sz="1800">
                          <a:effectLst/>
                        </a:rPr>
                        <a:t>-20%</a:t>
                      </a:r>
                      <a:endParaRPr lang="en-IN" sz="1800" b="1" i="1">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400"/>
                        </a:spcBef>
                        <a:spcAft>
                          <a:spcPts val="200"/>
                        </a:spcAft>
                        <a:buNone/>
                      </a:pPr>
                      <a:r>
                        <a:rPr lang="en-US" sz="1800">
                          <a:effectLst/>
                        </a:rPr>
                        <a:t> </a:t>
                      </a:r>
                      <a:endParaRPr lang="en-IN" sz="1800" b="1" i="1">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 xmlns:a16="http://schemas.microsoft.com/office/drawing/2014/main" val="992360440"/>
                  </a:ext>
                </a:extLst>
              </a:tr>
              <a:tr h="975081">
                <a:tc>
                  <a:txBody>
                    <a:bodyPr/>
                    <a:lstStyle/>
                    <a:p>
                      <a:pPr algn="ctr">
                        <a:spcBef>
                          <a:spcPts val="400"/>
                        </a:spcBef>
                        <a:spcAft>
                          <a:spcPts val="200"/>
                        </a:spcAft>
                        <a:buNone/>
                      </a:pPr>
                      <a:r>
                        <a:rPr lang="en-US" sz="1800">
                          <a:effectLst/>
                        </a:rPr>
                        <a:t>-30%</a:t>
                      </a:r>
                      <a:endParaRPr lang="en-IN" sz="1800" b="1" i="1">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400"/>
                        </a:spcBef>
                        <a:spcAft>
                          <a:spcPts val="200"/>
                        </a:spcAft>
                        <a:buNone/>
                      </a:pPr>
                      <a:r>
                        <a:rPr lang="en-US" sz="1800" dirty="0">
                          <a:effectLst/>
                        </a:rPr>
                        <a:t>+20%</a:t>
                      </a:r>
                      <a:endParaRPr lang="en-IN" sz="1800" b="1" i="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400"/>
                        </a:spcBef>
                        <a:spcAft>
                          <a:spcPts val="200"/>
                        </a:spcAft>
                        <a:buNone/>
                      </a:pPr>
                      <a:r>
                        <a:rPr lang="en-US" sz="1800" dirty="0">
                          <a:effectLst/>
                        </a:rPr>
                        <a:t> </a:t>
                      </a:r>
                      <a:endParaRPr lang="en-IN" sz="1800" b="1" i="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 xmlns:a16="http://schemas.microsoft.com/office/drawing/2014/main" val="2320744791"/>
                  </a:ext>
                </a:extLst>
              </a:tr>
              <a:tr h="1095498">
                <a:tc>
                  <a:txBody>
                    <a:bodyPr/>
                    <a:lstStyle/>
                    <a:p>
                      <a:pPr algn="ctr">
                        <a:spcBef>
                          <a:spcPts val="400"/>
                        </a:spcBef>
                        <a:spcAft>
                          <a:spcPts val="200"/>
                        </a:spcAft>
                        <a:buNone/>
                      </a:pPr>
                      <a:r>
                        <a:rPr lang="en-US" sz="1800">
                          <a:effectLst/>
                        </a:rPr>
                        <a:t>-30%</a:t>
                      </a:r>
                      <a:endParaRPr lang="en-IN" sz="1800" b="1" i="1">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400"/>
                        </a:spcBef>
                        <a:spcAft>
                          <a:spcPts val="200"/>
                        </a:spcAft>
                        <a:buNone/>
                      </a:pPr>
                      <a:r>
                        <a:rPr lang="en-US" sz="1800">
                          <a:effectLst/>
                        </a:rPr>
                        <a:t>-20%</a:t>
                      </a:r>
                      <a:endParaRPr lang="en-IN" sz="1800" b="1" i="1">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400"/>
                        </a:spcBef>
                        <a:spcAft>
                          <a:spcPts val="200"/>
                        </a:spcAft>
                        <a:buNone/>
                      </a:pPr>
                      <a:r>
                        <a:rPr lang="en-US" sz="1800" dirty="0">
                          <a:effectLst/>
                        </a:rPr>
                        <a:t> </a:t>
                      </a:r>
                      <a:endParaRPr lang="en-IN" sz="1800" b="1" i="1"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 xmlns:a16="http://schemas.microsoft.com/office/drawing/2014/main" val="1015579421"/>
                  </a:ext>
                </a:extLst>
              </a:tr>
            </a:tbl>
          </a:graphicData>
        </a:graphic>
      </p:graphicFrame>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Successive Percentage Change</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705709"/>
            <a:ext cx="12001584" cy="489364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IN" sz="2400" dirty="0" smtClean="0"/>
              <a:t>What is the effective % change in the net expenditure of a family on rice if the prices increase by 20% and the consumption:</a:t>
            </a:r>
            <a:endParaRPr lang="en-US" sz="2400" dirty="0" smtClean="0"/>
          </a:p>
          <a:p>
            <a:pPr lvl="0"/>
            <a:r>
              <a:rPr lang="en-IN" sz="2400" dirty="0" smtClean="0"/>
              <a:t>1. is reduced by 20%</a:t>
            </a:r>
            <a:endParaRPr lang="en-US" sz="2400" dirty="0" smtClean="0"/>
          </a:p>
          <a:p>
            <a:pPr lvl="0"/>
            <a:endParaRPr lang="en-IN" sz="2400" dirty="0" smtClean="0"/>
          </a:p>
          <a:p>
            <a:pPr lvl="0"/>
            <a:endParaRPr lang="en-IN" sz="2400" dirty="0" smtClean="0"/>
          </a:p>
          <a:p>
            <a:pPr lvl="0"/>
            <a:endParaRPr lang="en-IN" sz="2400" dirty="0" smtClean="0"/>
          </a:p>
          <a:p>
            <a:pPr lvl="0"/>
            <a:endParaRPr lang="en-IN" sz="2400" dirty="0" smtClean="0"/>
          </a:p>
          <a:p>
            <a:pPr lvl="0"/>
            <a:r>
              <a:rPr lang="en-IN" sz="2400" dirty="0" smtClean="0"/>
              <a:t>2. is increased by 1/3</a:t>
            </a:r>
            <a:r>
              <a:rPr lang="en-IN" sz="2400" baseline="30000" dirty="0" smtClean="0"/>
              <a:t>rd</a:t>
            </a:r>
            <a:r>
              <a:rPr lang="en-IN" sz="2400" dirty="0" smtClean="0"/>
              <a:t>.</a:t>
            </a:r>
            <a:endParaRPr lang="en-US" sz="2400" dirty="0" smtClean="0"/>
          </a:p>
          <a:p>
            <a:pPr lvl="0"/>
            <a:endParaRPr lang="en-IN" sz="2400" dirty="0" smtClean="0"/>
          </a:p>
          <a:p>
            <a:pPr lvl="0"/>
            <a:endParaRPr lang="en-IN" sz="2400" dirty="0" smtClean="0"/>
          </a:p>
          <a:p>
            <a:pPr lvl="0"/>
            <a:endParaRPr lang="en-IN" sz="2400" dirty="0" smtClean="0"/>
          </a:p>
          <a:p>
            <a:pPr lvl="0"/>
            <a:endParaRPr lang="en-IN" sz="2400" dirty="0" smtClean="0"/>
          </a:p>
          <a:p>
            <a:pPr lvl="0"/>
            <a:r>
              <a:rPr lang="en-IN" sz="2400" dirty="0" smtClean="0"/>
              <a:t>3. is reduced twice: first by 16.66% and then by 12.5%. </a:t>
            </a:r>
            <a:endParaRPr lang="en-US" sz="2400" dirty="0"/>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Successive Percentage Change</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705709"/>
            <a:ext cx="12644526" cy="563231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IN" sz="2400" dirty="0" smtClean="0"/>
              <a:t>If the price of electricity is decreased by 20% and </a:t>
            </a:r>
            <a:r>
              <a:rPr lang="en-IN" sz="2400" dirty="0" err="1" smtClean="0"/>
              <a:t>Varun</a:t>
            </a:r>
            <a:r>
              <a:rPr lang="en-IN" sz="2400" dirty="0" smtClean="0"/>
              <a:t> decides to spend 10% less on electricity. By how much percent does his consumption get affected?</a:t>
            </a:r>
            <a:endParaRPr lang="en-US" sz="2400" dirty="0" smtClean="0"/>
          </a:p>
          <a:p>
            <a:pPr lvl="0"/>
            <a:r>
              <a:rPr lang="en-US" sz="2400" dirty="0" smtClean="0"/>
              <a:t>12.5% decrease</a:t>
            </a:r>
          </a:p>
          <a:p>
            <a:pPr lvl="0"/>
            <a:r>
              <a:rPr lang="en-US" sz="2400" dirty="0" smtClean="0"/>
              <a:t>10.25% decrease</a:t>
            </a:r>
          </a:p>
          <a:p>
            <a:pPr lvl="0"/>
            <a:r>
              <a:rPr lang="en-US" sz="2400" dirty="0" smtClean="0"/>
              <a:t>11.75% increase</a:t>
            </a:r>
          </a:p>
          <a:p>
            <a:pPr lvl="0"/>
            <a:r>
              <a:rPr lang="en-US" sz="2400" dirty="0" smtClean="0"/>
              <a:t>12.5% increase</a:t>
            </a:r>
          </a:p>
          <a:p>
            <a:r>
              <a:rPr lang="en-IN" sz="2400" dirty="0" smtClean="0"/>
              <a:t> </a:t>
            </a:r>
          </a:p>
          <a:p>
            <a:endParaRPr lang="en-IN" sz="2400" dirty="0" smtClean="0"/>
          </a:p>
          <a:p>
            <a:endParaRPr lang="en-US" sz="2400" dirty="0" smtClean="0"/>
          </a:p>
          <a:p>
            <a:pPr lvl="0"/>
            <a:r>
              <a:rPr lang="en-IN" sz="2400" dirty="0" smtClean="0"/>
              <a:t>If the price of sugar increases by 50%, by how much should a family reduce the consumption of sugar so that the increase in the expenditure on sugar is 20%?</a:t>
            </a:r>
            <a:endParaRPr lang="en-US" sz="2400" dirty="0" smtClean="0"/>
          </a:p>
          <a:p>
            <a:pPr lvl="0"/>
            <a:r>
              <a:rPr lang="en-US" sz="2400" dirty="0" smtClean="0"/>
              <a:t>25%</a:t>
            </a:r>
          </a:p>
          <a:p>
            <a:pPr lvl="0"/>
            <a:r>
              <a:rPr lang="en-US" sz="2400" dirty="0" smtClean="0"/>
              <a:t>20%</a:t>
            </a:r>
          </a:p>
          <a:p>
            <a:pPr lvl="0"/>
            <a:r>
              <a:rPr lang="en-US" sz="2400" dirty="0" smtClean="0"/>
              <a:t>30%</a:t>
            </a:r>
          </a:p>
          <a:p>
            <a:pPr lvl="0"/>
            <a:r>
              <a:rPr lang="en-US" sz="2400" dirty="0" smtClean="0"/>
              <a:t>40%</a:t>
            </a:r>
            <a:endParaRPr lang="en-US" sz="2400" dirty="0"/>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Successive Percentage Change</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705709"/>
            <a:ext cx="12644526" cy="526297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IN" sz="2400" dirty="0" smtClean="0"/>
              <a:t>If the price of sugar increased by 25%, by what % should a customer change his consumption to </a:t>
            </a:r>
            <a:endParaRPr lang="en-US" sz="2400" dirty="0" smtClean="0"/>
          </a:p>
          <a:p>
            <a:pPr lvl="0"/>
            <a:r>
              <a:rPr lang="en-IN" sz="2400" dirty="0" smtClean="0"/>
              <a:t>1. Change expenditure by 0%.</a:t>
            </a:r>
            <a:endParaRPr lang="en-US" sz="2400" dirty="0" smtClean="0"/>
          </a:p>
          <a:p>
            <a:pPr lvl="0"/>
            <a:endParaRPr lang="en-IN" sz="2400" dirty="0" smtClean="0"/>
          </a:p>
          <a:p>
            <a:pPr lvl="0"/>
            <a:endParaRPr lang="en-IN" sz="2400" dirty="0" smtClean="0"/>
          </a:p>
          <a:p>
            <a:pPr lvl="0"/>
            <a:endParaRPr lang="en-IN" sz="2400" dirty="0" smtClean="0"/>
          </a:p>
          <a:p>
            <a:pPr lvl="0"/>
            <a:endParaRPr lang="en-IN" sz="2400" dirty="0" smtClean="0"/>
          </a:p>
          <a:p>
            <a:pPr lvl="0"/>
            <a:endParaRPr lang="en-IN" sz="2400" dirty="0" smtClean="0"/>
          </a:p>
          <a:p>
            <a:pPr lvl="0"/>
            <a:r>
              <a:rPr lang="en-IN" sz="2400" dirty="0" smtClean="0"/>
              <a:t>2. Reduce expenditure by 25%</a:t>
            </a:r>
            <a:endParaRPr lang="en-US" sz="2400" dirty="0" smtClean="0"/>
          </a:p>
          <a:p>
            <a:pPr lvl="0"/>
            <a:endParaRPr lang="en-IN" sz="2400" dirty="0" smtClean="0"/>
          </a:p>
          <a:p>
            <a:pPr lvl="0"/>
            <a:endParaRPr lang="en-IN" sz="2400" dirty="0" smtClean="0"/>
          </a:p>
          <a:p>
            <a:pPr lvl="0"/>
            <a:endParaRPr lang="en-IN" sz="2400" dirty="0" smtClean="0"/>
          </a:p>
          <a:p>
            <a:pPr lvl="0"/>
            <a:endParaRPr lang="en-IN" sz="2400" dirty="0" smtClean="0"/>
          </a:p>
          <a:p>
            <a:pPr lvl="0"/>
            <a:endParaRPr lang="en-IN" sz="2400" dirty="0" smtClean="0"/>
          </a:p>
          <a:p>
            <a:pPr lvl="0"/>
            <a:r>
              <a:rPr lang="en-IN" sz="2400" dirty="0" smtClean="0"/>
              <a:t>3. Increase expenditure by 50%</a:t>
            </a:r>
            <a:endParaRPr lang="en-US" sz="2400" dirty="0"/>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705709"/>
            <a:ext cx="12644526" cy="15696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err="1" smtClean="0"/>
              <a:t>Arun's</a:t>
            </a:r>
            <a:r>
              <a:rPr lang="en-US" sz="2400" dirty="0" smtClean="0"/>
              <a:t> present age in years is 40% of </a:t>
            </a:r>
            <a:r>
              <a:rPr lang="en-US" sz="2400" dirty="0" err="1" smtClean="0"/>
              <a:t>Barun's</a:t>
            </a:r>
            <a:r>
              <a:rPr lang="en-US" sz="2400" dirty="0" smtClean="0"/>
              <a:t>. In another few years, </a:t>
            </a:r>
            <a:r>
              <a:rPr lang="en-US" sz="2400" dirty="0" err="1" smtClean="0"/>
              <a:t>Arun's</a:t>
            </a:r>
            <a:r>
              <a:rPr lang="en-US" sz="2400" dirty="0" smtClean="0"/>
              <a:t> age will be half of </a:t>
            </a:r>
            <a:r>
              <a:rPr lang="en-US" sz="2400" dirty="0" err="1" smtClean="0"/>
              <a:t>Barun's</a:t>
            </a:r>
            <a:r>
              <a:rPr lang="en-US" sz="2400" dirty="0" smtClean="0"/>
              <a:t>. By what percentage will </a:t>
            </a:r>
            <a:r>
              <a:rPr lang="en-US" sz="2400" dirty="0" err="1" smtClean="0"/>
              <a:t>Barun's</a:t>
            </a:r>
            <a:r>
              <a:rPr lang="en-US" sz="2400" dirty="0" smtClean="0"/>
              <a:t> age increase during this period? (TITA)</a:t>
            </a:r>
          </a:p>
          <a:p>
            <a:r>
              <a:rPr lang="en-US" sz="2400" dirty="0" smtClean="0"/>
              <a:t/>
            </a:r>
            <a:br>
              <a:rPr lang="en-US" sz="2400" dirty="0" smtClean="0"/>
            </a:br>
            <a:endParaRPr lang="en-US" sz="2400" dirty="0"/>
          </a:p>
        </p:txBody>
      </p:sp>
      <p:sp>
        <p:nvSpPr>
          <p:cNvPr id="7" name="Rectangle 6"/>
          <p:cNvSpPr/>
          <p:nvPr/>
        </p:nvSpPr>
        <p:spPr>
          <a:xfrm>
            <a:off x="14626900" y="1508125"/>
            <a:ext cx="2547877" cy="553998"/>
          </a:xfrm>
          <a:prstGeom prst="rect">
            <a:avLst/>
          </a:prstGeom>
        </p:spPr>
        <p:txBody>
          <a:bodyPr wrap="none">
            <a:spAutoFit/>
          </a:bodyPr>
          <a:lstStyle/>
          <a:p>
            <a:r>
              <a:rPr lang="en-US" b="1" dirty="0" smtClean="0"/>
              <a:t>CAT2017 </a:t>
            </a:r>
            <a:r>
              <a:rPr lang="en-US" b="1" dirty="0"/>
              <a:t>Slot </a:t>
            </a:r>
            <a:r>
              <a:rPr lang="en-US" b="1" dirty="0" smtClean="0"/>
              <a:t>1</a:t>
            </a:r>
            <a:endParaRPr lang="en-IN" dirty="0"/>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Percentage vs. Percentage Points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705709"/>
            <a:ext cx="12644526" cy="168584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smtClean="0"/>
              <a:t>Ajay scored 60 out of 120 marks in first test and 70 out of 175 marks in second test. </a:t>
            </a:r>
          </a:p>
          <a:p>
            <a:r>
              <a:rPr lang="en-US" sz="2400" dirty="0" smtClean="0"/>
              <a:t>Find percentage reduction in his percentage marks.</a:t>
            </a:r>
          </a:p>
          <a:p>
            <a:r>
              <a:rPr lang="en-US" sz="2400" dirty="0" smtClean="0"/>
              <a:t>What is the percentage point reduction?</a:t>
            </a:r>
          </a:p>
          <a:p>
            <a:pPr marL="342900" indent="-342900" algn="just" fontAlgn="base">
              <a:lnSpc>
                <a:spcPct val="150000"/>
              </a:lnSpc>
              <a:spcAft>
                <a:spcPct val="0"/>
              </a:spcAft>
              <a:buFont typeface="+mj-lt"/>
              <a:buAutoNum type="arabicParenR"/>
              <a:tabLst>
                <a:tab pos="274638" algn="l"/>
                <a:tab pos="457200" algn="l"/>
              </a:tabLst>
            </a:pPr>
            <a:endParaRPr lang="en-US" sz="2000" dirty="0">
              <a:latin typeface="Arial" panose="020B0604020202020204" pitchFamily="34" charset="0"/>
            </a:endParaRPr>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Percentage vs. Percentage Points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705709"/>
            <a:ext cx="12644526" cy="34163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2400" dirty="0" smtClean="0">
                <a:latin typeface="+mj-lt"/>
                <a:ea typeface="Times New Roman" panose="02020603050405020304" pitchFamily="18" charset="0"/>
                <a:cs typeface="Arial" panose="020B0604020202020204" pitchFamily="34" charset="0"/>
              </a:rPr>
              <a:t>At a particular examination, </a:t>
            </a:r>
            <a:r>
              <a:rPr lang="en-US" sz="2400" dirty="0" err="1" smtClean="0">
                <a:latin typeface="+mj-lt"/>
                <a:ea typeface="Times New Roman" panose="02020603050405020304" pitchFamily="18" charset="0"/>
                <a:cs typeface="Arial" panose="020B0604020202020204" pitchFamily="34" charset="0"/>
              </a:rPr>
              <a:t>Seema</a:t>
            </a:r>
            <a:r>
              <a:rPr lang="en-US" sz="2400" dirty="0" smtClean="0">
                <a:latin typeface="+mj-lt"/>
                <a:ea typeface="Times New Roman" panose="02020603050405020304" pitchFamily="18" charset="0"/>
                <a:cs typeface="Arial" panose="020B0604020202020204" pitchFamily="34" charset="0"/>
              </a:rPr>
              <a:t> got 16 more marks than </a:t>
            </a:r>
            <a:r>
              <a:rPr lang="en-US" sz="2400" dirty="0" err="1" smtClean="0">
                <a:latin typeface="+mj-lt"/>
                <a:ea typeface="Times New Roman" panose="02020603050405020304" pitchFamily="18" charset="0"/>
                <a:cs typeface="Arial" panose="020B0604020202020204" pitchFamily="34" charset="0"/>
              </a:rPr>
              <a:t>Meena</a:t>
            </a:r>
            <a:r>
              <a:rPr lang="en-US" sz="2400" dirty="0" smtClean="0">
                <a:latin typeface="+mj-lt"/>
                <a:ea typeface="Times New Roman" panose="02020603050405020304" pitchFamily="18" charset="0"/>
                <a:cs typeface="Arial" panose="020B0604020202020204" pitchFamily="34" charset="0"/>
              </a:rPr>
              <a:t>, who got 10% points less than </a:t>
            </a:r>
            <a:r>
              <a:rPr lang="en-US" sz="2400" dirty="0" err="1" smtClean="0">
                <a:latin typeface="+mj-lt"/>
                <a:ea typeface="Times New Roman" panose="02020603050405020304" pitchFamily="18" charset="0"/>
                <a:cs typeface="Arial" panose="020B0604020202020204" pitchFamily="34" charset="0"/>
              </a:rPr>
              <a:t>Beena</a:t>
            </a:r>
            <a:r>
              <a:rPr lang="en-US" sz="2400" dirty="0" smtClean="0">
                <a:latin typeface="+mj-lt"/>
                <a:ea typeface="Times New Roman" panose="02020603050405020304" pitchFamily="18" charset="0"/>
                <a:cs typeface="Arial" panose="020B0604020202020204" pitchFamily="34" charset="0"/>
              </a:rPr>
              <a:t>. Also </a:t>
            </a:r>
            <a:r>
              <a:rPr lang="en-US" sz="2400" dirty="0" err="1" smtClean="0">
                <a:latin typeface="+mj-lt"/>
                <a:ea typeface="Times New Roman" panose="02020603050405020304" pitchFamily="18" charset="0"/>
                <a:cs typeface="Arial" panose="020B0604020202020204" pitchFamily="34" charset="0"/>
              </a:rPr>
              <a:t>Beena</a:t>
            </a:r>
            <a:r>
              <a:rPr lang="en-US" sz="2400" dirty="0" smtClean="0">
                <a:latin typeface="+mj-lt"/>
                <a:ea typeface="Times New Roman" panose="02020603050405020304" pitchFamily="18" charset="0"/>
                <a:cs typeface="Arial" panose="020B0604020202020204" pitchFamily="34" charset="0"/>
              </a:rPr>
              <a:t> scored 2% points more than </a:t>
            </a:r>
            <a:r>
              <a:rPr lang="en-US" sz="2400" dirty="0" err="1" smtClean="0">
                <a:latin typeface="+mj-lt"/>
                <a:ea typeface="Times New Roman" panose="02020603050405020304" pitchFamily="18" charset="0"/>
                <a:cs typeface="Arial" panose="020B0604020202020204" pitchFamily="34" charset="0"/>
              </a:rPr>
              <a:t>Teena</a:t>
            </a:r>
            <a:r>
              <a:rPr lang="en-US" sz="2400" dirty="0" smtClean="0">
                <a:latin typeface="+mj-lt"/>
                <a:ea typeface="Times New Roman" panose="02020603050405020304" pitchFamily="18" charset="0"/>
                <a:cs typeface="Arial" panose="020B0604020202020204" pitchFamily="34" charset="0"/>
              </a:rPr>
              <a:t>. If </a:t>
            </a:r>
            <a:r>
              <a:rPr lang="en-US" sz="2400" dirty="0" err="1" smtClean="0">
                <a:latin typeface="+mj-lt"/>
                <a:ea typeface="Times New Roman" panose="02020603050405020304" pitchFamily="18" charset="0"/>
                <a:cs typeface="Arial" panose="020B0604020202020204" pitchFamily="34" charset="0"/>
              </a:rPr>
              <a:t>Teena</a:t>
            </a:r>
            <a:r>
              <a:rPr lang="en-US" sz="2400" dirty="0" smtClean="0">
                <a:latin typeface="+mj-lt"/>
                <a:ea typeface="Times New Roman" panose="02020603050405020304" pitchFamily="18" charset="0"/>
                <a:cs typeface="Arial" panose="020B0604020202020204" pitchFamily="34" charset="0"/>
              </a:rPr>
              <a:t> had a score of 500 out of 600, what percentage of marks did </a:t>
            </a:r>
            <a:r>
              <a:rPr lang="en-US" sz="2400" dirty="0" err="1" smtClean="0">
                <a:latin typeface="+mj-lt"/>
                <a:ea typeface="Times New Roman" panose="02020603050405020304" pitchFamily="18" charset="0"/>
                <a:cs typeface="Arial" panose="020B0604020202020204" pitchFamily="34" charset="0"/>
              </a:rPr>
              <a:t>Seema</a:t>
            </a:r>
            <a:r>
              <a:rPr lang="en-US" sz="2400" dirty="0" smtClean="0">
                <a:latin typeface="+mj-lt"/>
                <a:ea typeface="Times New Roman" panose="02020603050405020304" pitchFamily="18" charset="0"/>
                <a:cs typeface="Arial" panose="020B0604020202020204" pitchFamily="34" charset="0"/>
              </a:rPr>
              <a:t> get? </a:t>
            </a:r>
          </a:p>
          <a:p>
            <a:pPr algn="just">
              <a:lnSpc>
                <a:spcPct val="150000"/>
              </a:lnSpc>
            </a:pPr>
            <a:r>
              <a:rPr lang="en-US" sz="2400" dirty="0" smtClean="0">
                <a:latin typeface="+mj-lt"/>
                <a:ea typeface="Times New Roman" panose="02020603050405020304" pitchFamily="18" charset="0"/>
                <a:cs typeface="Arial" panose="020B0604020202020204" pitchFamily="34" charset="0"/>
              </a:rPr>
              <a:t>(All percentage are expressed as marks scored as a percentage of total marks in the examinations)</a:t>
            </a:r>
            <a:endParaRPr lang="en-IN" sz="2400" dirty="0" smtClean="0">
              <a:latin typeface="+mj-lt"/>
              <a:ea typeface="Times New Roman" panose="02020603050405020304" pitchFamily="18" charset="0"/>
              <a:cs typeface="Arial" panose="020B0604020202020204" pitchFamily="34" charset="0"/>
            </a:endParaRPr>
          </a:p>
          <a:p>
            <a:pPr marL="457200" indent="-457200" algn="just">
              <a:lnSpc>
                <a:spcPct val="150000"/>
              </a:lnSpc>
              <a:buFont typeface="+mj-lt"/>
              <a:buAutoNum type="arabicPeriod"/>
            </a:pPr>
            <a:endParaRPr lang="en-US" sz="2400" dirty="0" smtClean="0">
              <a:latin typeface="+mj-lt"/>
              <a:cs typeface="Arial" panose="020B0604020202020204" pitchFamily="34" charset="0"/>
            </a:endParaRPr>
          </a:p>
          <a:p>
            <a:pPr algn="just">
              <a:lnSpc>
                <a:spcPct val="150000"/>
              </a:lnSpc>
            </a:pPr>
            <a:endParaRPr lang="en-US" sz="2400" dirty="0">
              <a:latin typeface="+mj-lt"/>
            </a:endParaRPr>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705709"/>
            <a:ext cx="12644526" cy="230832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IN" sz="2400" dirty="0" smtClean="0"/>
              <a:t>In a test, </a:t>
            </a:r>
            <a:r>
              <a:rPr lang="en-IN" sz="2400" dirty="0" err="1" smtClean="0"/>
              <a:t>Sirish</a:t>
            </a:r>
            <a:r>
              <a:rPr lang="en-IN" sz="2400" dirty="0" smtClean="0"/>
              <a:t> secured 40% marks and got 60 marks less than the pass marks, while </a:t>
            </a:r>
            <a:r>
              <a:rPr lang="en-IN" sz="2400" dirty="0" err="1" smtClean="0"/>
              <a:t>Shruti</a:t>
            </a:r>
            <a:r>
              <a:rPr lang="en-IN" sz="2400" dirty="0" smtClean="0"/>
              <a:t> secured 60% marks and got 40 marks more than the pass marks. What is the passing percentage?</a:t>
            </a:r>
            <a:endParaRPr lang="en-US" sz="2400" dirty="0" smtClean="0"/>
          </a:p>
          <a:p>
            <a:pPr lvl="0"/>
            <a:r>
              <a:rPr lang="en-US" sz="2400" dirty="0" smtClean="0"/>
              <a:t>48%</a:t>
            </a:r>
          </a:p>
          <a:p>
            <a:pPr lvl="0"/>
            <a:r>
              <a:rPr lang="en-US" sz="2400" dirty="0" smtClean="0"/>
              <a:t>45%</a:t>
            </a:r>
          </a:p>
          <a:p>
            <a:pPr lvl="0"/>
            <a:r>
              <a:rPr lang="en-US" sz="2400" dirty="0" smtClean="0"/>
              <a:t>50%</a:t>
            </a:r>
          </a:p>
          <a:p>
            <a:pPr lvl="0"/>
            <a:r>
              <a:rPr lang="en-US" sz="2400" dirty="0" smtClean="0"/>
              <a:t>52%</a:t>
            </a:r>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705709"/>
            <a:ext cx="12644526" cy="30469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smtClean="0"/>
              <a:t>In the final examination, </a:t>
            </a:r>
            <a:r>
              <a:rPr lang="en-US" sz="2400" dirty="0" err="1" smtClean="0"/>
              <a:t>Bishnu</a:t>
            </a:r>
            <a:r>
              <a:rPr lang="en-US" sz="2400" dirty="0" smtClean="0"/>
              <a:t> scored 52% and </a:t>
            </a:r>
            <a:r>
              <a:rPr lang="en-US" sz="2400" dirty="0" err="1" smtClean="0"/>
              <a:t>Asha</a:t>
            </a:r>
            <a:r>
              <a:rPr lang="en-US" sz="2400" dirty="0" smtClean="0"/>
              <a:t> scored 64%. The marks obtained by </a:t>
            </a:r>
            <a:r>
              <a:rPr lang="en-US" sz="2400" dirty="0" err="1" smtClean="0"/>
              <a:t>Bishnu</a:t>
            </a:r>
            <a:r>
              <a:rPr lang="en-US" sz="2400" dirty="0" smtClean="0"/>
              <a:t> is 23 less, and that by </a:t>
            </a:r>
            <a:r>
              <a:rPr lang="en-US" sz="2400" dirty="0" err="1" smtClean="0"/>
              <a:t>Asha</a:t>
            </a:r>
            <a:r>
              <a:rPr lang="en-US" sz="2400" dirty="0" smtClean="0"/>
              <a:t> is 34 more than the marks obtained by </a:t>
            </a:r>
            <a:r>
              <a:rPr lang="en-US" sz="2400" dirty="0" err="1" smtClean="0"/>
              <a:t>Ramesh</a:t>
            </a:r>
            <a:r>
              <a:rPr lang="en-US" sz="2400" dirty="0" smtClean="0"/>
              <a:t>. The marks obtained by </a:t>
            </a:r>
            <a:r>
              <a:rPr lang="en-US" sz="2400" dirty="0" err="1" smtClean="0"/>
              <a:t>Geeta</a:t>
            </a:r>
            <a:r>
              <a:rPr lang="en-US" sz="2400" dirty="0" smtClean="0"/>
              <a:t>, who scored 84%, is</a:t>
            </a:r>
            <a:br>
              <a:rPr lang="en-US" sz="2400" dirty="0" smtClean="0"/>
            </a:br>
            <a:endParaRPr lang="en-US" sz="2400" dirty="0" smtClean="0"/>
          </a:p>
          <a:p>
            <a:pPr marL="514350" indent="-514350">
              <a:buFont typeface="+mj-lt"/>
              <a:buAutoNum type="alphaLcPeriod"/>
            </a:pPr>
            <a:r>
              <a:rPr lang="en-US" sz="2400" dirty="0" smtClean="0"/>
              <a:t>399</a:t>
            </a:r>
          </a:p>
          <a:p>
            <a:pPr marL="514350" indent="-514350">
              <a:buFont typeface="+mj-lt"/>
              <a:buAutoNum type="alphaLcPeriod"/>
            </a:pPr>
            <a:r>
              <a:rPr lang="en-US" sz="2400" dirty="0" smtClean="0"/>
              <a:t>439</a:t>
            </a:r>
          </a:p>
          <a:p>
            <a:pPr marL="514350" indent="-514350">
              <a:buFont typeface="+mj-lt"/>
              <a:buAutoNum type="alphaLcPeriod"/>
            </a:pPr>
            <a:r>
              <a:rPr lang="en-US" sz="2400" dirty="0" smtClean="0"/>
              <a:t>357</a:t>
            </a:r>
          </a:p>
          <a:p>
            <a:pPr marL="514350" indent="-514350">
              <a:buFont typeface="+mj-lt"/>
              <a:buAutoNum type="alphaLcPeriod"/>
            </a:pPr>
            <a:r>
              <a:rPr lang="en-US" sz="2400" dirty="0" smtClean="0"/>
              <a:t>417</a:t>
            </a:r>
            <a:endParaRPr lang="en-US" sz="2400" dirty="0"/>
          </a:p>
        </p:txBody>
      </p:sp>
      <p:sp>
        <p:nvSpPr>
          <p:cNvPr id="6" name="Rectangle 5"/>
          <p:cNvSpPr/>
          <p:nvPr/>
        </p:nvSpPr>
        <p:spPr>
          <a:xfrm>
            <a:off x="4321175" y="2352546"/>
            <a:ext cx="8639175" cy="584775"/>
          </a:xfrm>
          <a:prstGeom prst="rect">
            <a:avLst/>
          </a:prstGeom>
        </p:spPr>
        <p:txBody>
          <a:bodyPr>
            <a:spAutoFit/>
          </a:bodyPr>
          <a:lstStyle/>
          <a:p>
            <a:endParaRPr lang="en-US" sz="3200" dirty="0"/>
          </a:p>
        </p:txBody>
      </p:sp>
      <p:sp>
        <p:nvSpPr>
          <p:cNvPr id="7" name="Rectangle 6"/>
          <p:cNvSpPr/>
          <p:nvPr/>
        </p:nvSpPr>
        <p:spPr>
          <a:xfrm>
            <a:off x="14626900" y="1508125"/>
            <a:ext cx="2547877" cy="553998"/>
          </a:xfrm>
          <a:prstGeom prst="rect">
            <a:avLst/>
          </a:prstGeom>
        </p:spPr>
        <p:txBody>
          <a:bodyPr wrap="none">
            <a:spAutoFit/>
          </a:bodyPr>
          <a:lstStyle/>
          <a:p>
            <a:r>
              <a:rPr lang="en-US" b="1" dirty="0" smtClean="0"/>
              <a:t>CAT2020 </a:t>
            </a:r>
            <a:r>
              <a:rPr lang="en-US" b="1" dirty="0"/>
              <a:t>Slot </a:t>
            </a:r>
            <a:r>
              <a:rPr lang="en-US" b="1" dirty="0" smtClean="0"/>
              <a:t>3</a:t>
            </a:r>
            <a:endParaRPr lang="en-IN" dirty="0"/>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705709"/>
            <a:ext cx="12644526" cy="230832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IN" sz="2400" dirty="0" smtClean="0"/>
              <a:t>In a class there are 60% female students. If 80% of females and 70% of males went for a trip, what percent of total class go for the trip?</a:t>
            </a:r>
            <a:endParaRPr lang="en-US" sz="2400" dirty="0" smtClean="0"/>
          </a:p>
          <a:p>
            <a:pPr lvl="0"/>
            <a:r>
              <a:rPr lang="en-US" sz="2400" dirty="0" smtClean="0"/>
              <a:t>75%</a:t>
            </a:r>
          </a:p>
          <a:p>
            <a:pPr lvl="0"/>
            <a:r>
              <a:rPr lang="en-US" sz="2400" dirty="0" smtClean="0"/>
              <a:t>74%</a:t>
            </a:r>
          </a:p>
          <a:p>
            <a:pPr lvl="0"/>
            <a:r>
              <a:rPr lang="en-US" sz="2400" dirty="0" smtClean="0"/>
              <a:t>78%</a:t>
            </a:r>
          </a:p>
          <a:p>
            <a:pPr lvl="0"/>
            <a:r>
              <a:rPr lang="en-US" sz="2400" dirty="0" smtClean="0"/>
              <a:t>76%</a:t>
            </a:r>
            <a:endParaRPr lang="en-US" sz="2400" dirty="0"/>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705709"/>
            <a:ext cx="12644526"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tabLst>
                <a:tab pos="274320" algn="l"/>
                <a:tab pos="457200" algn="l"/>
              </a:tabLst>
            </a:pPr>
            <a:r>
              <a:rPr lang="en-US" sz="2400" dirty="0" err="1" smtClean="0">
                <a:solidFill>
                  <a:prstClr val="black"/>
                </a:solidFill>
                <a:cs typeface="Arial" pitchFamily="34" charset="0"/>
              </a:rPr>
              <a:t>Suman</a:t>
            </a:r>
            <a:r>
              <a:rPr lang="en-US" sz="2400" dirty="0" smtClean="0">
                <a:solidFill>
                  <a:prstClr val="black"/>
                </a:solidFill>
                <a:cs typeface="Arial" pitchFamily="34" charset="0"/>
              </a:rPr>
              <a:t> saves 10% of her monthly salary. Now her expenditure increases by 30% and savings increases by 50%. The present increase in her salary is ____________?</a:t>
            </a:r>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705709"/>
            <a:ext cx="11501518" cy="120032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r>
              <a:rPr lang="en-US" sz="2400" dirty="0" smtClean="0">
                <a:solidFill>
                  <a:prstClr val="black"/>
                </a:solidFill>
                <a:cs typeface="Arial" pitchFamily="34" charset="0"/>
              </a:rPr>
              <a:t>40% of the students in a school are boys. In a particular school examination, attended by all the students, only 20% of the girls passed, though 40% of all the students had passed. Find the percentage of boys who passed the test.</a:t>
            </a:r>
            <a:endParaRPr lang="en-IN" sz="2400" dirty="0" smtClean="0">
              <a:solidFill>
                <a:prstClr val="black"/>
              </a:solidFill>
              <a:cs typeface="Arial" pitchFamily="34" charset="0"/>
            </a:endParaRPr>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705709"/>
            <a:ext cx="11501518" cy="28050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lnSpc>
                <a:spcPct val="150000"/>
              </a:lnSpc>
            </a:pPr>
            <a:r>
              <a:rPr lang="en-US" sz="2400" dirty="0" smtClean="0">
                <a:latin typeface="+mj-lt"/>
                <a:ea typeface="Times New Roman" panose="02020603050405020304" pitchFamily="18" charset="0"/>
                <a:cs typeface="Arial" panose="020B0604020202020204" pitchFamily="34" charset="0"/>
              </a:rPr>
              <a:t>A college has raised 75% of the amount it needs for a new building by receiving an average donation of Rs. 600 from the people already solicited. The people already solicited represent 60% of the people whom the college will ask for donations. If the college is to raise exactly the amount needed for the new building, what should the average donation from the remaining people to be solicited be?</a:t>
            </a:r>
            <a:endParaRPr lang="en-IN" sz="2400" dirty="0" smtClean="0">
              <a:latin typeface="+mj-lt"/>
              <a:ea typeface="Times New Roman" panose="02020603050405020304" pitchFamily="18" charset="0"/>
              <a:cs typeface="Arial" panose="020B0604020202020204" pitchFamily="34" charset="0"/>
            </a:endParaRPr>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705709"/>
            <a:ext cx="11501518" cy="169706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lnSpc>
                <a:spcPct val="150000"/>
              </a:lnSpc>
            </a:pPr>
            <a:r>
              <a:rPr lang="en-US" sz="2400" dirty="0" smtClean="0">
                <a:latin typeface="+mj-lt"/>
                <a:ea typeface="Times New Roman" panose="02020603050405020304" pitchFamily="18" charset="0"/>
                <a:cs typeface="Arial" panose="020B0604020202020204" pitchFamily="34" charset="0"/>
              </a:rPr>
              <a:t>A person who has a certain amount with him goes to the market. He can buy 50 oranges or 40 mangoes. He retains 10% of the amount for taxi fares and buys 20 mangoes and with the balance he purchases oranges. The number of oranges he can purchase is ………. .</a:t>
            </a:r>
            <a:endParaRPr lang="en-IN" sz="2400" dirty="0" smtClean="0">
              <a:latin typeface="+mj-lt"/>
              <a:ea typeface="Times New Roman" panose="02020603050405020304" pitchFamily="18" charset="0"/>
              <a:cs typeface="Arial" panose="020B0604020202020204" pitchFamily="34" charset="0"/>
            </a:endParaRPr>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txBox="1">
            <a:spLocks noGrp="1"/>
          </p:cNvSpPr>
          <p:nvPr>
            <p:ph type="title" idx="4294967295"/>
          </p:nvPr>
        </p:nvSpPr>
        <p:spPr>
          <a:xfrm>
            <a:off x="258762" y="288925"/>
            <a:ext cx="102870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mc="http://schemas.openxmlformats.org/markup-compatibility/2006" xmlns:a14="http://schemas.microsoft.com/office/drawing/2010/main" xmlns:a16="http://schemas.microsoft.com/office/drawing/2014/main" xmlns="" id="{C32B46DD-57E2-4B11-919A-CEA290C60585}"/>
              </a:ext>
            </a:extLst>
          </p:cNvPr>
          <p:cNvSpPr txBox="1"/>
          <p:nvPr/>
        </p:nvSpPr>
        <p:spPr>
          <a:xfrm>
            <a:off x="378082" y="1705709"/>
            <a:ext cx="1176080" cy="1631216"/>
          </a:xfrm>
          <a:prstGeom prst="rect">
            <a:avLst/>
          </a:prstGeom>
          <a:noFill/>
        </p:spPr>
        <p:txBody>
          <a:bodyPr wrap="square" rtlCol="0">
            <a:spAutoFit/>
          </a:bodyPr>
          <a:lstStyle/>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smtClean="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a:p>
            <a:pPr>
              <a:spcAft>
                <a:spcPts val="353"/>
              </a:spcAft>
              <a:tabLst>
                <a:tab pos="502751" algn="l"/>
                <a:tab pos="1007739" algn="l"/>
                <a:tab pos="1518328" algn="l"/>
                <a:tab pos="2028915" algn="l"/>
                <a:tab pos="2526067" algn="l"/>
                <a:tab pos="3036655" algn="l"/>
                <a:tab pos="3547243" algn="l"/>
                <a:tab pos="4044395" algn="l"/>
                <a:tab pos="4554982" algn="l"/>
                <a:tab pos="5065571" algn="l"/>
                <a:tab pos="5562722" algn="l"/>
                <a:tab pos="6073310" algn="l"/>
                <a:tab pos="6583898" algn="l"/>
                <a:tab pos="7081049" algn="l"/>
                <a:tab pos="7591638" algn="l"/>
                <a:tab pos="8102225" algn="l"/>
                <a:tab pos="8599377" algn="l"/>
                <a:tab pos="9109964" algn="l"/>
                <a:tab pos="9620553" algn="l"/>
              </a:tabLst>
            </a:pPr>
            <a:endParaRPr lang="pt-BR" dirty="0">
              <a:cs typeface="Arial" pitchFamily="34" charset="0"/>
            </a:endParaRPr>
          </a:p>
        </p:txBody>
      </p:sp>
      <p:sp>
        <p:nvSpPr>
          <p:cNvPr id="16" name="Rectangle 6"/>
          <p:cNvSpPr>
            <a:spLocks noChangeArrowheads="1"/>
          </p:cNvSpPr>
          <p:nvPr/>
        </p:nvSpPr>
        <p:spPr bwMode="auto">
          <a:xfrm>
            <a:off x="496830" y="1705709"/>
            <a:ext cx="11501518" cy="249299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lnSpc>
                <a:spcPct val="150000"/>
              </a:lnSpc>
            </a:pPr>
            <a:r>
              <a:rPr lang="en-US" sz="2400" dirty="0" smtClean="0">
                <a:latin typeface="+mj-lt"/>
                <a:ea typeface="Times New Roman" panose="02020603050405020304" pitchFamily="18" charset="0"/>
                <a:cs typeface="Arial" panose="020B0604020202020204" pitchFamily="34" charset="0"/>
              </a:rPr>
              <a:t>If X gives Y Rs. 20, X has 40% of what Y has but if Y gives Rs. 40 to X, Y will have 40% of what X has, then what is the amount originally X has?</a:t>
            </a:r>
            <a:endParaRPr lang="en-IN" sz="2400" dirty="0" smtClean="0">
              <a:latin typeface="+mj-lt"/>
              <a:ea typeface="Times New Roman" panose="02020603050405020304" pitchFamily="18" charset="0"/>
              <a:cs typeface="Arial" panose="020B0604020202020204" pitchFamily="34" charset="0"/>
            </a:endParaRPr>
          </a:p>
          <a:p>
            <a:pPr marL="457200" indent="-457200" algn="just">
              <a:lnSpc>
                <a:spcPct val="150000"/>
              </a:lnSpc>
              <a:buFont typeface="+mj-lt"/>
              <a:buAutoNum type="arabicParenR"/>
            </a:pPr>
            <a:endParaRPr lang="en-US" sz="2400" dirty="0" smtClean="0">
              <a:latin typeface="+mj-lt"/>
              <a:cs typeface="Arial" panose="020B0604020202020204" pitchFamily="34" charset="0"/>
            </a:endParaRPr>
          </a:p>
          <a:p>
            <a:pPr marL="342900" indent="-342900" algn="just">
              <a:buFont typeface="+mj-lt"/>
              <a:buAutoNum type="arabicParenR"/>
            </a:pPr>
            <a:endParaRPr lang="en-IN" sz="2400" dirty="0" smtClean="0">
              <a:solidFill>
                <a:prstClr val="black"/>
              </a:solidFill>
              <a:latin typeface="+mj-lt"/>
              <a:cs typeface="Arial" pitchFamily="34" charset="0"/>
            </a:endParaRPr>
          </a:p>
          <a:p>
            <a:pPr algn="just">
              <a:spcAft>
                <a:spcPts val="353"/>
              </a:spcAft>
              <a:tabLst>
                <a:tab pos="6772686" algn="l"/>
              </a:tabLst>
            </a:pPr>
            <a:endParaRPr lang="en-US" sz="2400" dirty="0">
              <a:latin typeface="+mj-lt"/>
              <a:cs typeface="Arial" pitchFamily="34" charset="0"/>
            </a:endParaRPr>
          </a:p>
        </p:txBody>
      </p:sp>
    </p:spTree>
    <p:extLst>
      <p:ext uri="{BB962C8B-B14F-4D97-AF65-F5344CB8AC3E}">
        <p14:creationId xmlns="" xmlns:p14="http://schemas.microsoft.com/office/powerpoint/2010/main" val="189628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0" presetClass="entr" presetSubtype="0" fill="hold" nodeType="withEffect" nodePh="1">
                                  <p:stCondLst>
                                    <p:cond delay="0"/>
                                  </p:stCondLst>
                                  <p:endCondLst>
                                    <p:cond evt="begin" delay="0">
                                      <p:tn val="7"/>
                                    </p:cond>
                                  </p:endCondLst>
                                  <p:childTnLst>
                                    <p:set>
                                      <p:cBhvr>
                                        <p:cTn id="8" dur="1" fill="hold">
                                          <p:stCondLst>
                                            <p:cond delay="0"/>
                                          </p:stCondLst>
                                        </p:cTn>
                                        <p:tgtEl>
                                          <p:spTgt spid="14">
                                            <p:txEl>
                                              <p:pRg st="0" end="0"/>
                                            </p:txEl>
                                          </p:spTgt>
                                        </p:tgtEl>
                                        <p:attrNameLst>
                                          <p:attrName>style.visibility</p:attrName>
                                        </p:attrNameLst>
                                      </p:cBhvr>
                                      <p:to>
                                        <p:strVal val="visible"/>
                                      </p:to>
                                    </p:set>
                                    <p:animEffect transition="in" filter="fade">
                                      <p:cBhvr>
                                        <p:cTn id="9" dur="500"/>
                                        <p:tgtEl>
                                          <p:spTgt spid="1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11054</TotalTime>
  <Words>1189</Words>
  <Application>Microsoft Office PowerPoint</Application>
  <PresentationFormat>Custom</PresentationFormat>
  <Paragraphs>234</Paragraphs>
  <Slides>23</Slides>
  <Notes>23</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Slide 1</vt:lpstr>
      <vt:lpstr>Fraction to Percentage</vt:lpstr>
      <vt:lpstr>Percentages</vt:lpstr>
      <vt:lpstr>Base Value </vt:lpstr>
      <vt:lpstr>Base Value</vt:lpstr>
      <vt:lpstr>Base Value</vt:lpstr>
      <vt:lpstr>Multiplication Factor</vt:lpstr>
      <vt:lpstr>Multiplication Factor</vt:lpstr>
      <vt:lpstr>Multiplication Factor</vt:lpstr>
      <vt:lpstr>Successive Percentage Change</vt:lpstr>
      <vt:lpstr>Successive Percentage Change</vt:lpstr>
      <vt:lpstr>Successive Percentage Change</vt:lpstr>
      <vt:lpstr>Word Problems</vt:lpstr>
      <vt:lpstr>Percentage vs. Percentage Points</vt:lpstr>
      <vt:lpstr>Percentage vs. Percentage Points</vt:lpstr>
      <vt:lpstr>Word Problems</vt:lpstr>
      <vt:lpstr>Word Problems</vt:lpstr>
      <vt:lpstr>Word Problems</vt:lpstr>
      <vt:lpstr>Word Problems</vt:lpstr>
      <vt:lpstr>Word Problems</vt:lpstr>
      <vt:lpstr>Word Problems</vt:lpstr>
      <vt:lpstr>Word Problems</vt:lpstr>
      <vt:lpstr>Word Problems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IMS</dc:creator>
  <cp:lastModifiedBy>RAMESH MUNDRA</cp:lastModifiedBy>
  <cp:revision>2987</cp:revision>
  <dcterms:created xsi:type="dcterms:W3CDTF">2017-04-25T06:46:30Z</dcterms:created>
  <dcterms:modified xsi:type="dcterms:W3CDTF">2025-05-05T17:04:18Z</dcterms:modified>
</cp:coreProperties>
</file>